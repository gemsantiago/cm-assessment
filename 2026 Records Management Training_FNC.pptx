
<file path=[Content_Types].xml><?xml version="1.0" encoding="utf-8"?>
<Types xmlns="http://schemas.openxmlformats.org/package/2006/content-types">
  <Default Extension="emf" ContentType="image/x-emf"/>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Lst>
  <p:notesMasterIdLst>
    <p:notesMasterId r:id="rId33"/>
  </p:notesMasterIdLst>
  <p:handoutMasterIdLst>
    <p:handoutMasterId r:id="rId34"/>
  </p:handoutMasterIdLst>
  <p:sldIdLst>
    <p:sldId id="402" r:id="rId2"/>
    <p:sldId id="551" r:id="rId3"/>
    <p:sldId id="477" r:id="rId4"/>
    <p:sldId id="559" r:id="rId5"/>
    <p:sldId id="562" r:id="rId6"/>
    <p:sldId id="600" r:id="rId7"/>
    <p:sldId id="587" r:id="rId8"/>
    <p:sldId id="588" r:id="rId9"/>
    <p:sldId id="590" r:id="rId10"/>
    <p:sldId id="601" r:id="rId11"/>
    <p:sldId id="591" r:id="rId12"/>
    <p:sldId id="603" r:id="rId13"/>
    <p:sldId id="592" r:id="rId14"/>
    <p:sldId id="593" r:id="rId15"/>
    <p:sldId id="604" r:id="rId16"/>
    <p:sldId id="594" r:id="rId17"/>
    <p:sldId id="595" r:id="rId18"/>
    <p:sldId id="596" r:id="rId19"/>
    <p:sldId id="598" r:id="rId20"/>
    <p:sldId id="602" r:id="rId21"/>
    <p:sldId id="571" r:id="rId22"/>
    <p:sldId id="572" r:id="rId23"/>
    <p:sldId id="573" r:id="rId24"/>
    <p:sldId id="574" r:id="rId25"/>
    <p:sldId id="575" r:id="rId26"/>
    <p:sldId id="547" r:id="rId27"/>
    <p:sldId id="597" r:id="rId28"/>
    <p:sldId id="589" r:id="rId29"/>
    <p:sldId id="599" r:id="rId30"/>
    <p:sldId id="585" r:id="rId31"/>
    <p:sldId id="439" r:id="rId32"/>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D9C"/>
    <a:srgbClr val="0F62FE"/>
    <a:srgbClr val="EDF5FF"/>
    <a:srgbClr val="D0E2FF"/>
    <a:srgbClr val="DDE1E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61808" autoAdjust="0"/>
  </p:normalViewPr>
  <p:slideViewPr>
    <p:cSldViewPr snapToGrid="0" snapToObjects="1">
      <p:cViewPr varScale="1">
        <p:scale>
          <a:sx n="28" d="100"/>
          <a:sy n="28" d="100"/>
        </p:scale>
        <p:origin x="1781" y="53"/>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2088" y="228600"/>
            <a:ext cx="6473825" cy="3641725"/>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Welcome to the Records Management Policy and Process Training from the Quality Management System Team. In this module, we’ll walk through the basics of how records should be identified, organized, stored, retrieved, and properly disposed of. The goal is to make records management practical, clear, and easy to apply in day-to-day work.</a:t>
            </a:r>
            <a:endParaRPr lang="en-PH" sz="1200" b="0" i="0" kern="1200" dirty="0">
              <a:solidFill>
                <a:schemeClr val="bg1"/>
              </a:solidFill>
              <a:effectLst/>
              <a:latin typeface="IBM Plex Sans Light" panose="020B0503050203000203"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775914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Before we begin, here are a few reminders. Section 1 of this training, which covers the Records Management Policy, is required. Sections 2 and 3 are also required, and there is an assessment at the end with a passing score of 85 percent. As you go through the material, take note of the key roles, tools, and requirements that support compliance.</a:t>
            </a:r>
            <a:endParaRPr lang="en-PH"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4088713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By the end of this training, you should be able to do three things. First, understand IBM’s policies for records classification, storage, retrieval, and disposal. Second, know the roles and responsibilities of employees involved in managing records. And third, become familiar with the tools and templates used for records management.</a:t>
            </a:r>
            <a:endParaRPr lang="en-PH" sz="1200" b="0" i="0" kern="1200" dirty="0">
              <a:solidFill>
                <a:schemeClr val="bg1"/>
              </a:solidFill>
              <a:effectLst/>
              <a:latin typeface="IBM Plex Sans Light" panose="020B0503050203000203" pitchFamily="34" charset="0"/>
              <a:ea typeface="+mn-ea"/>
              <a:cs typeface="+mn-cs"/>
            </a:endParaRPr>
          </a:p>
          <a:p>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249780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Records management has four main objectives. We want to make sure records are correctly identified and classified, stored using suitable media and storage facilities, and easy to retrieve when needed. Just as importantly, we must ensure obsolete records are disposed of on time. In short, good records management helps keep information secure, accessible, and compliant throughout its lifecycle.</a:t>
            </a:r>
            <a:endParaRPr lang="en-PH" sz="1200" b="0" i="0" kern="1200" dirty="0">
              <a:solidFill>
                <a:schemeClr val="bg1"/>
              </a:solidFill>
              <a:effectLst/>
              <a:latin typeface="IBM Plex Sans Light" panose="020B0503050203000203" pitchFamily="34" charset="0"/>
              <a:ea typeface="+mn-ea"/>
              <a:cs typeface="+mn-cs"/>
            </a:endParaRPr>
          </a:p>
          <a:p>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417102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This slide shows the overall records management process flow, from identification and classification all the way to disposal. Two key roles drive this process: the Records Owner and the Records Custodian. Supporting roles also play an important part. The Client or Operations Manager provides direction on records retention requirements based on contractual agreements, while the GRE Team supports offsite archiving needs. As we move forward, we’ll look more closely at how each step works and who is responsible for it.</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864062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1AE1-9C1B-4E4B-12FC-3479EADD2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2DC61-A8EF-DC70-BA8D-039F694C0808}"/>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5360068-AF85-1D98-BAA6-3F2E98DE1978}"/>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Now let’s focus on roles and responsibilities. Records management works best when each role is clear and consistently carried out. In the next few slides and knowledge checks, you’ll see how the Records Owner and Records Custodian contribute to the overall process and why both roles are important to effective records governance.</a:t>
            </a:r>
            <a:endParaRPr lang="en-PH"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15D463FC-D6A0-74DA-8181-4A9B129E7925}"/>
              </a:ext>
            </a:extLst>
          </p:cNvPr>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a:extLst>
              <a:ext uri="{FF2B5EF4-FFF2-40B4-BE49-F238E27FC236}">
                <a16:creationId xmlns:a16="http://schemas.microsoft.com/office/drawing/2014/main" id="{9F00B553-8480-EAD4-AC20-584DE5F298D9}"/>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795799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The Records Owner is responsible for determining which records need to be retained. This decision should follow IBM policies, including WRM, and may also depend on client requirements for either IBM-owned or client-owned records. Once identified, these records and their classifications should be documented in the appropriate Records Matrix.</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338372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The Records Custodian is responsible for selecting the right storage location, media type, and format based on the nature of the records. For onsite physical records, this may include lateral cabinets, lockers, mobile pedestals, or boxes. For electronic records, storage may be in databases or tools such as Cobee Lite. Documents should be clearly labeled with filenames, record series codes, and retention dates. If offsite storage or archiving is needed, coordination should be done with the GRE Team and the accredited vendor.</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766985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AFC4-D427-31C3-F16F-AB848317F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30EFD-2659-B984-E760-F0D5717C7EA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513CB0AE-EE43-D6C4-2C73-51E8D2FCEA2B}"/>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Organizing, labeling, and indexing are essential for efficient records management. The Records Custodian is responsible for arranging records in a way that makes them easy to identify and retrieve. An accurate label should include the record code, filename, coverage date, computed end of retention period, and data classification. When these details are complete and consistent, finding the right record becomes much faster and more reliable.</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50571D51-4EE7-867E-AA28-498DD135624E}"/>
              </a:ext>
            </a:extLst>
          </p:cNvPr>
          <p:cNvSpPr>
            <a:spLocks noGrp="1"/>
          </p:cNvSpPr>
          <p:nvPr>
            <p:ph type="sldNum" sz="quarter" idx="5"/>
          </p:nvPr>
        </p:nvSpPr>
        <p:spPr/>
        <p:txBody>
          <a:bodyPr/>
          <a:lstStyle/>
          <a:p>
            <a:fld id="{6E2E38B8-B0B4-AD41-AC6E-B781F46A9FD3}" type="slidenum">
              <a:rPr lang="en-US" smtClean="0"/>
              <a:pPr/>
              <a:t>9</a:t>
            </a:fld>
            <a:endParaRPr lang="en-US" dirty="0"/>
          </a:p>
        </p:txBody>
      </p:sp>
      <p:sp>
        <p:nvSpPr>
          <p:cNvPr id="5" name="Footer Placeholder 4">
            <a:extLst>
              <a:ext uri="{FF2B5EF4-FFF2-40B4-BE49-F238E27FC236}">
                <a16:creationId xmlns:a16="http://schemas.microsoft.com/office/drawing/2014/main" id="{CC76F10E-9B9B-A444-7C95-485F05B93D3B}"/>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423021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3311-79D1-4241-C639-2D390B923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9F374-0005-86AE-9C5A-39371AFC475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80EEFD34-F2AE-5F56-0569-84BA0233BE46}"/>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PH" sz="1200" b="0" i="0" kern="1200" dirty="0">
                <a:solidFill>
                  <a:schemeClr val="bg1"/>
                </a:solidFill>
                <a:effectLst/>
                <a:latin typeface="IBM Plex Sans Light" panose="020B0503050203000203" pitchFamily="34" charset="0"/>
                <a:ea typeface="+mn-ea"/>
                <a:cs typeface="+mn-cs"/>
              </a:rPr>
              <a:t>Now let’s turn our attention to records labeling. Proper labeling helps ensure records are organized, retained, and managed consistently throughout their lifecycle.</a:t>
            </a:r>
          </a:p>
          <a:p>
            <a:endParaRPr lang="en-PH" dirty="0"/>
          </a:p>
        </p:txBody>
      </p:sp>
      <p:sp>
        <p:nvSpPr>
          <p:cNvPr id="4" name="Slide Number Placeholder 3">
            <a:extLst>
              <a:ext uri="{FF2B5EF4-FFF2-40B4-BE49-F238E27FC236}">
                <a16:creationId xmlns:a16="http://schemas.microsoft.com/office/drawing/2014/main" id="{BC42319D-22E6-AC50-92A2-81287C38B609}"/>
              </a:ext>
            </a:extLst>
          </p:cNvPr>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a:extLst>
              <a:ext uri="{FF2B5EF4-FFF2-40B4-BE49-F238E27FC236}">
                <a16:creationId xmlns:a16="http://schemas.microsoft.com/office/drawing/2014/main" id="{5AFB3B3D-A6A0-1FF9-0FA2-D5E1D66D04E8}"/>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927980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D55C8-1304-198D-95DB-FFC3975D7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B1DAF-65D2-7778-AD77-1771BC9ACF2A}"/>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920A291-B59B-20C7-D418-EDEBBDC740E7}"/>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For electronic records stored online, such as in Cobee Lite, the extracted report contains the necessary document information. This supports visibility, tracking, and easier validation of record details. In other words, the tool helps ensure that electronic records are not only stored properly, but also documented in a way that supports retrieval and compliance.</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25BD1E97-25F0-D65A-5C31-B1973B7120D5}"/>
              </a:ext>
            </a:extLst>
          </p:cNvPr>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a:extLst>
              <a:ext uri="{FF2B5EF4-FFF2-40B4-BE49-F238E27FC236}">
                <a16:creationId xmlns:a16="http://schemas.microsoft.com/office/drawing/2014/main" id="{72E072B0-5821-66B3-5718-AA2971680566}"/>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479636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6FBE-0B1B-BC94-F17E-B74E813EE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F3450-6588-0946-0358-07668CEC05FA}"/>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09FAE74F-656A-3D0A-6CF3-8FF094A9B3DD}"/>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PH" sz="1200" b="0" i="0" kern="1200" dirty="0">
                <a:solidFill>
                  <a:schemeClr val="bg1"/>
                </a:solidFill>
                <a:effectLst/>
                <a:latin typeface="IBM Plex Sans Light" panose="020B0503050203000203" pitchFamily="34" charset="0"/>
                <a:ea typeface="+mn-ea"/>
                <a:cs typeface="+mn-cs"/>
              </a:rPr>
              <a:t>With records properly labeled, the next step is understanding records retrieval and disposal. These processes help ensure records remain accessible when needed and are handled appropriately throughout their lifecycle.</a:t>
            </a:r>
          </a:p>
        </p:txBody>
      </p:sp>
      <p:sp>
        <p:nvSpPr>
          <p:cNvPr id="4" name="Slide Number Placeholder 3">
            <a:extLst>
              <a:ext uri="{FF2B5EF4-FFF2-40B4-BE49-F238E27FC236}">
                <a16:creationId xmlns:a16="http://schemas.microsoft.com/office/drawing/2014/main" id="{9FC0770D-E5D0-6D27-422F-E4B242F1DA41}"/>
              </a:ext>
            </a:extLst>
          </p:cNvPr>
          <p:cNvSpPr>
            <a:spLocks noGrp="1"/>
          </p:cNvSpPr>
          <p:nvPr>
            <p:ph type="sldNum" sz="quarter" idx="5"/>
          </p:nvPr>
        </p:nvSpPr>
        <p:spPr/>
        <p:txBody>
          <a:bodyPr/>
          <a:lstStyle/>
          <a:p>
            <a:fld id="{6E2E38B8-B0B4-AD41-AC6E-B781F46A9FD3}" type="slidenum">
              <a:rPr lang="en-US" smtClean="0"/>
              <a:pPr/>
              <a:t>12</a:t>
            </a:fld>
            <a:endParaRPr lang="en-US" dirty="0"/>
          </a:p>
        </p:txBody>
      </p:sp>
      <p:sp>
        <p:nvSpPr>
          <p:cNvPr id="5" name="Footer Placeholder 4">
            <a:extLst>
              <a:ext uri="{FF2B5EF4-FFF2-40B4-BE49-F238E27FC236}">
                <a16:creationId xmlns:a16="http://schemas.microsoft.com/office/drawing/2014/main" id="{699362B9-0119-13D1-DFD6-66A7B44A54DD}"/>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896484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8C560-68DA-22BF-C8E7-B256FE5AA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C0818-9BF8-B9C5-0014-09523EC8390E}"/>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DF70FE2-FF3A-A2AC-FC0D-1EBB2C71533F}"/>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Retrieval of records should be straightforward whether the records are stored onsite or offsite. For physical records onsite, cabinets, lockers, laterals, and boxes should be clearly indexed and labeled so items can be located quickly. For electronic records, the system should be able to recover information in a readable format for the full retention period. If records are stored offsite, retrieval requests should be coordinated through the GRE Team. The key principle is simple: records must be accessible and readily retrievable by authorized users who need them.</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1FC8171D-3C28-A53C-B9F4-322189E6AAC0}"/>
              </a:ext>
            </a:extLst>
          </p:cNvPr>
          <p:cNvSpPr>
            <a:spLocks noGrp="1"/>
          </p:cNvSpPr>
          <p:nvPr>
            <p:ph type="sldNum" sz="quarter" idx="5"/>
          </p:nvPr>
        </p:nvSpPr>
        <p:spPr/>
        <p:txBody>
          <a:bodyPr/>
          <a:lstStyle/>
          <a:p>
            <a:fld id="{6E2E38B8-B0B4-AD41-AC6E-B781F46A9FD3}" type="slidenum">
              <a:rPr lang="en-US" smtClean="0"/>
              <a:pPr/>
              <a:t>13</a:t>
            </a:fld>
            <a:endParaRPr lang="en-US" dirty="0"/>
          </a:p>
        </p:txBody>
      </p:sp>
      <p:sp>
        <p:nvSpPr>
          <p:cNvPr id="5" name="Footer Placeholder 4">
            <a:extLst>
              <a:ext uri="{FF2B5EF4-FFF2-40B4-BE49-F238E27FC236}">
                <a16:creationId xmlns:a16="http://schemas.microsoft.com/office/drawing/2014/main" id="{12088C77-36A9-283E-4CB2-D739B8DAF30D}"/>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644067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590D0-E47E-0B2E-89C1-AC17F6875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8E3E5-00B8-8365-64B3-398C50A2D64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17B4527C-BA8E-7284-E78A-0DA2804720E2}"/>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When records are no longer needed and have reached the end of their retention period, they should be disposed of properly. Requests for obsoletion should be submitted through Cobee Lite. For client-owned records, disposal must follow the client’s instructions. Proper disposal is just as important as proper storage, because it helps reduce risk and ensures compliance with retention requirements.</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A50E1F01-2792-BB35-B382-DEE43A033F62}"/>
              </a:ext>
            </a:extLst>
          </p:cNvPr>
          <p:cNvSpPr>
            <a:spLocks noGrp="1"/>
          </p:cNvSpPr>
          <p:nvPr>
            <p:ph type="sldNum" sz="quarter" idx="5"/>
          </p:nvPr>
        </p:nvSpPr>
        <p:spPr/>
        <p:txBody>
          <a:bodyPr/>
          <a:lstStyle/>
          <a:p>
            <a:fld id="{6E2E38B8-B0B4-AD41-AC6E-B781F46A9FD3}" type="slidenum">
              <a:rPr lang="en-US" smtClean="0"/>
              <a:pPr/>
              <a:t>14</a:t>
            </a:fld>
            <a:endParaRPr lang="en-US" dirty="0"/>
          </a:p>
        </p:txBody>
      </p:sp>
      <p:sp>
        <p:nvSpPr>
          <p:cNvPr id="5" name="Footer Placeholder 4">
            <a:extLst>
              <a:ext uri="{FF2B5EF4-FFF2-40B4-BE49-F238E27FC236}">
                <a16:creationId xmlns:a16="http://schemas.microsoft.com/office/drawing/2014/main" id="{5812E6D3-1782-2018-A45F-6EBFBDE4527D}"/>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270959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84B46-49E1-31C2-0427-4D27C2B0E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AF628-2C36-FBC0-619A-223B01976CF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AE078D5-0947-CB9A-1C30-137C257E1692}"/>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PH" sz="1200" b="0" i="0" kern="1200" dirty="0">
                <a:solidFill>
                  <a:schemeClr val="bg1"/>
                </a:solidFill>
                <a:effectLst/>
                <a:latin typeface="IBM Plex Sans Light" panose="020B0503050203000203" pitchFamily="34" charset="0"/>
                <a:ea typeface="+mn-ea"/>
                <a:cs typeface="+mn-cs"/>
              </a:rPr>
              <a:t>Next, we’ll look at the Records Matrix and the process behind its creation. Understanding how records are categorized and assigned retention requirements is key to maintaining a structured and compliant records management program.</a:t>
            </a:r>
          </a:p>
          <a:p>
            <a:endParaRPr lang="en-PH" dirty="0"/>
          </a:p>
        </p:txBody>
      </p:sp>
      <p:sp>
        <p:nvSpPr>
          <p:cNvPr id="4" name="Slide Number Placeholder 3">
            <a:extLst>
              <a:ext uri="{FF2B5EF4-FFF2-40B4-BE49-F238E27FC236}">
                <a16:creationId xmlns:a16="http://schemas.microsoft.com/office/drawing/2014/main" id="{484C12E3-3F58-38A1-95E4-94C8FD32AD7B}"/>
              </a:ext>
            </a:extLst>
          </p:cNvPr>
          <p:cNvSpPr>
            <a:spLocks noGrp="1"/>
          </p:cNvSpPr>
          <p:nvPr>
            <p:ph type="sldNum" sz="quarter" idx="5"/>
          </p:nvPr>
        </p:nvSpPr>
        <p:spPr/>
        <p:txBody>
          <a:bodyPr/>
          <a:lstStyle/>
          <a:p>
            <a:fld id="{6E2E38B8-B0B4-AD41-AC6E-B781F46A9FD3}" type="slidenum">
              <a:rPr lang="en-US" smtClean="0"/>
              <a:pPr/>
              <a:t>15</a:t>
            </a:fld>
            <a:endParaRPr lang="en-US" dirty="0"/>
          </a:p>
        </p:txBody>
      </p:sp>
      <p:sp>
        <p:nvSpPr>
          <p:cNvPr id="5" name="Footer Placeholder 4">
            <a:extLst>
              <a:ext uri="{FF2B5EF4-FFF2-40B4-BE49-F238E27FC236}">
                <a16:creationId xmlns:a16="http://schemas.microsoft.com/office/drawing/2014/main" id="{DC7A560A-65E4-1EC8-93C7-781213A98BB8}"/>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30304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5CBF-42C6-DB7B-86FC-069CCD00A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A3106-E646-6EB5-6B20-DD6B75BB378D}"/>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1619BE41-19BF-9C78-B4AC-A1EA9C023A0D}"/>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The Records Matrix is a key tool in records management, and serves as the central reference for identifying records, their classifications, and their retention requirements. </a:t>
            </a: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Effective June 17, 2026, Records Matrices have been moved from Cobee Lite to monday.com, in the Digital Controls Center – Records Retention board in monday.com and managed by the Business Controls Team.</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b="0" i="0" kern="1200" dirty="0">
              <a:solidFill>
                <a:schemeClr val="bg1"/>
              </a:solidFill>
              <a:effectLst/>
              <a:latin typeface="IBM Plex Sans Light" panose="020B0503050203000203" pitchFamily="34" charset="0"/>
              <a:ea typeface="+mn-ea"/>
              <a:cs typeface="+mn-cs"/>
            </a:endParaRPr>
          </a:p>
          <a:p>
            <a:pPr fontAlgn="t"/>
            <a:r>
              <a:rPr lang="en-PH" sz="1200" b="0" i="0" kern="1200" dirty="0">
                <a:solidFill>
                  <a:schemeClr val="bg1"/>
                </a:solidFill>
                <a:effectLst/>
                <a:latin typeface="IBM Plex Sans Light" panose="020B0503050203000203" pitchFamily="34" charset="0"/>
                <a:ea typeface="+mn-ea"/>
                <a:cs typeface="+mn-cs"/>
              </a:rPr>
              <a:t>When filling-out the records matrix, ensure to complete all required repository and ownership details, maintain document statuses accurately, follow the prescribed access levels, and do not modify standardized fields.</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Keeping this matrix updated is a foundational part of maintaining good records governance.</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b="1" dirty="0"/>
          </a:p>
        </p:txBody>
      </p:sp>
      <p:sp>
        <p:nvSpPr>
          <p:cNvPr id="4" name="Slide Number Placeholder 3">
            <a:extLst>
              <a:ext uri="{FF2B5EF4-FFF2-40B4-BE49-F238E27FC236}">
                <a16:creationId xmlns:a16="http://schemas.microsoft.com/office/drawing/2014/main" id="{9DCC03AC-6ED8-F3D7-C55A-E436E588AA36}"/>
              </a:ext>
            </a:extLst>
          </p:cNvPr>
          <p:cNvSpPr>
            <a:spLocks noGrp="1"/>
          </p:cNvSpPr>
          <p:nvPr>
            <p:ph type="sldNum" sz="quarter" idx="5"/>
          </p:nvPr>
        </p:nvSpPr>
        <p:spPr/>
        <p:txBody>
          <a:bodyPr/>
          <a:lstStyle/>
          <a:p>
            <a:fld id="{6E2E38B8-B0B4-AD41-AC6E-B781F46A9FD3}" type="slidenum">
              <a:rPr lang="en-US" smtClean="0"/>
              <a:pPr/>
              <a:t>16</a:t>
            </a:fld>
            <a:endParaRPr lang="en-US" dirty="0"/>
          </a:p>
        </p:txBody>
      </p:sp>
      <p:sp>
        <p:nvSpPr>
          <p:cNvPr id="5" name="Footer Placeholder 4">
            <a:extLst>
              <a:ext uri="{FF2B5EF4-FFF2-40B4-BE49-F238E27FC236}">
                <a16:creationId xmlns:a16="http://schemas.microsoft.com/office/drawing/2014/main" id="{7F88241F-9069-D645-3A9C-A91F828AF956}"/>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5287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A453-2968-BA75-2F3C-A291CCF34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BF3A4-B12F-A565-67BC-7A5A86145250}"/>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A58D2C9-C7B1-24EC-657B-85CE56FE52CD}"/>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Records that apply to your team or process should be included in the Records Matrix. If you have center-generated records that are not listed in the reference table, coordinate with your Account Business Controls for guidance or consult WRM using the link provided.</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Visit the same link to learn more about specific records retention periods and how to apply them.</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The important takeaway is that the Records Matrix should be complete, relevant, and aligned with both operational needs and policy requirements.</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E80A3960-D056-0E79-9F45-BF55B9E625BF}"/>
              </a:ext>
            </a:extLst>
          </p:cNvPr>
          <p:cNvSpPr>
            <a:spLocks noGrp="1"/>
          </p:cNvSpPr>
          <p:nvPr>
            <p:ph type="sldNum" sz="quarter" idx="5"/>
          </p:nvPr>
        </p:nvSpPr>
        <p:spPr/>
        <p:txBody>
          <a:bodyPr/>
          <a:lstStyle/>
          <a:p>
            <a:fld id="{6E2E38B8-B0B4-AD41-AC6E-B781F46A9FD3}" type="slidenum">
              <a:rPr lang="en-US" smtClean="0"/>
              <a:pPr/>
              <a:t>17</a:t>
            </a:fld>
            <a:endParaRPr lang="en-US" dirty="0"/>
          </a:p>
        </p:txBody>
      </p:sp>
      <p:sp>
        <p:nvSpPr>
          <p:cNvPr id="5" name="Footer Placeholder 4">
            <a:extLst>
              <a:ext uri="{FF2B5EF4-FFF2-40B4-BE49-F238E27FC236}">
                <a16:creationId xmlns:a16="http://schemas.microsoft.com/office/drawing/2014/main" id="{53B8EB9C-ED46-1097-6313-5480C1C32072}"/>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899995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5D2A-404F-7A3D-AA06-C46073A6B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F36D1-2474-B6D0-2E95-90DBF374B295}"/>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277E445A-B184-D260-A5A5-548C6072C059}"/>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This slide outlines the approvers for the Records Matrix across different towers. Depending on the tower, approvers may include HR Delivery Managers, Team Leads, Operations Leads, Domain Leads, Managers, Center Leaders, or Client Service Managers. The approval structure may vary, but the purpose remains the same: to ensure the Records Matrix is reviewed by the right stakeholders and formally approved.</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414DCFD5-D159-BD37-BD89-949C315A7CE9}"/>
              </a:ext>
            </a:extLst>
          </p:cNvPr>
          <p:cNvSpPr>
            <a:spLocks noGrp="1"/>
          </p:cNvSpPr>
          <p:nvPr>
            <p:ph type="sldNum" sz="quarter" idx="5"/>
          </p:nvPr>
        </p:nvSpPr>
        <p:spPr/>
        <p:txBody>
          <a:bodyPr/>
          <a:lstStyle/>
          <a:p>
            <a:fld id="{6E2E38B8-B0B4-AD41-AC6E-B781F46A9FD3}" type="slidenum">
              <a:rPr lang="en-US" smtClean="0"/>
              <a:pPr/>
              <a:t>18</a:t>
            </a:fld>
            <a:endParaRPr lang="en-US" dirty="0"/>
          </a:p>
        </p:txBody>
      </p:sp>
      <p:sp>
        <p:nvSpPr>
          <p:cNvPr id="5" name="Footer Placeholder 4">
            <a:extLst>
              <a:ext uri="{FF2B5EF4-FFF2-40B4-BE49-F238E27FC236}">
                <a16:creationId xmlns:a16="http://schemas.microsoft.com/office/drawing/2014/main" id="{18519AB9-CA84-B001-1396-B913081636E6}"/>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71690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6070-A480-DB38-A9B8-763665A7E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8B0FA-50DE-2269-559A-EE8050CA8FEF}"/>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BCBD95E-733F-1509-8295-9ABF38D88DA4}"/>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Here are a few key notes to remember. Cobee Lite is the Center’s Records Management Repository. Records Matrices must be reviewed and approved annually, and the information in them should be complete and accurate. Retention requirements apply to both hardcopy and electronic records. DTPs and Job Aids are considered reference records and should be included in the matrix, with a retention period of S plus 1. Common defects include missing center-generated records, late annual reviews, or having no Records Matrix at all. And one final reminder: all records are auditable.</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A85498AC-044E-3F25-43D9-8CFEFCD4DD5A}"/>
              </a:ext>
            </a:extLst>
          </p:cNvPr>
          <p:cNvSpPr>
            <a:spLocks noGrp="1"/>
          </p:cNvSpPr>
          <p:nvPr>
            <p:ph type="sldNum" sz="quarter" idx="5"/>
          </p:nvPr>
        </p:nvSpPr>
        <p:spPr/>
        <p:txBody>
          <a:bodyPr/>
          <a:lstStyle/>
          <a:p>
            <a:fld id="{6E2E38B8-B0B4-AD41-AC6E-B781F46A9FD3}" type="slidenum">
              <a:rPr lang="en-US" smtClean="0"/>
              <a:pPr/>
              <a:t>19</a:t>
            </a:fld>
            <a:endParaRPr lang="en-US" dirty="0"/>
          </a:p>
        </p:txBody>
      </p:sp>
      <p:sp>
        <p:nvSpPr>
          <p:cNvPr id="5" name="Footer Placeholder 4">
            <a:extLst>
              <a:ext uri="{FF2B5EF4-FFF2-40B4-BE49-F238E27FC236}">
                <a16:creationId xmlns:a16="http://schemas.microsoft.com/office/drawing/2014/main" id="{D37629E6-D4E0-E661-CE09-625A851D807C}"/>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656037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B6349-5418-D4FA-E2F5-7D96E4AE8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45C55-0C9F-6D57-0F0E-F1B9839C36F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5437E6E-BE42-667C-8B16-E711CA19B8BA}"/>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We’ve now reached the knowledge check section. This is a quick way to reinforce the key concepts covered so far. Take a moment to review each question and think through your answer before looking at the explanation.</a:t>
            </a:r>
            <a:endParaRPr lang="en-PH" sz="1200" b="0" i="0" kern="1200" dirty="0">
              <a:solidFill>
                <a:schemeClr val="bg1"/>
              </a:solidFill>
              <a:effectLst/>
              <a:latin typeface="IBM Plex Sans Light" panose="020B0503050203000203" pitchFamily="34" charset="0"/>
              <a:ea typeface="+mn-ea"/>
              <a:cs typeface="+mn-cs"/>
            </a:endParaRPr>
          </a:p>
          <a:p>
            <a:endParaRPr lang="en-PH" dirty="0"/>
          </a:p>
        </p:txBody>
      </p:sp>
      <p:sp>
        <p:nvSpPr>
          <p:cNvPr id="4" name="Slide Number Placeholder 3">
            <a:extLst>
              <a:ext uri="{FF2B5EF4-FFF2-40B4-BE49-F238E27FC236}">
                <a16:creationId xmlns:a16="http://schemas.microsoft.com/office/drawing/2014/main" id="{A4C616C1-DF8B-8002-7915-A36688203C99}"/>
              </a:ext>
            </a:extLst>
          </p:cNvPr>
          <p:cNvSpPr>
            <a:spLocks noGrp="1"/>
          </p:cNvSpPr>
          <p:nvPr>
            <p:ph type="sldNum" sz="quarter" idx="5"/>
          </p:nvPr>
        </p:nvSpPr>
        <p:spPr/>
        <p:txBody>
          <a:bodyPr/>
          <a:lstStyle/>
          <a:p>
            <a:fld id="{6E2E38B8-B0B4-AD41-AC6E-B781F46A9FD3}" type="slidenum">
              <a:rPr lang="en-US" smtClean="0"/>
              <a:pPr/>
              <a:t>20</a:t>
            </a:fld>
            <a:endParaRPr lang="en-US" dirty="0"/>
          </a:p>
        </p:txBody>
      </p:sp>
      <p:sp>
        <p:nvSpPr>
          <p:cNvPr id="5" name="Footer Placeholder 4">
            <a:extLst>
              <a:ext uri="{FF2B5EF4-FFF2-40B4-BE49-F238E27FC236}">
                <a16:creationId xmlns:a16="http://schemas.microsoft.com/office/drawing/2014/main" id="{95633E95-DF28-B51A-C6DF-BD4E08C6D4F1}"/>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855078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D1BA-5CF9-2C38-98EA-2EB9FF93C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BA1BD-4908-1BA6-80F6-92D6D475D30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8C511373-6CE6-129D-FAD5-29CE8D716F3E}"/>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Let’s begin with Question 1.</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Which of the following is the role and responsibility of a Records Owner?</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Your options are: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 Assign Records SPOC, or Records Custodian, for the team</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B. Archive listing and disposal authorization</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C. Identify records to be retained</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Or D. All of the above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correct answer is D. All of the above.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Records Owner is responsible for identifying which records must be retained, assigning the Records Custodian for the team, and reviewing and approving both the Records Matrix and the disposal of records. This role is typically assigned to the HR Delivery Manager, Operations Leads, or their equivalent.</a:t>
            </a:r>
            <a:endParaRPr lang="en-PH" sz="1200" b="1" i="0" kern="1200" dirty="0">
              <a:solidFill>
                <a:schemeClr val="bg1"/>
              </a:solidFill>
              <a:effectLst/>
              <a:latin typeface="IBM Plex Sans Light" panose="020B0503050203000203" pitchFamily="34" charset="0"/>
              <a:ea typeface="+mn-ea"/>
              <a:cs typeface="+mn-cs"/>
            </a:endParaRPr>
          </a:p>
          <a:p>
            <a:pPr fontAlgn="t"/>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B8F90D78-B75D-2C93-5960-F9A05EBB8DC6}"/>
              </a:ext>
            </a:extLst>
          </p:cNvPr>
          <p:cNvSpPr>
            <a:spLocks noGrp="1"/>
          </p:cNvSpPr>
          <p:nvPr>
            <p:ph type="sldNum" sz="quarter" idx="5"/>
          </p:nvPr>
        </p:nvSpPr>
        <p:spPr/>
        <p:txBody>
          <a:bodyPr/>
          <a:lstStyle/>
          <a:p>
            <a:fld id="{6E2E38B8-B0B4-AD41-AC6E-B781F46A9FD3}" type="slidenum">
              <a:rPr lang="en-US" smtClean="0"/>
              <a:pPr/>
              <a:t>21</a:t>
            </a:fld>
            <a:endParaRPr lang="en-US" dirty="0"/>
          </a:p>
        </p:txBody>
      </p:sp>
      <p:sp>
        <p:nvSpPr>
          <p:cNvPr id="5" name="Footer Placeholder 4">
            <a:extLst>
              <a:ext uri="{FF2B5EF4-FFF2-40B4-BE49-F238E27FC236}">
                <a16:creationId xmlns:a16="http://schemas.microsoft.com/office/drawing/2014/main" id="{A196B6FC-9C0D-E378-FF6A-03E19D0A03B5}"/>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798399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86D3E-2773-70BD-696F-863E0D0CC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10313-18C6-23BE-EC7D-3FDDCCF1E87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E0EC6E4-9E10-78F2-332F-3BBD6AB5299A}"/>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Now for Question 2.</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Which of the following is true when we are talking about the roles and responsibilities of a Records Custodian?</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Your options are: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 Responsible for aiding in communicating requests to offsite or archiving vendors to support archiving activities of the Records Owner</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B. Does most of the legwork</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C. Identify, classify, and maintain records</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Or D. None of the above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correct answer is B. Does most of the legwork.</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Records Custodian is typically responsible for the day-to-day execution of records management activities. This includes organizing, labeling, indexing, storing, retrieving, and disposing of records. In some cases, the Records Custodian may also maintain the Records Matrix. This role is usually assigned to HR Process Owners, Team Leads, or their equivalent.</a:t>
            </a:r>
            <a:endParaRPr lang="en-PH" sz="1200" b="1" i="0" kern="1200" dirty="0">
              <a:solidFill>
                <a:schemeClr val="bg1"/>
              </a:solidFill>
              <a:effectLst/>
              <a:latin typeface="IBM Plex Sans Light" panose="020B0503050203000203" pitchFamily="34" charset="0"/>
              <a:ea typeface="+mn-ea"/>
              <a:cs typeface="+mn-cs"/>
            </a:endParaRPr>
          </a:p>
          <a:p>
            <a:pPr fontAlgn="t"/>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A1526D48-87F1-BC70-F44A-402099A5D28F}"/>
              </a:ext>
            </a:extLst>
          </p:cNvPr>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a:extLst>
              <a:ext uri="{FF2B5EF4-FFF2-40B4-BE49-F238E27FC236}">
                <a16:creationId xmlns:a16="http://schemas.microsoft.com/office/drawing/2014/main" id="{78277EDC-B3FF-E657-02E8-F20930051B1D}"/>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42606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CB215-AC3F-C09C-6114-596E8DAA5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ADA68-E811-0BA3-34F5-865F50F55844}"/>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EE8D3CB7-6E11-076E-B339-30585F893D33}"/>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Let’s continue with Question 3.</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Which of the following shows the contents of an accurate label?</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Option A is:</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Record code, filename, coverage date, computed end of retention period, and data classification.</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Option B is:</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Record code, filename, computed end of retention period, and data classification.</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correct answer is A.</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An accurate label should contain all five required details: the record code, filename, coverage date, computed end of retention period, and data classification. Including all of these elements helps ensure records can be identified and retrieved correctly and efficiently.</a:t>
            </a:r>
            <a:endParaRPr lang="en-PH" sz="1200" b="1" i="0" kern="1200" dirty="0">
              <a:solidFill>
                <a:schemeClr val="bg1"/>
              </a:solidFill>
              <a:effectLst/>
              <a:latin typeface="IBM Plex Sans Light" panose="020B0503050203000203" pitchFamily="34" charset="0"/>
              <a:ea typeface="+mn-ea"/>
              <a:cs typeface="+mn-cs"/>
            </a:endParaRPr>
          </a:p>
          <a:p>
            <a:pPr fontAlgn="t"/>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731E0CD-EF7B-7F42-A28D-7AD985FD50BD}"/>
              </a:ext>
            </a:extLst>
          </p:cNvPr>
          <p:cNvSpPr>
            <a:spLocks noGrp="1"/>
          </p:cNvSpPr>
          <p:nvPr>
            <p:ph type="sldNum" sz="quarter" idx="5"/>
          </p:nvPr>
        </p:nvSpPr>
        <p:spPr/>
        <p:txBody>
          <a:bodyPr/>
          <a:lstStyle/>
          <a:p>
            <a:fld id="{6E2E38B8-B0B4-AD41-AC6E-B781F46A9FD3}" type="slidenum">
              <a:rPr lang="en-US" smtClean="0"/>
              <a:pPr/>
              <a:t>23</a:t>
            </a:fld>
            <a:endParaRPr lang="en-US" dirty="0"/>
          </a:p>
        </p:txBody>
      </p:sp>
      <p:sp>
        <p:nvSpPr>
          <p:cNvPr id="5" name="Footer Placeholder 4">
            <a:extLst>
              <a:ext uri="{FF2B5EF4-FFF2-40B4-BE49-F238E27FC236}">
                <a16:creationId xmlns:a16="http://schemas.microsoft.com/office/drawing/2014/main" id="{503288F1-DE2C-F144-E70C-FE0C31932E92}"/>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462904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EEDD0-1AFD-BC0D-5217-5CE6449B3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BA5F0-B7D7-63E2-39C1-CCB862240F5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0A126E78-8090-0D12-79F6-8AD8B253A1D6}"/>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Here is Question 4.</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What is the meaning of the retention code Superseded plus 1?</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Your options are: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 Special for 1 year</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B. Suspend plus 1 year</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C. Superseded plus 1 year</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Or D. None of the above</a:t>
            </a:r>
            <a:endParaRPr lang="en-PH" sz="1200" b="1" i="0" kern="1200" dirty="0">
              <a:solidFill>
                <a:schemeClr val="bg1"/>
              </a:solidFill>
              <a:effectLst/>
              <a:latin typeface="IBM Plex Sans Light" panose="020B0503050203000203" pitchFamily="34" charset="0"/>
              <a:ea typeface="+mn-ea"/>
              <a:cs typeface="+mn-cs"/>
            </a:endParaRPr>
          </a:p>
          <a:p>
            <a:endParaRPr lang="en-US" sz="800" b="0" i="0" kern="1200" dirty="0">
              <a:solidFill>
                <a:schemeClr val="bg1"/>
              </a:solidFill>
              <a:latin typeface="IBM Plex Sans Light" panose="020B0503050203000203" pitchFamily="34" charset="0"/>
              <a:ea typeface="+mn-ea"/>
              <a:cs typeface="Arial" panose="020B0604020202020204" pitchFamily="34" charset="0"/>
            </a:endParaRPr>
          </a:p>
          <a:p>
            <a:r>
              <a:rPr lang="en-US" sz="800" b="0" i="0" kern="1200" dirty="0">
                <a:solidFill>
                  <a:schemeClr val="bg1"/>
                </a:solidFill>
                <a:latin typeface="IBM Plex Sans Light" panose="020B0503050203000203" pitchFamily="34" charset="0"/>
                <a:ea typeface="+mn-ea"/>
                <a:cs typeface="Arial" panose="020B0604020202020204" pitchFamily="34" charset="0"/>
              </a:rPr>
              <a:t>The correct answer is C. Superseded + 1 year</a:t>
            </a:r>
          </a:p>
          <a:p>
            <a:r>
              <a:rPr lang="en-US" sz="800" b="0" i="0" kern="1200" dirty="0">
                <a:solidFill>
                  <a:schemeClr val="bg1"/>
                </a:solidFill>
                <a:latin typeface="IBM Plex Sans Light" panose="020B0503050203000203" pitchFamily="34" charset="0"/>
                <a:ea typeface="+mn-ea"/>
                <a:cs typeface="Arial" panose="020B0604020202020204" pitchFamily="34" charset="0"/>
              </a:rPr>
              <a:t>This means that only the newest version of the record is essential; any previous versions are considered disposable.</a:t>
            </a:r>
          </a:p>
          <a:p>
            <a:endParaRPr lang="en-US" sz="800" b="0" i="0" kern="1200" dirty="0">
              <a:solidFill>
                <a:schemeClr val="bg1"/>
              </a:solidFill>
              <a:latin typeface="IBM Plex Sans Light" panose="020B0503050203000203" pitchFamily="34" charset="0"/>
              <a:ea typeface="+mn-ea"/>
              <a:cs typeface="Arial" panose="020B0604020202020204" pitchFamily="34" charset="0"/>
            </a:endParaRPr>
          </a:p>
          <a:p>
            <a:r>
              <a:rPr lang="en-US" sz="800" b="0" i="0" kern="1200" dirty="0">
                <a:solidFill>
                  <a:schemeClr val="bg1"/>
                </a:solidFill>
                <a:latin typeface="IBM Plex Sans Light" panose="020B0503050203000203" pitchFamily="34" charset="0"/>
                <a:ea typeface="+mn-ea"/>
                <a:cs typeface="Arial" panose="020B0604020202020204" pitchFamily="34" charset="0"/>
              </a:rPr>
              <a:t>This is the retention code assigned to process documents and job-aids, which are required to be reviewed within 365 days from its last approval date.</a:t>
            </a:r>
          </a:p>
          <a:p>
            <a:pPr fontAlgn="t"/>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BA39FCD7-DE6E-54A2-0C67-BEC36FCAD441}"/>
              </a:ext>
            </a:extLst>
          </p:cNvPr>
          <p:cNvSpPr>
            <a:spLocks noGrp="1"/>
          </p:cNvSpPr>
          <p:nvPr>
            <p:ph type="sldNum" sz="quarter" idx="5"/>
          </p:nvPr>
        </p:nvSpPr>
        <p:spPr/>
        <p:txBody>
          <a:bodyPr/>
          <a:lstStyle/>
          <a:p>
            <a:fld id="{6E2E38B8-B0B4-AD41-AC6E-B781F46A9FD3}" type="slidenum">
              <a:rPr lang="en-US" smtClean="0"/>
              <a:pPr/>
              <a:t>24</a:t>
            </a:fld>
            <a:endParaRPr lang="en-US" dirty="0"/>
          </a:p>
        </p:txBody>
      </p:sp>
      <p:sp>
        <p:nvSpPr>
          <p:cNvPr id="5" name="Footer Placeholder 4">
            <a:extLst>
              <a:ext uri="{FF2B5EF4-FFF2-40B4-BE49-F238E27FC236}">
                <a16:creationId xmlns:a16="http://schemas.microsoft.com/office/drawing/2014/main" id="{F96BC08E-F7B6-3DC7-F8ED-B3448971C847}"/>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877123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7190A-2887-422B-2F29-D7FFDE59D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7590B-06F3-2721-9430-F044DBDA4A61}"/>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1D802BC-FAEB-CB47-8C68-421F8CDE95A8}"/>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And now, Question 5.</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You should only review and update your Records Matrix every March. True or False?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correct answer is False.</a:t>
            </a:r>
            <a:endParaRPr lang="en-PH" sz="1200" b="1"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While Records Matrices do have an annual review requirement, they may be reviewed and updated at any time as needed. If there are changes to your records, processes, or retention requirements, it is best to update the matrix promptly instead of waiting for the annual review cycle.</a:t>
            </a:r>
            <a:endParaRPr lang="en-PH" sz="1200" b="1" i="0" kern="1200" dirty="0">
              <a:solidFill>
                <a:schemeClr val="bg1"/>
              </a:solidFill>
              <a:effectLst/>
              <a:latin typeface="IBM Plex Sans Light" panose="020B0503050203000203" pitchFamily="34" charset="0"/>
              <a:ea typeface="+mn-ea"/>
              <a:cs typeface="+mn-cs"/>
            </a:endParaRPr>
          </a:p>
          <a:p>
            <a:pPr fontAlgn="t"/>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BF920C7C-EFB2-F3E2-A743-FFF984175992}"/>
              </a:ext>
            </a:extLst>
          </p:cNvPr>
          <p:cNvSpPr>
            <a:spLocks noGrp="1"/>
          </p:cNvSpPr>
          <p:nvPr>
            <p:ph type="sldNum" sz="quarter" idx="5"/>
          </p:nvPr>
        </p:nvSpPr>
        <p:spPr/>
        <p:txBody>
          <a:bodyPr/>
          <a:lstStyle/>
          <a:p>
            <a:fld id="{6E2E38B8-B0B4-AD41-AC6E-B781F46A9FD3}" type="slidenum">
              <a:rPr lang="en-US" smtClean="0"/>
              <a:pPr/>
              <a:t>25</a:t>
            </a:fld>
            <a:endParaRPr lang="en-US" dirty="0"/>
          </a:p>
        </p:txBody>
      </p:sp>
      <p:sp>
        <p:nvSpPr>
          <p:cNvPr id="5" name="Footer Placeholder 4">
            <a:extLst>
              <a:ext uri="{FF2B5EF4-FFF2-40B4-BE49-F238E27FC236}">
                <a16:creationId xmlns:a16="http://schemas.microsoft.com/office/drawing/2014/main" id="{EB2B5CC9-F5EA-FAA4-18DF-290A9F96FA3F}"/>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719183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fontAlgn="t"/>
            <a:r>
              <a:rPr lang="en-PH" sz="1200" b="0" i="0" kern="1200" dirty="0">
                <a:solidFill>
                  <a:schemeClr val="bg1"/>
                </a:solidFill>
                <a:effectLst/>
                <a:latin typeface="IBM Plex Sans Light" panose="020B0503050203000203" pitchFamily="34" charset="0"/>
                <a:ea typeface="+mn-ea"/>
                <a:cs typeface="+mn-cs"/>
              </a:rPr>
              <a:t>The next slides contain additional information and useful references that can help reinforce key records management requirements and processes.</a:t>
            </a:r>
          </a:p>
          <a:p>
            <a:endParaRPr lang="en-PH"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0545937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0FA4-3BF7-85CC-29DC-E8790EBCE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E164B-2E39-1BFD-0BFA-88E1A314319F}"/>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0BB6135-118F-BB55-BA80-EEC2B274F6F2}"/>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PH" sz="1200" b="0" i="0" kern="1200" dirty="0">
                <a:solidFill>
                  <a:schemeClr val="bg1"/>
                </a:solidFill>
                <a:effectLst/>
                <a:latin typeface="IBM Plex Sans Light" panose="020B0503050203000203" pitchFamily="34" charset="0"/>
                <a:ea typeface="+mn-ea"/>
                <a:cs typeface="+mn-cs"/>
              </a:rPr>
              <a:t>Review the key roles and responsibilities and how they work together to support effective records management.</a:t>
            </a:r>
          </a:p>
          <a:p>
            <a:endParaRPr lang="en-PH"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1B8DC6A7-ECB3-73D8-8CA4-1753B5FEBF17}"/>
              </a:ext>
            </a:extLst>
          </p:cNvPr>
          <p:cNvSpPr>
            <a:spLocks noGrp="1"/>
          </p:cNvSpPr>
          <p:nvPr>
            <p:ph type="sldNum" sz="quarter" idx="5"/>
          </p:nvPr>
        </p:nvSpPr>
        <p:spPr/>
        <p:txBody>
          <a:bodyPr/>
          <a:lstStyle/>
          <a:p>
            <a:fld id="{6E2E38B8-B0B4-AD41-AC6E-B781F46A9FD3}" type="slidenum">
              <a:rPr lang="en-US" smtClean="0"/>
              <a:pPr/>
              <a:t>27</a:t>
            </a:fld>
            <a:endParaRPr lang="en-US" dirty="0"/>
          </a:p>
        </p:txBody>
      </p:sp>
      <p:sp>
        <p:nvSpPr>
          <p:cNvPr id="5" name="Footer Placeholder 4">
            <a:extLst>
              <a:ext uri="{FF2B5EF4-FFF2-40B4-BE49-F238E27FC236}">
                <a16:creationId xmlns:a16="http://schemas.microsoft.com/office/drawing/2014/main" id="{6B42620F-2232-9631-93BE-FC83E7824577}"/>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743323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5A900-8DA5-7323-CA65-F249B3D8F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A3AC2-B156-4A3C-C652-82A609341C1D}"/>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6641E05-BA9D-9FA5-9D04-FB880C6A98D2}"/>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Here is an example of a box label for physical records. Labels should be clear, complete, and easy to read. Files should also be arranged in alphabetical order, and the listing should match the same order used inside the box. This simple practice helps save time during retrieval and reduces the risk of misplaced documents.</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A131EF05-A8E9-D011-5783-74AC3BE1E26C}"/>
              </a:ext>
            </a:extLst>
          </p:cNvPr>
          <p:cNvSpPr>
            <a:spLocks noGrp="1"/>
          </p:cNvSpPr>
          <p:nvPr>
            <p:ph type="sldNum" sz="quarter" idx="5"/>
          </p:nvPr>
        </p:nvSpPr>
        <p:spPr/>
        <p:txBody>
          <a:bodyPr/>
          <a:lstStyle/>
          <a:p>
            <a:fld id="{6E2E38B8-B0B4-AD41-AC6E-B781F46A9FD3}" type="slidenum">
              <a:rPr lang="en-US" smtClean="0"/>
              <a:pPr/>
              <a:t>28</a:t>
            </a:fld>
            <a:endParaRPr lang="en-US" dirty="0"/>
          </a:p>
        </p:txBody>
      </p:sp>
      <p:sp>
        <p:nvSpPr>
          <p:cNvPr id="5" name="Footer Placeholder 4">
            <a:extLst>
              <a:ext uri="{FF2B5EF4-FFF2-40B4-BE49-F238E27FC236}">
                <a16:creationId xmlns:a16="http://schemas.microsoft.com/office/drawing/2014/main" id="{2D931630-B887-E61B-4D09-271120E4A8F8}"/>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658728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2EAEF-EDBC-8AB9-A223-4306FB2FF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35218-4BF2-6ED8-3FA2-04FEC035078B}"/>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41912AAA-9F9C-3CC0-22FA-3121C59FA4F6}"/>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For additional information, you may visit the Integrated Operations Publisher page. This site contains more details on QMS tools, policies, training materials, and SOC 1 references. It’s also helpful to know that the annual review and approval of Records Matrices are monitored by the Business Controls Team under the RISC Management Scorecard reported to Center Leadership. In other words, keeping your Records Matrix current is not just a good practice, it is also actively monitored.</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5903D327-BC25-77D5-31D4-0CF74E0D662B}"/>
              </a:ext>
            </a:extLst>
          </p:cNvPr>
          <p:cNvSpPr>
            <a:spLocks noGrp="1"/>
          </p:cNvSpPr>
          <p:nvPr>
            <p:ph type="sldNum" sz="quarter" idx="5"/>
          </p:nvPr>
        </p:nvSpPr>
        <p:spPr/>
        <p:txBody>
          <a:bodyPr/>
          <a:lstStyle/>
          <a:p>
            <a:fld id="{6E2E38B8-B0B4-AD41-AC6E-B781F46A9FD3}" type="slidenum">
              <a:rPr lang="en-US" smtClean="0"/>
              <a:pPr/>
              <a:t>29</a:t>
            </a:fld>
            <a:endParaRPr lang="en-US" dirty="0"/>
          </a:p>
        </p:txBody>
      </p:sp>
      <p:sp>
        <p:nvSpPr>
          <p:cNvPr id="5" name="Footer Placeholder 4">
            <a:extLst>
              <a:ext uri="{FF2B5EF4-FFF2-40B4-BE49-F238E27FC236}">
                <a16:creationId xmlns:a16="http://schemas.microsoft.com/office/drawing/2014/main" id="{C3E3FD01-C212-C260-0920-8FDA0ECD4CC3}"/>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159188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This brings us to the end of the training. If you have questions, you may send them to the email address shown on the slide. Please remember that this material is for internal use only. Also, any printed copy is for reference only, so always make sure you are using the official and complete version. Thank you for completing the training.</a:t>
            </a:r>
            <a:endParaRPr lang="en-PH"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lang="en-PH"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30</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2363200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31023DA-B71B-5461-7258-5160431710BE}"/>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3" name="Footer Placeholder 1">
            <a:extLst>
              <a:ext uri="{FF2B5EF4-FFF2-40B4-BE49-F238E27FC236}">
                <a16:creationId xmlns:a16="http://schemas.microsoft.com/office/drawing/2014/main" id="{A017ABB6-0EAE-5420-1D29-A3CAE6BD99B7}"/>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4" name="Graphic 3">
            <a:extLst>
              <a:ext uri="{FF2B5EF4-FFF2-40B4-BE49-F238E27FC236}">
                <a16:creationId xmlns:a16="http://schemas.microsoft.com/office/drawing/2014/main" id="{C81CE5B3-F73F-6A7A-B056-840C3032D3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4150" y="553496"/>
            <a:ext cx="3136261" cy="867476"/>
          </a:xfrm>
          <a:prstGeom prst="rect">
            <a:avLst/>
          </a:prstGeom>
        </p:spPr>
      </p:pic>
    </p:spTree>
    <p:extLst>
      <p:ext uri="{BB962C8B-B14F-4D97-AF65-F5344CB8AC3E}">
        <p14:creationId xmlns:p14="http://schemas.microsoft.com/office/powerpoint/2010/main" val="222487865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a:prstGeom prst="rect">
            <a:avLst/>
          </a:prstGeom>
        </p:spPr>
        <p:txBody>
          <a:bodyPr/>
          <a:lstStyle>
            <a:lvl1pPr>
              <a:lnSpc>
                <a:spcPct val="100000"/>
              </a:lnSpc>
              <a:defRPr sz="6800">
                <a:solidFill>
                  <a:schemeClr val="tx2"/>
                </a:solidFill>
              </a:defRPr>
            </a:lvl1pPr>
          </a:lstStyle>
          <a:p>
            <a:r>
              <a:rPr lang="en-GB" dirty="0"/>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a:prstGeom prst="rect">
            <a:avLst/>
          </a:prstGeo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a:prstGeom prst="rect">
            <a:avLst/>
          </a:prstGeo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Slide Number">
            <a:extLst>
              <a:ext uri="{FF2B5EF4-FFF2-40B4-BE49-F238E27FC236}">
                <a16:creationId xmlns:a16="http://schemas.microsoft.com/office/drawing/2014/main" id="{6C18850C-A3B2-7D5C-9D28-65CB4EE96C2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9" name="Footer Placeholder 1">
            <a:extLst>
              <a:ext uri="{FF2B5EF4-FFF2-40B4-BE49-F238E27FC236}">
                <a16:creationId xmlns:a16="http://schemas.microsoft.com/office/drawing/2014/main" id="{2D9A77A6-FB0F-C429-A474-E1CD3533B5B0}"/>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193587" y="1"/>
            <a:ext cx="12193587" cy="13716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5784850"/>
          </a:xfrm>
          <a:prstGeom prst="rect">
            <a:avLst/>
          </a:prstGeom>
        </p:spPr>
        <p:txBody>
          <a:bodyPr/>
          <a:lstStyle>
            <a:lvl1pPr>
              <a:lnSpc>
                <a:spcPct val="100000"/>
              </a:lnSpc>
              <a:defRPr sz="8400">
                <a:solidFill>
                  <a:schemeClr val="tx2"/>
                </a:solidFill>
              </a:defRPr>
            </a:lvl1pPr>
          </a:lstStyle>
          <a:p>
            <a:r>
              <a:rPr lang="en-GB"/>
              <a:t>Click to edit Master title style</a:t>
            </a:r>
            <a:endParaRPr lang="en-US" dirty="0"/>
          </a:p>
        </p:txBody>
      </p:sp>
      <p:sp>
        <p:nvSpPr>
          <p:cNvPr id="2" name="Slide Number">
            <a:extLst>
              <a:ext uri="{FF2B5EF4-FFF2-40B4-BE49-F238E27FC236}">
                <a16:creationId xmlns:a16="http://schemas.microsoft.com/office/drawing/2014/main" id="{2E23A0CF-3C8A-B195-8C5C-3B62E4F64E4F}"/>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4" name="Footer Placeholder 1">
            <a:extLst>
              <a:ext uri="{FF2B5EF4-FFF2-40B4-BE49-F238E27FC236}">
                <a16:creationId xmlns:a16="http://schemas.microsoft.com/office/drawing/2014/main" id="{1CB9D006-30B0-46AE-C059-BE0BFE8FD768}"/>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3" name="Graphic 2">
            <a:extLst>
              <a:ext uri="{FF2B5EF4-FFF2-40B4-BE49-F238E27FC236}">
                <a16:creationId xmlns:a16="http://schemas.microsoft.com/office/drawing/2014/main" id="{3556DDA7-852A-381B-8DDD-BF04FEA685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415261400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a:prstGeom prst="rect">
            <a:avLst/>
          </a:prstGeo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a:prstGeom prst="rect">
            <a:avLst/>
          </a:prstGeom>
        </p:spPr>
        <p:txBody>
          <a:bodyPr/>
          <a:lstStyle>
            <a:lvl1pPr>
              <a:lnSpc>
                <a:spcPct val="100000"/>
              </a:lnSpc>
              <a:defRPr sz="8400">
                <a:solidFill>
                  <a:schemeClr val="tx2"/>
                </a:solidFill>
              </a:defRPr>
            </a:lvl1pPr>
          </a:lstStyle>
          <a:p>
            <a:r>
              <a:rPr lang="en-GB"/>
              <a:t>Click to edit Master title style</a:t>
            </a:r>
            <a:endParaRPr lang="en-US" dirty="0"/>
          </a:p>
        </p:txBody>
      </p:sp>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0"/>
            <a:ext cx="11623676" cy="13716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4" name="Slide Number">
            <a:extLst>
              <a:ext uri="{FF2B5EF4-FFF2-40B4-BE49-F238E27FC236}">
                <a16:creationId xmlns:a16="http://schemas.microsoft.com/office/drawing/2014/main" id="{7E3A04D9-53DF-592D-1FC8-7134257DECF3}"/>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F8D28D3F-34BA-AF33-1466-14183528F63D}"/>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3" name="Graphic 2">
            <a:extLst>
              <a:ext uri="{FF2B5EF4-FFF2-40B4-BE49-F238E27FC236}">
                <a16:creationId xmlns:a16="http://schemas.microsoft.com/office/drawing/2014/main" id="{C2F26A3C-9EA5-2745-C384-AD8AE5F1AE5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334020936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a:prstGeom prst="rect">
            <a:avLst/>
          </a:prstGeo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4" name="Slide Number">
            <a:extLst>
              <a:ext uri="{FF2B5EF4-FFF2-40B4-BE49-F238E27FC236}">
                <a16:creationId xmlns:a16="http://schemas.microsoft.com/office/drawing/2014/main" id="{79191786-3790-8661-71C9-7A5344455496}"/>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E127FE4F-69A0-F4B7-0EE8-65E6D074CDE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a:prstGeom prst="rect">
            <a:avLst/>
          </a:prstGeo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a:prstGeom prst="rect">
            <a:avLst/>
          </a:prstGeo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Slide Number">
            <a:extLst>
              <a:ext uri="{FF2B5EF4-FFF2-40B4-BE49-F238E27FC236}">
                <a16:creationId xmlns:a16="http://schemas.microsoft.com/office/drawing/2014/main" id="{9A535CD4-9E8E-3BCB-0E8F-A0AD8023D8EC}"/>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EC45F66E-8EBB-8A93-05AC-9C0CBCDB703C}"/>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a:prstGeom prst="rect">
            <a:avLst/>
          </a:prstGeom>
        </p:spPr>
        <p:txBody>
          <a:bodyPr/>
          <a:lstStyle>
            <a:lvl1pPr>
              <a:lnSpc>
                <a:spcPct val="100000"/>
              </a:lnSpc>
              <a:defRPr sz="8400"/>
            </a:lvl1pPr>
          </a:lstStyle>
          <a:p>
            <a:pPr lvl="0"/>
            <a:r>
              <a:rPr lang="en-GB"/>
              <a:t>Click to edit Master text styles</a:t>
            </a:r>
          </a:p>
        </p:txBody>
      </p:sp>
      <p:sp>
        <p:nvSpPr>
          <p:cNvPr id="2" name="Slide Number">
            <a:extLst>
              <a:ext uri="{FF2B5EF4-FFF2-40B4-BE49-F238E27FC236}">
                <a16:creationId xmlns:a16="http://schemas.microsoft.com/office/drawing/2014/main" id="{5516E11A-D598-3D50-77B5-921554F16402}"/>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4" name="Footer Placeholder 1">
            <a:extLst>
              <a:ext uri="{FF2B5EF4-FFF2-40B4-BE49-F238E27FC236}">
                <a16:creationId xmlns:a16="http://schemas.microsoft.com/office/drawing/2014/main" id="{730E9018-54DC-4A61-F5D9-5D0AD5D15E7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a:prstGeom prst="rect">
            <a:avLst/>
          </a:prstGeom>
        </p:spPr>
        <p:txBody>
          <a:bodyPr anchor="b"/>
          <a:lstStyle>
            <a:lvl1pPr>
              <a:lnSpc>
                <a:spcPct val="90000"/>
              </a:lnSpc>
              <a:spcBef>
                <a:spcPts val="0"/>
              </a:spcBef>
              <a:defRPr sz="25200" b="0" i="0">
                <a:solidFill>
                  <a:schemeClr val="accent1"/>
                </a:solidFill>
                <a:latin typeface="IBM Plex Sans Light" panose="020B04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a:prstGeom prst="rect">
            <a:avLst/>
          </a:prstGeom>
        </p:spPr>
        <p:txBody>
          <a:bodyPr anchor="b"/>
          <a:lstStyle>
            <a:lvl1pPr>
              <a:lnSpc>
                <a:spcPct val="90000"/>
              </a:lnSpc>
              <a:spcBef>
                <a:spcPts val="0"/>
              </a:spcBef>
              <a:defRPr sz="25200" b="0" i="0">
                <a:solidFill>
                  <a:schemeClr val="accent1"/>
                </a:solidFill>
                <a:latin typeface="IBM Plex Sans Light" panose="020B0403050203000203" pitchFamily="34" charset="0"/>
              </a:defRPr>
            </a:lvl1pPr>
          </a:lstStyle>
          <a:p>
            <a:r>
              <a:rPr lang="en-US" dirty="0"/>
              <a:t>+00%</a:t>
            </a:r>
          </a:p>
        </p:txBody>
      </p:sp>
      <p:sp>
        <p:nvSpPr>
          <p:cNvPr id="3" name="Slide Number">
            <a:extLst>
              <a:ext uri="{FF2B5EF4-FFF2-40B4-BE49-F238E27FC236}">
                <a16:creationId xmlns:a16="http://schemas.microsoft.com/office/drawing/2014/main" id="{B191294A-8FB2-1AED-B55E-ACCBB8C433CD}"/>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4" name="Footer Placeholder 1">
            <a:extLst>
              <a:ext uri="{FF2B5EF4-FFF2-40B4-BE49-F238E27FC236}">
                <a16:creationId xmlns:a16="http://schemas.microsoft.com/office/drawing/2014/main" id="{9C82803F-01F9-8613-1C96-EE1E64210C19}"/>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a:prstGeom prst="rect">
            <a:avLst/>
          </a:prstGeo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a:prstGeom prst="rect">
            <a:avLst/>
          </a:prstGeo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a:prstGeom prst="rect">
            <a:avLst/>
          </a:prstGeo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a:prstGeom prst="rect">
            <a:avLst/>
          </a:prstGeo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a:prstGeom prst="rect">
            <a:avLst/>
          </a:prstGeo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Slide Number">
            <a:extLst>
              <a:ext uri="{FF2B5EF4-FFF2-40B4-BE49-F238E27FC236}">
                <a16:creationId xmlns:a16="http://schemas.microsoft.com/office/drawing/2014/main" id="{DA5ED394-599A-C022-EC28-6D612CC5C95C}"/>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67B5DE0C-DD98-2256-A7FC-896555FF4193}"/>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a:prstGeom prst="rect">
            <a:avLst/>
          </a:prstGeo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a:prstGeom prst="rect">
            <a:avLst/>
          </a:prstGeo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a:prstGeom prst="rect">
            <a:avLst/>
          </a:prstGeo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a:prstGeom prst="rect">
            <a:avLst/>
          </a:prstGeo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3" name="Slide Number">
            <a:extLst>
              <a:ext uri="{FF2B5EF4-FFF2-40B4-BE49-F238E27FC236}">
                <a16:creationId xmlns:a16="http://schemas.microsoft.com/office/drawing/2014/main" id="{6B1DBC5F-6674-C69F-9CB5-C3AC93B255D9}"/>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1262FEF7-AC75-BB56-6C36-876CE6369DD6}"/>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a:prstGeom prst="rect">
            <a:avLst/>
          </a:prstGeo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a:prstGeom prst="rect">
            <a:avLst/>
          </a:prstGeo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a:prstGeom prst="rect">
            <a:avLst/>
          </a:prstGeo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a:prstGeom prst="rect">
            <a:avLst/>
          </a:prstGeo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a:prstGeom prst="rect">
            <a:avLst/>
          </a:prstGeo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Slide Number">
            <a:extLst>
              <a:ext uri="{FF2B5EF4-FFF2-40B4-BE49-F238E27FC236}">
                <a16:creationId xmlns:a16="http://schemas.microsoft.com/office/drawing/2014/main" id="{DA3120AA-F595-1F70-96CC-877691088EE3}"/>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F41AF9A8-E90B-ADB5-5A9D-78A099B58A09}"/>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Slide Number">
            <a:extLst>
              <a:ext uri="{FF2B5EF4-FFF2-40B4-BE49-F238E27FC236}">
                <a16:creationId xmlns:a16="http://schemas.microsoft.com/office/drawing/2014/main" id="{8AACEB04-9A7D-65B8-EC12-B3544EB0B2A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D1B80A63-44FD-641B-1BDC-0DBF7030CD8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a:prstGeom prst="rect">
            <a:avLst/>
          </a:prstGeo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Slide Number">
            <a:extLst>
              <a:ext uri="{FF2B5EF4-FFF2-40B4-BE49-F238E27FC236}">
                <a16:creationId xmlns:a16="http://schemas.microsoft.com/office/drawing/2014/main" id="{748621C5-4096-A815-ECBF-15614A9AB1E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EA93A5DA-20E9-B9C4-4550-E8FEFDB7A56C}"/>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Slide Number">
            <a:extLst>
              <a:ext uri="{FF2B5EF4-FFF2-40B4-BE49-F238E27FC236}">
                <a16:creationId xmlns:a16="http://schemas.microsoft.com/office/drawing/2014/main" id="{0AD54191-54A4-C3C7-7880-4E2ACC36C6E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E437F8A1-25AF-6719-4E48-1443DC75C41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a:prstGeom prst="rect">
            <a:avLst/>
          </a:prstGeom>
        </p:spPr>
        <p:txBody>
          <a:bodyPr/>
          <a:lstStyle>
            <a:lvl1pPr>
              <a:lnSpc>
                <a:spcPct val="110000"/>
              </a:lnSpc>
              <a:defRPr sz="2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a:prstGeom prst="rect">
            <a:avLst/>
          </a:prstGeo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a:prstGeom prst="rect">
            <a:avLst/>
          </a:prstGeo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a:prstGeom prst="rect">
            <a:avLst/>
          </a:prstGeo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a:prstGeom prst="rect">
            <a:avLst/>
          </a:prstGeo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Slide Number">
            <a:extLst>
              <a:ext uri="{FF2B5EF4-FFF2-40B4-BE49-F238E27FC236}">
                <a16:creationId xmlns:a16="http://schemas.microsoft.com/office/drawing/2014/main" id="{322D4B80-5183-9F01-46A1-C3A96E94E44F}"/>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3" name="Footer Placeholder 1">
            <a:extLst>
              <a:ext uri="{FF2B5EF4-FFF2-40B4-BE49-F238E27FC236}">
                <a16:creationId xmlns:a16="http://schemas.microsoft.com/office/drawing/2014/main" id="{61578515-C7FC-4EE3-B8CC-A785F1C50717}"/>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a:prstGeom prst="rect">
            <a:avLst/>
          </a:prstGeo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a:prstGeom prst="rect">
            <a:avLst/>
          </a:prstGeo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a:prstGeom prst="rect">
            <a:avLst/>
          </a:prstGeo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a:prstGeom prst="rect">
            <a:avLst/>
          </a:prstGeo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0A1F491A-3595-A37D-4364-D681AC54C11A}"/>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28334030-0087-09B7-B336-894858DFD44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a:prstGeom prst="rect">
            <a:avLst/>
          </a:prstGeo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a:prstGeom prst="rect">
            <a:avLst/>
          </a:prstGeo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9562474B-8521-0C57-314B-2439437F27A3}"/>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A8C125E5-C0F3-0781-724E-509E2EC6B7D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a:prstGeom prst="rect">
            <a:avLst/>
          </a:prstGeo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D091E93E-F5AE-088D-295A-B95AC06F11C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CCE69750-0611-1FA2-5C06-1C0D80E71F1F}"/>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a:prstGeom prst="rect">
            <a:avLst/>
          </a:prstGeo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8545E1D9-661E-F397-ACC5-A1EC3D95CEB3}"/>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3653413A-75E7-0754-F850-728E7E440615}"/>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a:prstGeom prst="rect">
            <a:avLst/>
          </a:prstGeo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a:prstGeom prst="rect">
            <a:avLst/>
          </a:prstGeo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a:prstGeom prst="rect">
            <a:avLst/>
          </a:prstGeo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E27C7547-FEE7-F6B7-87B8-122FB4B0779A}"/>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BE1E7E49-74F1-C530-7503-3250767E02B3}"/>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a:prstGeom prst="rect">
            <a:avLst/>
          </a:prstGeom>
        </p:spPr>
        <p:txBody>
          <a:bodyPr rIns="0"/>
          <a:lstStyle>
            <a:lvl1pPr>
              <a:lnSpc>
                <a:spcPct val="110000"/>
              </a:lnSpc>
              <a:defRPr sz="2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a:prstGeom prst="rect">
            <a:avLst/>
          </a:prstGeo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a:prstGeom prst="rect">
            <a:avLst/>
          </a:prstGeo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Slide Number">
            <a:extLst>
              <a:ext uri="{FF2B5EF4-FFF2-40B4-BE49-F238E27FC236}">
                <a16:creationId xmlns:a16="http://schemas.microsoft.com/office/drawing/2014/main" id="{38CBC884-8EA9-3E7E-A924-4FA1DFF5A13B}"/>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7" name="Footer Placeholder 1">
            <a:extLst>
              <a:ext uri="{FF2B5EF4-FFF2-40B4-BE49-F238E27FC236}">
                <a16:creationId xmlns:a16="http://schemas.microsoft.com/office/drawing/2014/main" id="{FD98DCDE-84E3-85B6-5180-1D7ECEC4322E}"/>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a:prstGeom prst="rect">
            <a:avLst/>
          </a:prstGeo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a:prstGeom prst="rect">
            <a:avLst/>
          </a:prstGeo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a:prstGeom prst="rect">
            <a:avLst/>
          </a:prstGeo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a:prstGeom prst="rect">
            <a:avLst/>
          </a:prstGeo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a:prstGeom prst="rect">
            <a:avLst/>
          </a:prstGeo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a:prstGeom prst="rect">
            <a:avLst/>
          </a:prstGeo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DD7331B1-FFD7-1E67-9A6A-89849FAA8014}"/>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3" name="Footer Placeholder 1">
            <a:extLst>
              <a:ext uri="{FF2B5EF4-FFF2-40B4-BE49-F238E27FC236}">
                <a16:creationId xmlns:a16="http://schemas.microsoft.com/office/drawing/2014/main" id="{336BCE48-96E1-B82C-CFF3-7CA1D377F644}"/>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a:prstGeom prst="rect">
            <a:avLst/>
          </a:prstGeo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a:prstGeom prst="rect">
            <a:avLst/>
          </a:prstGeo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a:prstGeom prst="rect">
            <a:avLst/>
          </a:prstGeo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a:prstGeom prst="rect">
            <a:avLst/>
          </a:prstGeo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a:prstGeom prst="rect">
            <a:avLst/>
          </a:prstGeo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Slide Number">
            <a:extLst>
              <a:ext uri="{FF2B5EF4-FFF2-40B4-BE49-F238E27FC236}">
                <a16:creationId xmlns:a16="http://schemas.microsoft.com/office/drawing/2014/main" id="{5DDD5576-E790-0EAE-18A8-09CB537D23A6}"/>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8" name="Footer Placeholder 1">
            <a:extLst>
              <a:ext uri="{FF2B5EF4-FFF2-40B4-BE49-F238E27FC236}">
                <a16:creationId xmlns:a16="http://schemas.microsoft.com/office/drawing/2014/main" id="{63594156-3870-D43A-A31C-3E47F64900FF}"/>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a:prstGeom prst="rect">
            <a:avLst/>
          </a:prstGeo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a:prstGeom prst="rect">
            <a:avLst/>
          </a:prstGeo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43576594-AE76-84B6-F37D-7CCC81C8C31B}"/>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0F9D9731-236A-F1FF-6D77-596C6F7E6F6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a:prstGeom prst="rect">
            <a:avLst/>
          </a:prstGeom>
        </p:spPr>
        <p:txBody>
          <a:bodyPr/>
          <a:lstStyle>
            <a:lvl1pPr>
              <a:defRPr sz="28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a:prstGeom prst="rect">
            <a:avLst/>
          </a:prstGeom>
        </p:spPr>
        <p:txBody>
          <a:bodyPr rIns="457200"/>
          <a:lstStyle>
            <a:lvl1pPr>
              <a:lnSpc>
                <a:spcPct val="110000"/>
              </a:lnSpc>
              <a:defRPr sz="6800">
                <a:solidFill>
                  <a:schemeClr val="tx2"/>
                </a:solidFill>
              </a:defRPr>
            </a:lvl1pPr>
          </a:lstStyle>
          <a:p>
            <a:r>
              <a:rPr lang="en-GB"/>
              <a:t>Click to edit Master title style</a:t>
            </a:r>
            <a:endParaRPr lang="en-US" dirty="0"/>
          </a:p>
        </p:txBody>
      </p:sp>
      <p:sp>
        <p:nvSpPr>
          <p:cNvPr id="2" name="Slide Number">
            <a:extLst>
              <a:ext uri="{FF2B5EF4-FFF2-40B4-BE49-F238E27FC236}">
                <a16:creationId xmlns:a16="http://schemas.microsoft.com/office/drawing/2014/main" id="{EC67B2EF-A25B-4504-EC43-EB91993D16B0}"/>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30825297-B29B-6632-8727-E3F1C7C7EA9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a:prstGeom prst="rect">
            <a:avLst/>
          </a:prstGeom>
        </p:spPr>
        <p:txBody>
          <a:bodyPr/>
          <a:lstStyle>
            <a:lvl1pPr>
              <a:defRPr sz="2800">
                <a:solidFill>
                  <a:schemeClr val="tx2"/>
                </a:solidFill>
              </a:defRPr>
            </a:lvl1pPr>
          </a:lstStyle>
          <a:p>
            <a:pPr lvl="0"/>
            <a:r>
              <a:rPr lang="en-GB"/>
              <a:t>Click to edit Master text styles</a:t>
            </a:r>
          </a:p>
        </p:txBody>
      </p:sp>
      <p:sp>
        <p:nvSpPr>
          <p:cNvPr id="2" name="Slide Number">
            <a:extLst>
              <a:ext uri="{FF2B5EF4-FFF2-40B4-BE49-F238E27FC236}">
                <a16:creationId xmlns:a16="http://schemas.microsoft.com/office/drawing/2014/main" id="{AFAD6067-7758-19CB-AB95-AE4B4B2DC05C}"/>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4" name="Footer Placeholder 1">
            <a:extLst>
              <a:ext uri="{FF2B5EF4-FFF2-40B4-BE49-F238E27FC236}">
                <a16:creationId xmlns:a16="http://schemas.microsoft.com/office/drawing/2014/main" id="{8ED8245D-414F-5F99-DE91-C1AF2E5E4960}"/>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a:prstGeom prst="rect">
            <a:avLst/>
          </a:prstGeo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Slide Number">
            <a:extLst>
              <a:ext uri="{FF2B5EF4-FFF2-40B4-BE49-F238E27FC236}">
                <a16:creationId xmlns:a16="http://schemas.microsoft.com/office/drawing/2014/main" id="{051C7C2B-2ECC-AB45-C960-1DB6FDB88BAA}"/>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0" name="Footer Placeholder 1">
            <a:extLst>
              <a:ext uri="{FF2B5EF4-FFF2-40B4-BE49-F238E27FC236}">
                <a16:creationId xmlns:a16="http://schemas.microsoft.com/office/drawing/2014/main" id="{737BE703-6F6D-574A-80E7-C546759154B8}"/>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a:prstGeom prst="rect">
            <a:avLst/>
          </a:prstGeo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9D4C9995-D663-8119-86A5-947F1AF0632B}"/>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33D41419-8CD2-94A6-D684-66316B9B170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a:prstGeom prst="rect">
            <a:avLst/>
          </a:prstGeo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a:prstGeom prst="rect">
            <a:avLst/>
          </a:prstGeo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a:prstGeom prst="rect">
            <a:avLst/>
          </a:prstGeo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a:prstGeom prst="rect">
            <a:avLst/>
          </a:prstGeo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a:prstGeom prst="rect">
            <a:avLst/>
          </a:prstGeo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a:prstGeom prst="rect">
            <a:avLst/>
          </a:prstGeo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a:prstGeom prst="rect">
            <a:avLst/>
          </a:prstGeo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Slide Number">
            <a:extLst>
              <a:ext uri="{FF2B5EF4-FFF2-40B4-BE49-F238E27FC236}">
                <a16:creationId xmlns:a16="http://schemas.microsoft.com/office/drawing/2014/main" id="{BCEECDBE-75D3-8D9B-45C2-CF9FF871AF75}"/>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5" name="Footer Placeholder 1">
            <a:extLst>
              <a:ext uri="{FF2B5EF4-FFF2-40B4-BE49-F238E27FC236}">
                <a16:creationId xmlns:a16="http://schemas.microsoft.com/office/drawing/2014/main" id="{044D374D-547A-E7AB-0229-8CDCD9A02C4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a:prstGeom prst="rect">
            <a:avLst/>
          </a:prstGeom>
        </p:spPr>
        <p:txBody>
          <a:bodyPr rIns="457200"/>
          <a:lstStyle>
            <a:lvl1pPr>
              <a:lnSpc>
                <a:spcPct val="100000"/>
              </a:lnSpc>
              <a:defRPr sz="68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0AC34FD9-AF83-5DE0-A647-BA3B4E5E528C}"/>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3" name="Footer Placeholder 1">
            <a:extLst>
              <a:ext uri="{FF2B5EF4-FFF2-40B4-BE49-F238E27FC236}">
                <a16:creationId xmlns:a16="http://schemas.microsoft.com/office/drawing/2014/main" id="{83415FA6-8596-6CAE-0372-BECC511E68CD}"/>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a:prstGeom prst="rect">
            <a:avLst/>
          </a:prstGeom>
        </p:spPr>
        <p:txBody>
          <a:bodyPr rIns="0"/>
          <a:lstStyle>
            <a:lvl1pPr>
              <a:lnSpc>
                <a:spcPct val="110000"/>
              </a:lnSpc>
              <a:defRPr sz="36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a:prstGeom prst="rect">
            <a:avLst/>
          </a:prstGeo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25BCA456-D49F-298D-8C9F-47F49AEBE63B}"/>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9" name="Footer Placeholder 1">
            <a:extLst>
              <a:ext uri="{FF2B5EF4-FFF2-40B4-BE49-F238E27FC236}">
                <a16:creationId xmlns:a16="http://schemas.microsoft.com/office/drawing/2014/main" id="{94AA16FE-681C-DAAB-81A5-4616EFF7B5DB}"/>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0"/>
            <a:ext cx="11623675" cy="13716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9" name="Slide Number">
            <a:extLst>
              <a:ext uri="{FF2B5EF4-FFF2-40B4-BE49-F238E27FC236}">
                <a16:creationId xmlns:a16="http://schemas.microsoft.com/office/drawing/2014/main" id="{711A2321-1832-5FB3-4B5E-1F3855BE8032}"/>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10" name="Footer Placeholder 1">
            <a:extLst>
              <a:ext uri="{FF2B5EF4-FFF2-40B4-BE49-F238E27FC236}">
                <a16:creationId xmlns:a16="http://schemas.microsoft.com/office/drawing/2014/main" id="{5AE71227-E0F7-911E-1AB3-6D60EFD43EAC}"/>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3" name="Graphic 2">
            <a:extLst>
              <a:ext uri="{FF2B5EF4-FFF2-40B4-BE49-F238E27FC236}">
                <a16:creationId xmlns:a16="http://schemas.microsoft.com/office/drawing/2014/main" id="{ADFBB6F0-DD7A-34B1-4C08-3653DFD38C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3224836230"/>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4" name="Slide Number">
            <a:extLst>
              <a:ext uri="{FF2B5EF4-FFF2-40B4-BE49-F238E27FC236}">
                <a16:creationId xmlns:a16="http://schemas.microsoft.com/office/drawing/2014/main" id="{8FD1F758-9688-E7AE-AE23-70EC74B6FA82}"/>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8" name="Footer Placeholder 1">
            <a:extLst>
              <a:ext uri="{FF2B5EF4-FFF2-40B4-BE49-F238E27FC236}">
                <a16:creationId xmlns:a16="http://schemas.microsoft.com/office/drawing/2014/main" id="{7FD75C5C-CFB1-DD4C-F772-8F30D96D98E2}"/>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5" name="Graphic 4">
            <a:extLst>
              <a:ext uri="{FF2B5EF4-FFF2-40B4-BE49-F238E27FC236}">
                <a16:creationId xmlns:a16="http://schemas.microsoft.com/office/drawing/2014/main" id="{FB39B2CF-3399-E33B-76E2-C7FCFDD7A7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2830154425"/>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0"/>
            <a:ext cx="17719675" cy="137160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5" name="Slide Number">
            <a:extLst>
              <a:ext uri="{FF2B5EF4-FFF2-40B4-BE49-F238E27FC236}">
                <a16:creationId xmlns:a16="http://schemas.microsoft.com/office/drawing/2014/main" id="{DC2F4F02-38DD-D12A-CAD9-A4555917E8F2}"/>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8" name="Footer Placeholder 1">
            <a:extLst>
              <a:ext uri="{FF2B5EF4-FFF2-40B4-BE49-F238E27FC236}">
                <a16:creationId xmlns:a16="http://schemas.microsoft.com/office/drawing/2014/main" id="{6465D538-D4C7-4D87-26C2-26A45AB54371}"/>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3" name="Graphic 2">
            <a:extLst>
              <a:ext uri="{FF2B5EF4-FFF2-40B4-BE49-F238E27FC236}">
                <a16:creationId xmlns:a16="http://schemas.microsoft.com/office/drawing/2014/main" id="{05A34363-9D85-D751-28B8-DEC76C293D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232776850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5" name="Slide Number">
            <a:extLst>
              <a:ext uri="{FF2B5EF4-FFF2-40B4-BE49-F238E27FC236}">
                <a16:creationId xmlns:a16="http://schemas.microsoft.com/office/drawing/2014/main" id="{F6E03271-BCD1-F279-FBAD-454CBC9F19D9}"/>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bg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F1200AD2-2B77-A945-F551-50D7856D4B03}"/>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bg1"/>
                </a:solidFill>
                <a:latin typeface="IBM Plex Sans" panose="020B0503050203000203" pitchFamily="34" charset="0"/>
              </a:defRPr>
            </a:lvl1pPr>
          </a:lstStyle>
          <a:p>
            <a:pPr>
              <a:defRPr/>
            </a:pPr>
            <a:r>
              <a:rPr lang="en-US">
                <a:latin typeface="IBM Plex Sans" charset="0"/>
                <a:ea typeface="IBM Plex Sans" charset="0"/>
                <a:cs typeface="IBM Plex Sans" charset="0"/>
              </a:rPr>
              <a:t> IBM </a:t>
            </a:r>
            <a:r>
              <a:rPr lang="en-US" b="1">
                <a:ea typeface="IBM Plex Sans" charset="0"/>
                <a:cs typeface="IBM Plex Sans" charset="0"/>
              </a:rPr>
              <a:t>Consulting</a:t>
            </a:r>
            <a:r>
              <a:rPr lang="en-US">
                <a:latin typeface="IBM Plex Sans" charset="0"/>
                <a:ea typeface="IBM Plex Sans" charset="0"/>
                <a:cs typeface="IBM Plex Sans" charset="0"/>
              </a:rPr>
              <a:t> FutureNow</a:t>
            </a:r>
            <a:endParaRPr lang="en-US" dirty="0">
              <a:latin typeface="IBM Plex Sans" charset="0"/>
              <a:ea typeface="IBM Plex Sans" charset="0"/>
              <a:cs typeface="IBM Plex Sans" charset="0"/>
            </a:endParaRPr>
          </a:p>
        </p:txBody>
      </p:sp>
      <p:pic>
        <p:nvPicPr>
          <p:cNvPr id="2" name="Graphic 1">
            <a:extLst>
              <a:ext uri="{FF2B5EF4-FFF2-40B4-BE49-F238E27FC236}">
                <a16:creationId xmlns:a16="http://schemas.microsoft.com/office/drawing/2014/main" id="{1584D0DB-9BEB-B2B8-EAEE-3E19D1631B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406627091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a:prstGeom prst="rect">
            <a:avLst/>
          </a:prstGeo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a:extLst>
              <a:ext uri="{FF2B5EF4-FFF2-40B4-BE49-F238E27FC236}">
                <a16:creationId xmlns:a16="http://schemas.microsoft.com/office/drawing/2014/main" id="{E794E189-1AC0-EF01-8328-6BE9A14787A6}"/>
              </a:ext>
            </a:extLst>
          </p:cNvPr>
          <p:cNvSpPr txBox="1">
            <a:spLocks/>
          </p:cNvSpPr>
          <p:nvPr userDrawn="1"/>
        </p:nvSpPr>
        <p:spPr>
          <a:xfrm>
            <a:off x="588442" y="12951714"/>
            <a:ext cx="270908" cy="246221"/>
          </a:xfrm>
          <a:prstGeom prst="rect">
            <a:avLst/>
          </a:prstGeom>
          <a:ln w="12700">
            <a:miter lim="400000"/>
          </a:ln>
        </p:spPr>
        <p:txBody>
          <a:bodyPr wrap="none" lIns="0" tIns="0" rIns="0" bIns="0" anchor="b" anchorCtr="0">
            <a:spAutoFit/>
          </a:bodyPr>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0C418182-81A7-5D7F-F1E9-F58299B701A6}"/>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a:prstGeom prst="rect">
            <a:avLst/>
          </a:prstGeom>
        </p:spPr>
        <p:txBody>
          <a:bodyPr anchor="ctr"/>
          <a:lstStyle>
            <a:lvl1pPr algn="ctr">
              <a:defRPr>
                <a:solidFill>
                  <a:schemeClr val="tx1"/>
                </a:solidFill>
              </a:defRPr>
            </a:lvl1pPr>
          </a:lstStyle>
          <a:p>
            <a:r>
              <a:rPr lang="en-GB"/>
              <a:t>Click icon to add table</a:t>
            </a:r>
            <a:endParaRPr lang="en-US" dirty="0"/>
          </a:p>
        </p:txBody>
      </p:sp>
      <p:sp>
        <p:nvSpPr>
          <p:cNvPr id="4" name="Slide Number">
            <a:extLst>
              <a:ext uri="{FF2B5EF4-FFF2-40B4-BE49-F238E27FC236}">
                <a16:creationId xmlns:a16="http://schemas.microsoft.com/office/drawing/2014/main" id="{AA0B41FD-149A-7EE1-C5D9-C8C187400ABE}"/>
              </a:ext>
            </a:extLst>
          </p:cNvPr>
          <p:cNvSpPr txBox="1">
            <a:spLocks/>
          </p:cNvSpPr>
          <p:nvPr userDrawn="1"/>
        </p:nvSpPr>
        <p:spPr>
          <a:xfrm>
            <a:off x="588442" y="12951714"/>
            <a:ext cx="270908" cy="246221"/>
          </a:xfrm>
          <a:prstGeom prst="rect">
            <a:avLst/>
          </a:prstGeom>
          <a:ln w="12700">
            <a:miter lim="400000"/>
          </a:ln>
        </p:spPr>
        <p:txBody>
          <a:bodyPr wrap="none" lIns="0" tIns="0" rIns="0" bIns="0" anchor="b" anchorCtr="0">
            <a:spAutoFit/>
          </a:bodyPr>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66742829-C1D0-AAD2-DD70-0056F870A4CE}"/>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a:prstGeom prst="rect">
            <a:avLst/>
          </a:prstGeo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5" name="Slide Number">
            <a:extLst>
              <a:ext uri="{FF2B5EF4-FFF2-40B4-BE49-F238E27FC236}">
                <a16:creationId xmlns:a16="http://schemas.microsoft.com/office/drawing/2014/main" id="{A8066BEB-7C18-6B65-F02F-24BD293D939A}"/>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EC176651-1358-D932-3575-BB18C63442E9}"/>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a:prstGeom prst="rect">
            <a:avLst/>
          </a:prstGeo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a:prstGeom prst="rect">
            <a:avLst/>
          </a:prstGeo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79766761-766B-2645-9A9D-733D0ACE0D89}"/>
              </a:ext>
            </a:extLst>
          </p:cNvPr>
          <p:cNvSpPr txBox="1">
            <a:spLocks/>
          </p:cNvSpPr>
          <p:nvPr userDrawn="1"/>
        </p:nvSpPr>
        <p:spPr>
          <a:xfrm>
            <a:off x="588442" y="12951714"/>
            <a:ext cx="270908" cy="246221"/>
          </a:xfrm>
          <a:prstGeom prst="rect">
            <a:avLst/>
          </a:prstGeom>
          <a:ln w="12700">
            <a:miter lim="400000"/>
          </a:ln>
        </p:spPr>
        <p:txBody>
          <a:bodyPr wrap="none" lIns="0" tIns="0" rIns="0" bIns="0" anchor="b" anchorCtr="0">
            <a:spAutoFit/>
          </a:bodyPr>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170D90A3-1EB4-318A-23BA-DB645E1E95FA}"/>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a:prstGeom prst="rect">
            <a:avLst/>
          </a:prstGeo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a:prstGeom prst="rect">
            <a:avLst/>
          </a:prstGeo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a:prstGeom prst="rect">
            <a:avLst/>
          </a:prstGeo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Slide Number">
            <a:extLst>
              <a:ext uri="{FF2B5EF4-FFF2-40B4-BE49-F238E27FC236}">
                <a16:creationId xmlns:a16="http://schemas.microsoft.com/office/drawing/2014/main" id="{64B62A3A-256D-6307-16B6-13DAFF160096}"/>
              </a:ext>
            </a:extLst>
          </p:cNvPr>
          <p:cNvSpPr txBox="1">
            <a:spLocks/>
          </p:cNvSpPr>
          <p:nvPr userDrawn="1"/>
        </p:nvSpPr>
        <p:spPr>
          <a:xfrm>
            <a:off x="588442" y="12951714"/>
            <a:ext cx="270908" cy="246221"/>
          </a:xfrm>
          <a:prstGeom prst="rect">
            <a:avLst/>
          </a:prstGeom>
          <a:ln w="12700">
            <a:miter lim="400000"/>
          </a:ln>
        </p:spPr>
        <p:txBody>
          <a:bodyPr wrap="none" lIns="0" tIns="0" rIns="0" bIns="0" anchor="b" anchorCtr="0">
            <a:spAutoFit/>
          </a:bodyPr>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ADB75477-5B22-688C-194A-5CE27E1FAD16}"/>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Slide Number">
            <a:extLst>
              <a:ext uri="{FF2B5EF4-FFF2-40B4-BE49-F238E27FC236}">
                <a16:creationId xmlns:a16="http://schemas.microsoft.com/office/drawing/2014/main" id="{81313ED8-D0AD-0C92-EC22-E68E3CBED1E4}"/>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6" name="Footer Placeholder 1">
            <a:extLst>
              <a:ext uri="{FF2B5EF4-FFF2-40B4-BE49-F238E27FC236}">
                <a16:creationId xmlns:a16="http://schemas.microsoft.com/office/drawing/2014/main" id="{029CA51C-7BFE-32F4-CC20-D6738CCC82DD}"/>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a:prstGeom prst="rect">
            <a:avLst/>
          </a:prstGeo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4" name="Slide Number">
            <a:extLst>
              <a:ext uri="{FF2B5EF4-FFF2-40B4-BE49-F238E27FC236}">
                <a16:creationId xmlns:a16="http://schemas.microsoft.com/office/drawing/2014/main" id="{150EB250-DD3A-43CF-A808-047FCD7EDB31}"/>
              </a:ext>
            </a:extLst>
          </p:cNvP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5" name="Footer Placeholder 1">
            <a:extLst>
              <a:ext uri="{FF2B5EF4-FFF2-40B4-BE49-F238E27FC236}">
                <a16:creationId xmlns:a16="http://schemas.microsoft.com/office/drawing/2014/main" id="{6090DD81-D5A5-C84A-A34D-767FFFF35C24}"/>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
        <p:nvSpPr>
          <p:cNvPr id="2" name="Rectangle 1">
            <a:extLst>
              <a:ext uri="{FF2B5EF4-FFF2-40B4-BE49-F238E27FC236}">
                <a16:creationId xmlns:a16="http://schemas.microsoft.com/office/drawing/2014/main" id="{433DE102-B1C6-5AAA-8F4B-8E33CAC5B9CB}"/>
              </a:ext>
            </a:extLst>
          </p:cNvPr>
          <p:cNvSpPr/>
          <p:nvPr userDrawn="1"/>
        </p:nvSpPr>
        <p:spPr bwMode="auto">
          <a:xfrm>
            <a:off x="23017655" y="12076386"/>
            <a:ext cx="1369520" cy="1450428"/>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588442" y="12951714"/>
            <a:ext cx="270908" cy="246221"/>
          </a:xfrm>
          <a:prstGeom prst="rect">
            <a:avLst/>
          </a:prstGeom>
          <a:ln w="12700">
            <a:miter lim="400000"/>
          </a:ln>
        </p:spPr>
        <p:txBody>
          <a:bodyPr wrap="none" lIns="0" tIns="0" rIns="0" bIns="0" anchor="b" anchorCtr="0">
            <a:spAutoFit/>
          </a:bodyPr>
          <a:lstStyle>
            <a:lvl1pPr algn="l">
              <a:defRPr sz="1600" b="0" i="0">
                <a:solidFill>
                  <a:schemeClr val="tx1"/>
                </a:solidFill>
                <a:latin typeface="IBM Plex Sans" panose="020B0503050203000203" pitchFamily="34" charset="0"/>
                <a:ea typeface="+mn-ea"/>
                <a:cs typeface="+mn-cs"/>
                <a:sym typeface="IBM Plex Sans"/>
              </a:defRPr>
            </a:lvl1pPr>
          </a:lstStyle>
          <a:p>
            <a:pPr algn="l"/>
            <a:fld id="{86CB4B4D-7CA3-9044-876B-883B54F8677D}" type="slidenum">
              <a:rPr lang="en-US" smtClean="0"/>
              <a:pPr/>
              <a:t>‹#›</a:t>
            </a:fld>
            <a:endParaRPr lang="en-US" dirty="0"/>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1381091" y="12823285"/>
            <a:ext cx="3385135" cy="381000"/>
          </a:xfrm>
          <a:prstGeom prst="rect">
            <a:avLst/>
          </a:prstGeom>
        </p:spPr>
        <p:txBody>
          <a:bodyPr vert="horz" lIns="0" tIns="0" rIns="0" bIns="0" rtlCol="0" anchor="b"/>
          <a:lstStyle>
            <a:lvl1pPr marL="0" indent="0" algn="l" fontAlgn="auto">
              <a:spcBef>
                <a:spcPts val="0"/>
              </a:spcBef>
              <a:spcAft>
                <a:spcPts val="1200"/>
              </a:spcAft>
              <a:tabLst/>
              <a:defRPr sz="1400" b="0" i="0">
                <a:solidFill>
                  <a:schemeClr val="tx1"/>
                </a:solidFill>
                <a:latin typeface="IBM Plex Sans" panose="020B0503050203000203" pitchFamily="34" charset="0"/>
              </a:defRPr>
            </a:lvl1p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a:t>
            </a:r>
            <a:r>
              <a:rPr lang="en-US" dirty="0" err="1">
                <a:solidFill>
                  <a:srgbClr val="001141"/>
                </a:solidFill>
                <a:latin typeface="IBM Plex Sans" charset="0"/>
                <a:ea typeface="IBM Plex Sans" charset="0"/>
                <a:cs typeface="IBM Plex Sans" charset="0"/>
              </a:rPr>
              <a:t>FutureNow</a:t>
            </a:r>
            <a:endParaRPr lang="en-US" sz="1400" dirty="0">
              <a:solidFill>
                <a:srgbClr val="001141"/>
              </a:solidFill>
              <a:latin typeface="IBM Plex Sans" charset="0"/>
              <a:ea typeface="IBM Plex Sans" charset="0"/>
              <a:cs typeface="IBM Plex Sans" charset="0"/>
            </a:endParaRPr>
          </a:p>
        </p:txBody>
      </p:sp>
      <p:pic>
        <p:nvPicPr>
          <p:cNvPr id="7" name="Graphic 6">
            <a:extLst>
              <a:ext uri="{FF2B5EF4-FFF2-40B4-BE49-F238E27FC236}">
                <a16:creationId xmlns:a16="http://schemas.microsoft.com/office/drawing/2014/main" id="{495CB728-5BCB-6E04-FDA3-F5C4389876C2}"/>
              </a:ext>
            </a:extLst>
          </p:cNvPr>
          <p:cNvPicPr>
            <a:picLocks noChangeAspect="1"/>
          </p:cNvPicPr>
          <p:nvPr userDrawn="1"/>
        </p:nvPicPr>
        <p:blipFill>
          <a:blip>
            <a:extLst>
              <a:ext uri="{96DAC541-7B7A-43D3-8B79-37D633B846F1}">
                <asvg:svgBlip xmlns:asvg="http://schemas.microsoft.com/office/drawing/2016/SVG/main" r:embed="rId46"/>
              </a:ext>
            </a:extLst>
          </a:blip>
          <a:stretch>
            <a:fillRect/>
          </a:stretch>
        </p:blipFill>
        <p:spPr>
          <a:xfrm>
            <a:off x="23393637" y="12131754"/>
            <a:ext cx="411448" cy="1019095"/>
          </a:xfrm>
          <a:prstGeom prst="rect">
            <a:avLst/>
          </a:prstGeom>
        </p:spPr>
      </p:pic>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04" r:id="rId1"/>
    <p:sldLayoutId id="2147483906" r:id="rId2"/>
    <p:sldLayoutId id="2147483901" r:id="rId3"/>
    <p:sldLayoutId id="2147483692" r:id="rId4"/>
    <p:sldLayoutId id="2147483907" r:id="rId5"/>
    <p:sldLayoutId id="2147483908" r:id="rId6"/>
    <p:sldLayoutId id="2147483909" r:id="rId7"/>
    <p:sldLayoutId id="2147483912" r:id="rId8"/>
    <p:sldLayoutId id="2147483914" r:id="rId9"/>
    <p:sldLayoutId id="2147483915" r:id="rId10"/>
    <p:sldLayoutId id="2147483913" r:id="rId11"/>
    <p:sldLayoutId id="2147483917" r:id="rId12"/>
    <p:sldLayoutId id="2147483942" r:id="rId13"/>
    <p:sldLayoutId id="2147483919" r:id="rId14"/>
    <p:sldLayoutId id="2147483929" r:id="rId15"/>
    <p:sldLayoutId id="2147483920" r:id="rId16"/>
    <p:sldLayoutId id="2147483930" r:id="rId17"/>
    <p:sldLayoutId id="2147483928" r:id="rId18"/>
    <p:sldLayoutId id="2147483948" r:id="rId19"/>
    <p:sldLayoutId id="2147483927" r:id="rId20"/>
    <p:sldLayoutId id="2147483950" r:id="rId21"/>
    <p:sldLayoutId id="2147483921" r:id="rId22"/>
    <p:sldLayoutId id="2147483916" r:id="rId23"/>
    <p:sldLayoutId id="2147483922" r:id="rId24"/>
    <p:sldLayoutId id="2147483965" r:id="rId25"/>
    <p:sldLayoutId id="2147483956" r:id="rId26"/>
    <p:sldLayoutId id="2147483923" r:id="rId27"/>
    <p:sldLayoutId id="2147483924" r:id="rId28"/>
    <p:sldLayoutId id="2147483926" r:id="rId29"/>
    <p:sldLayoutId id="2147483925" r:id="rId30"/>
    <p:sldLayoutId id="2147483959" r:id="rId31"/>
    <p:sldLayoutId id="2147483937" r:id="rId32"/>
    <p:sldLayoutId id="2147483932" r:id="rId33"/>
    <p:sldLayoutId id="2147483934" r:id="rId34"/>
    <p:sldLayoutId id="2147483935" r:id="rId35"/>
    <p:sldLayoutId id="2147483936" r:id="rId36"/>
    <p:sldLayoutId id="2147483938" r:id="rId37"/>
    <p:sldLayoutId id="2147483939" r:id="rId38"/>
    <p:sldLayoutId id="2147483964" r:id="rId39"/>
    <p:sldLayoutId id="2147483940" r:id="rId40"/>
    <p:sldLayoutId id="2147483960" r:id="rId41"/>
    <p:sldLayoutId id="2147483943" r:id="rId42"/>
    <p:sldLayoutId id="2147483963" r:id="rId43"/>
    <p:sldLayoutId id="2147483941" r:id="rId44"/>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hyperlink" Target="https://w3.ibm.com/w3publisher/data-governance-standards/enterprise-data-governance#WRM_Essential_information_categorie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hyperlink" Target="https://w3.ibm.com/w3publisher/integrated-operations-publisher" TargetMode="Externa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8.png"/><Relationship Id="rId5" Type="http://schemas.openxmlformats.org/officeDocument/2006/relationships/hyperlink" Target="mailto:cic.ph.delivery.operations@ibm.com"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6E66F79-B11A-C754-4AE4-0C8E39F5DA55}"/>
              </a:ext>
            </a:extLst>
          </p:cNvPr>
          <p:cNvPicPr>
            <a:picLocks noChangeAspect="1"/>
          </p:cNvPicPr>
          <p:nvPr/>
        </p:nvPicPr>
        <p:blipFill>
          <a:blip r:embed="rId3"/>
          <a:stretch>
            <a:fillRect/>
          </a:stretch>
        </p:blipFill>
        <p:spPr>
          <a:xfrm>
            <a:off x="1587" y="0"/>
            <a:ext cx="24384000" cy="13716000"/>
          </a:xfrm>
          <a:prstGeom prst="rect">
            <a:avLst/>
          </a:prstGeom>
        </p:spPr>
      </p:pic>
      <p:sp>
        <p:nvSpPr>
          <p:cNvPr id="2" name="Title 1">
            <a:extLst>
              <a:ext uri="{FF2B5EF4-FFF2-40B4-BE49-F238E27FC236}">
                <a16:creationId xmlns:a16="http://schemas.microsoft.com/office/drawing/2014/main" id="{5AB738CC-3118-1EAD-4DE6-F54AC9BF84E5}"/>
              </a:ext>
            </a:extLst>
          </p:cNvPr>
          <p:cNvSpPr>
            <a:spLocks noGrp="1"/>
          </p:cNvSpPr>
          <p:nvPr>
            <p:ph type="title" idx="4294967295"/>
          </p:nvPr>
        </p:nvSpPr>
        <p:spPr>
          <a:xfrm>
            <a:off x="6550770" y="7483815"/>
            <a:ext cx="10101072" cy="4247268"/>
          </a:xfrm>
          <a:prstGeom prst="rect">
            <a:avLst/>
          </a:prstGeom>
        </p:spPr>
        <p:txBody>
          <a:bodyPr/>
          <a:lstStyle/>
          <a:p>
            <a:r>
              <a:rPr lang="en-US" dirty="0">
                <a:solidFill>
                  <a:srgbClr val="002D9C"/>
                </a:solidFill>
              </a:rPr>
              <a:t>Records Management Policy and Process Training</a:t>
            </a:r>
            <a:br>
              <a:rPr lang="en-US" dirty="0">
                <a:solidFill>
                  <a:srgbClr val="002D9C"/>
                </a:solidFill>
              </a:rPr>
            </a:br>
            <a:br>
              <a:rPr lang="en-US" sz="2800" dirty="0">
                <a:solidFill>
                  <a:srgbClr val="002D9C"/>
                </a:solidFill>
              </a:rPr>
            </a:br>
            <a:r>
              <a:rPr lang="en-US" sz="2800" dirty="0">
                <a:solidFill>
                  <a:srgbClr val="002D9C"/>
                </a:solidFill>
              </a:rPr>
              <a:t>Quality Management System Team</a:t>
            </a:r>
            <a:endParaRPr lang="en-US" dirty="0">
              <a:solidFill>
                <a:srgbClr val="002D9C"/>
              </a:solidFill>
            </a:endParaRPr>
          </a:p>
        </p:txBody>
      </p:sp>
      <p:sp>
        <p:nvSpPr>
          <p:cNvPr id="3" name="TextBox 2">
            <a:extLst>
              <a:ext uri="{FF2B5EF4-FFF2-40B4-BE49-F238E27FC236}">
                <a16:creationId xmlns:a16="http://schemas.microsoft.com/office/drawing/2014/main" id="{2BDA89EC-39B0-97B0-F0E5-36387DAF82DE}"/>
              </a:ext>
            </a:extLst>
          </p:cNvPr>
          <p:cNvSpPr txBox="1"/>
          <p:nvPr/>
        </p:nvSpPr>
        <p:spPr>
          <a:xfrm>
            <a:off x="22647729" y="1275261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TextBox 3">
            <a:extLst>
              <a:ext uri="{FF2B5EF4-FFF2-40B4-BE49-F238E27FC236}">
                <a16:creationId xmlns:a16="http://schemas.microsoft.com/office/drawing/2014/main" id="{5E102734-B6D9-943C-617F-04AB8BB1EA6E}"/>
              </a:ext>
            </a:extLst>
          </p:cNvPr>
          <p:cNvSpPr txBox="1"/>
          <p:nvPr/>
        </p:nvSpPr>
        <p:spPr>
          <a:xfrm>
            <a:off x="25194986" y="1147898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23315734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04E419-A9DD-17E7-5C1B-A03F8A7F4B37}"/>
              </a:ext>
            </a:extLst>
          </p:cNvPr>
          <p:cNvSpPr>
            <a:spLocks noGrp="1"/>
          </p:cNvSpPr>
          <p:nvPr>
            <p:ph type="sldNum" sz="quarter" idx="2"/>
          </p:nvPr>
        </p:nvSpPr>
        <p:spPr/>
        <p:txBody>
          <a:bodyPr/>
          <a:lstStyle/>
          <a:p>
            <a:pPr algn="l"/>
            <a:fld id="{86CB4B4D-7CA3-9044-876B-883B54F8677D}" type="slidenum">
              <a:rPr lang="en-US" smtClean="0"/>
              <a:pPr algn="l"/>
              <a:t>2</a:t>
            </a:fld>
            <a:endParaRPr lang="en-US" dirty="0"/>
          </a:p>
        </p:txBody>
      </p:sp>
      <p:sp>
        <p:nvSpPr>
          <p:cNvPr id="5" name="Footer Placeholder 4">
            <a:extLst>
              <a:ext uri="{FF2B5EF4-FFF2-40B4-BE49-F238E27FC236}">
                <a16:creationId xmlns:a16="http://schemas.microsoft.com/office/drawing/2014/main" id="{76457276-8678-FB4C-16D8-DE3C7F937C18}"/>
              </a:ext>
            </a:extLst>
          </p:cNvPr>
          <p:cNvSpPr>
            <a:spLocks noGrp="1"/>
          </p:cNvSpPr>
          <p:nvPr>
            <p:ph type="ftr" sz="quarter" idx="3"/>
          </p:nvPr>
        </p:nvSpPr>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8" name="Title 1">
            <a:extLst>
              <a:ext uri="{FF2B5EF4-FFF2-40B4-BE49-F238E27FC236}">
                <a16:creationId xmlns:a16="http://schemas.microsoft.com/office/drawing/2014/main" id="{A93EBBF1-7621-E016-F222-3E34DD067591}"/>
              </a:ext>
            </a:extLst>
          </p:cNvPr>
          <p:cNvSpPr txBox="1">
            <a:spLocks/>
          </p:cNvSpPr>
          <p:nvPr/>
        </p:nvSpPr>
        <p:spPr>
          <a:xfrm>
            <a:off x="576000" y="384049"/>
            <a:ext cx="9909175" cy="1182948"/>
          </a:xfrm>
          <a:prstGeom prst="rect">
            <a:avLst/>
          </a:prstGeom>
        </p:spPr>
        <p:txBody>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t>Reminders</a:t>
            </a:r>
          </a:p>
        </p:txBody>
      </p:sp>
      <p:sp>
        <p:nvSpPr>
          <p:cNvPr id="7" name="Text Placeholder 2">
            <a:extLst>
              <a:ext uri="{FF2B5EF4-FFF2-40B4-BE49-F238E27FC236}">
                <a16:creationId xmlns:a16="http://schemas.microsoft.com/office/drawing/2014/main" id="{DF7AA92C-4A42-ADDD-BA64-ACE13F3F5A74}"/>
              </a:ext>
            </a:extLst>
          </p:cNvPr>
          <p:cNvSpPr>
            <a:spLocks noGrp="1"/>
          </p:cNvSpPr>
          <p:nvPr>
            <p:ph type="body" sz="quarter" idx="10"/>
          </p:nvPr>
        </p:nvSpPr>
        <p:spPr>
          <a:xfrm>
            <a:off x="5165686" y="7226531"/>
            <a:ext cx="14055797" cy="4725981"/>
          </a:xfrm>
        </p:spPr>
        <p:txBody>
          <a:bodyPr/>
          <a:lstStyle/>
          <a:p>
            <a:r>
              <a:rPr lang="en-US" sz="3600" dirty="0">
                <a:latin typeface="IBM Plex Sans" panose="020B0503050203000203" pitchFamily="34" charset="0"/>
              </a:rPr>
              <a:t>Required to complete all sections below to earn Think 40 credits :</a:t>
            </a:r>
          </a:p>
          <a:p>
            <a:endParaRPr lang="en-US" sz="3600" dirty="0">
              <a:latin typeface="IBM Plex Sans" panose="020B0503050203000203" pitchFamily="34" charset="0"/>
            </a:endParaRPr>
          </a:p>
          <a:p>
            <a:pPr marL="1156716" lvl="1" indent="-571500">
              <a:buFont typeface="Wingdings" panose="05000000000000000000" pitchFamily="2" charset="2"/>
              <a:buChar char="q"/>
            </a:pPr>
            <a:r>
              <a:rPr lang="en-US" sz="3600" dirty="0">
                <a:latin typeface="IBM Plex Sans" panose="020B0503050203000203" pitchFamily="34" charset="0"/>
              </a:rPr>
              <a:t>Section 1: Records Management Policy Training</a:t>
            </a:r>
          </a:p>
          <a:p>
            <a:pPr marL="1156716" lvl="1" indent="-571500">
              <a:buFont typeface="Wingdings" panose="05000000000000000000" pitchFamily="2" charset="2"/>
              <a:buChar char="q"/>
            </a:pPr>
            <a:r>
              <a:rPr lang="en-US" sz="3600" dirty="0">
                <a:latin typeface="IBM Plex Sans" panose="020B0503050203000203" pitchFamily="34" charset="0"/>
              </a:rPr>
              <a:t>Section 2: Records Management Process Training</a:t>
            </a:r>
          </a:p>
          <a:p>
            <a:pPr marL="1156716" lvl="1" indent="-571500">
              <a:buFont typeface="Wingdings" panose="05000000000000000000" pitchFamily="2" charset="2"/>
              <a:buChar char="q"/>
            </a:pPr>
            <a:r>
              <a:rPr lang="en-US" sz="3600" dirty="0">
                <a:latin typeface="IBM Plex Sans" panose="020B0503050203000203" pitchFamily="34" charset="0"/>
              </a:rPr>
              <a:t>Section 3: Assessment (target passing rate: 85%)</a:t>
            </a:r>
          </a:p>
          <a:p>
            <a:pPr marL="571500" indent="-571500">
              <a:buFont typeface="Wingdings" panose="05000000000000000000" pitchFamily="2" charset="2"/>
              <a:buChar char="q"/>
            </a:pPr>
            <a:endParaRPr lang="en-US" sz="3600" dirty="0"/>
          </a:p>
          <a:p>
            <a:pPr marL="571500" indent="-571500">
              <a:buFont typeface="Wingdings" panose="05000000000000000000" pitchFamily="2" charset="2"/>
              <a:buChar char="q"/>
            </a:pPr>
            <a:endParaRPr lang="en-US" sz="3600" dirty="0"/>
          </a:p>
        </p:txBody>
      </p:sp>
      <p:pic>
        <p:nvPicPr>
          <p:cNvPr id="3" name="Picture 2">
            <a:extLst>
              <a:ext uri="{FF2B5EF4-FFF2-40B4-BE49-F238E27FC236}">
                <a16:creationId xmlns:a16="http://schemas.microsoft.com/office/drawing/2014/main" id="{9BD980A5-2BE6-F8D8-A9EB-0486551AED49}"/>
              </a:ext>
            </a:extLst>
          </p:cNvPr>
          <p:cNvPicPr>
            <a:picLocks noChangeAspect="1"/>
          </p:cNvPicPr>
          <p:nvPr/>
        </p:nvPicPr>
        <p:blipFill>
          <a:blip r:embed="rId3"/>
          <a:stretch>
            <a:fillRect/>
          </a:stretch>
        </p:blipFill>
        <p:spPr>
          <a:xfrm>
            <a:off x="4652636" y="2022746"/>
            <a:ext cx="15081899" cy="3263102"/>
          </a:xfrm>
          <a:prstGeom prst="rect">
            <a:avLst/>
          </a:prstGeom>
        </p:spPr>
      </p:pic>
      <p:sp>
        <p:nvSpPr>
          <p:cNvPr id="6" name="TextBox 5">
            <a:extLst>
              <a:ext uri="{FF2B5EF4-FFF2-40B4-BE49-F238E27FC236}">
                <a16:creationId xmlns:a16="http://schemas.microsoft.com/office/drawing/2014/main" id="{D911EC5A-FDF9-8A9F-C8C7-60BDAAF1731F}"/>
              </a:ext>
            </a:extLst>
          </p:cNvPr>
          <p:cNvSpPr txBox="1"/>
          <p:nvPr/>
        </p:nvSpPr>
        <p:spPr>
          <a:xfrm>
            <a:off x="9706990" y="5786723"/>
            <a:ext cx="4973188"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2438400">
              <a:spcBef>
                <a:spcPts val="2900"/>
              </a:spcBef>
              <a:buSzPct val="100000"/>
            </a:pPr>
            <a:r>
              <a:rPr lang="en-PH" sz="2400" dirty="0"/>
              <a:t>Learning ID PLAN-47B0DC7C6874</a:t>
            </a:r>
            <a:endParaRPr lang="en-PH" sz="2400"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15001411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Blue 10 half slide background">
            <a:extLst>
              <a:ext uri="{FF2B5EF4-FFF2-40B4-BE49-F238E27FC236}">
                <a16:creationId xmlns:a16="http://schemas.microsoft.com/office/drawing/2014/main" id="{46CA25F9-DFD4-0FE4-B5DA-06469B277E37}"/>
              </a:ext>
            </a:extLst>
          </p:cNvPr>
          <p:cNvSpPr/>
          <p:nvPr/>
        </p:nvSpPr>
        <p:spPr bwMode="auto">
          <a:xfrm>
            <a:off x="0" y="0"/>
            <a:ext cx="6096000" cy="13716000"/>
          </a:xfrm>
          <a:prstGeom prst="rect">
            <a:avLst/>
          </a:prstGeom>
          <a:solidFill>
            <a:srgbClr val="D0E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276976-2BA6-35F5-A03B-6D1D6B3BDBEC}"/>
              </a:ext>
            </a:extLst>
          </p:cNvPr>
          <p:cNvSpPr>
            <a:spLocks noGrp="1"/>
          </p:cNvSpPr>
          <p:nvPr>
            <p:ph type="title"/>
          </p:nvPr>
        </p:nvSpPr>
        <p:spPr>
          <a:xfrm>
            <a:off x="576000" y="576072"/>
            <a:ext cx="4942078" cy="3995927"/>
          </a:xfrm>
        </p:spPr>
        <p:txBody>
          <a:bodyPr/>
          <a:lstStyle/>
          <a:p>
            <a:r>
              <a:rPr lang="en-US" sz="5400" dirty="0"/>
              <a:t>Training Objectives</a:t>
            </a:r>
          </a:p>
        </p:txBody>
      </p:sp>
      <p:sp>
        <p:nvSpPr>
          <p:cNvPr id="3" name="Text Placeholder 2">
            <a:extLst>
              <a:ext uri="{FF2B5EF4-FFF2-40B4-BE49-F238E27FC236}">
                <a16:creationId xmlns:a16="http://schemas.microsoft.com/office/drawing/2014/main" id="{BDE8A1B8-5B05-553C-D904-F7959C00A16E}"/>
              </a:ext>
            </a:extLst>
          </p:cNvPr>
          <p:cNvSpPr>
            <a:spLocks noGrp="1"/>
          </p:cNvSpPr>
          <p:nvPr>
            <p:ph type="body" sz="quarter" idx="11"/>
          </p:nvPr>
        </p:nvSpPr>
        <p:spPr>
          <a:xfrm>
            <a:off x="12786612" y="3988273"/>
            <a:ext cx="4953000" cy="3995999"/>
          </a:xfrm>
        </p:spPr>
        <p:txBody>
          <a:bodyPr/>
          <a:lstStyle/>
          <a:p>
            <a:r>
              <a:rPr lang="en-US" sz="8000" dirty="0">
                <a:solidFill>
                  <a:schemeClr val="accent1"/>
                </a:solidFill>
              </a:rPr>
              <a:t>2</a:t>
            </a:r>
          </a:p>
          <a:p>
            <a:r>
              <a:rPr lang="en-US" dirty="0"/>
              <a:t>Learn about the roles and responsibilities in managing records.</a:t>
            </a:r>
          </a:p>
        </p:txBody>
      </p:sp>
      <p:sp>
        <p:nvSpPr>
          <p:cNvPr id="4" name="Text Placeholder 3">
            <a:extLst>
              <a:ext uri="{FF2B5EF4-FFF2-40B4-BE49-F238E27FC236}">
                <a16:creationId xmlns:a16="http://schemas.microsoft.com/office/drawing/2014/main" id="{AC97D2C3-481B-FC7A-BBA0-DA0DBDB5A70A}"/>
              </a:ext>
            </a:extLst>
          </p:cNvPr>
          <p:cNvSpPr>
            <a:spLocks noGrp="1"/>
          </p:cNvSpPr>
          <p:nvPr>
            <p:ph type="body" sz="quarter" idx="12"/>
          </p:nvPr>
        </p:nvSpPr>
        <p:spPr>
          <a:xfrm>
            <a:off x="18850626" y="3988273"/>
            <a:ext cx="4941888" cy="3995999"/>
          </a:xfrm>
        </p:spPr>
        <p:txBody>
          <a:bodyPr/>
          <a:lstStyle/>
          <a:p>
            <a:r>
              <a:rPr lang="en-US" sz="8000" dirty="0">
                <a:solidFill>
                  <a:schemeClr val="accent1"/>
                </a:solidFill>
              </a:rPr>
              <a:t>3</a:t>
            </a:r>
          </a:p>
          <a:p>
            <a:r>
              <a:rPr lang="en-US" dirty="0"/>
              <a:t>Familiarize with the records management tools and templates.</a:t>
            </a:r>
          </a:p>
        </p:txBody>
      </p:sp>
      <p:sp>
        <p:nvSpPr>
          <p:cNvPr id="8" name="Slide Number Placeholder 4">
            <a:extLst>
              <a:ext uri="{FF2B5EF4-FFF2-40B4-BE49-F238E27FC236}">
                <a16:creationId xmlns:a16="http://schemas.microsoft.com/office/drawing/2014/main" id="{0FC07F7F-D64F-BF4E-84BB-D2EF94E5C641}"/>
              </a:ext>
            </a:extLst>
          </p:cNvPr>
          <p:cNvSpPr>
            <a:spLocks noGrp="1"/>
          </p:cNvSpPr>
          <p:nvPr>
            <p:ph type="sldNum" sz="quarter" idx="2"/>
          </p:nvPr>
        </p:nvSpPr>
        <p:spPr>
          <a:xfrm>
            <a:off x="588442" y="12951714"/>
            <a:ext cx="270908" cy="246221"/>
          </a:xfrm>
        </p:spPr>
        <p:txBody>
          <a:bodyPr/>
          <a:lstStyle/>
          <a:p>
            <a:pPr algn="l"/>
            <a:fld id="{86CB4B4D-7CA3-9044-876B-883B54F8677D}" type="slidenum">
              <a:rPr lang="en-US" smtClean="0"/>
              <a:pPr algn="l"/>
              <a:t>3</a:t>
            </a:fld>
            <a:endParaRPr lang="en-US" dirty="0"/>
          </a:p>
        </p:txBody>
      </p:sp>
      <p:sp>
        <p:nvSpPr>
          <p:cNvPr id="9" name="Footer Placeholder 5">
            <a:extLst>
              <a:ext uri="{FF2B5EF4-FFF2-40B4-BE49-F238E27FC236}">
                <a16:creationId xmlns:a16="http://schemas.microsoft.com/office/drawing/2014/main" id="{0A2B7453-B8E1-5B60-36EB-FBA6A3E9EE41}"/>
              </a:ext>
            </a:extLst>
          </p:cNvPr>
          <p:cNvSpPr>
            <a:spLocks noGrp="1"/>
          </p:cNvSpPr>
          <p:nvPr>
            <p:ph type="ftr" sz="quarter" idx="3"/>
          </p:nvPr>
        </p:nvSpPr>
        <p:spPr>
          <a:xfrm>
            <a:off x="1381091" y="12823285"/>
            <a:ext cx="3385135" cy="381000"/>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6" name="Text Placeholder 2">
            <a:extLst>
              <a:ext uri="{FF2B5EF4-FFF2-40B4-BE49-F238E27FC236}">
                <a16:creationId xmlns:a16="http://schemas.microsoft.com/office/drawing/2014/main" id="{E14A7531-CF99-DB2F-38F7-786E1A053F66}"/>
              </a:ext>
            </a:extLst>
          </p:cNvPr>
          <p:cNvSpPr txBox="1">
            <a:spLocks/>
          </p:cNvSpPr>
          <p:nvPr/>
        </p:nvSpPr>
        <p:spPr>
          <a:xfrm>
            <a:off x="6968112" y="3988345"/>
            <a:ext cx="4953000" cy="399592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8000" kern="0" dirty="0">
                <a:solidFill>
                  <a:schemeClr val="accent1"/>
                </a:solidFill>
              </a:rPr>
              <a:t>1</a:t>
            </a:r>
          </a:p>
          <a:p>
            <a:r>
              <a:rPr lang="en-US" kern="0" dirty="0"/>
              <a:t>Gain understanding on IBM records classification, storage, retrieval and disposal policies.</a:t>
            </a:r>
          </a:p>
        </p:txBody>
      </p:sp>
    </p:spTree>
    <p:extLst>
      <p:ext uri="{BB962C8B-B14F-4D97-AF65-F5344CB8AC3E}">
        <p14:creationId xmlns:p14="http://schemas.microsoft.com/office/powerpoint/2010/main" val="189162644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7F8C3-659B-EE6B-68F9-DDF3C4553AB0}"/>
            </a:ext>
          </a:extLst>
        </p:cNvPr>
        <p:cNvGrpSpPr/>
        <p:nvPr/>
      </p:nvGrpSpPr>
      <p:grpSpPr>
        <a:xfrm>
          <a:off x="0" y="0"/>
          <a:ext cx="0" cy="0"/>
          <a:chOff x="0" y="0"/>
          <a:chExt cx="0" cy="0"/>
        </a:xfrm>
      </p:grpSpPr>
      <p:sp>
        <p:nvSpPr>
          <p:cNvPr id="5" name="Rectangle 4" descr="Blue 10 half slide background">
            <a:extLst>
              <a:ext uri="{FF2B5EF4-FFF2-40B4-BE49-F238E27FC236}">
                <a16:creationId xmlns:a16="http://schemas.microsoft.com/office/drawing/2014/main" id="{69A7B2FB-6814-31D1-9939-87F19AC3C5F7}"/>
              </a:ext>
            </a:extLst>
          </p:cNvPr>
          <p:cNvSpPr/>
          <p:nvPr/>
        </p:nvSpPr>
        <p:spPr bwMode="auto">
          <a:xfrm>
            <a:off x="0" y="0"/>
            <a:ext cx="6096000" cy="13716000"/>
          </a:xfrm>
          <a:prstGeom prst="rect">
            <a:avLst/>
          </a:prstGeom>
          <a:solidFill>
            <a:srgbClr val="D0E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E6110AE2-A902-15AA-65C2-7A821BD7BE55}"/>
              </a:ext>
            </a:extLst>
          </p:cNvPr>
          <p:cNvSpPr>
            <a:spLocks noGrp="1"/>
          </p:cNvSpPr>
          <p:nvPr>
            <p:ph type="title"/>
          </p:nvPr>
        </p:nvSpPr>
        <p:spPr>
          <a:xfrm>
            <a:off x="576000" y="576072"/>
            <a:ext cx="4942078" cy="3995927"/>
          </a:xfrm>
        </p:spPr>
        <p:txBody>
          <a:bodyPr/>
          <a:lstStyle/>
          <a:p>
            <a:r>
              <a:rPr lang="en-US" sz="5400" dirty="0"/>
              <a:t>Records Management Objectives</a:t>
            </a:r>
          </a:p>
        </p:txBody>
      </p:sp>
      <p:sp>
        <p:nvSpPr>
          <p:cNvPr id="3" name="Text Placeholder 2">
            <a:extLst>
              <a:ext uri="{FF2B5EF4-FFF2-40B4-BE49-F238E27FC236}">
                <a16:creationId xmlns:a16="http://schemas.microsoft.com/office/drawing/2014/main" id="{545286BF-EE03-05ED-B930-F4388DD7540A}"/>
              </a:ext>
            </a:extLst>
          </p:cNvPr>
          <p:cNvSpPr>
            <a:spLocks noGrp="1"/>
          </p:cNvSpPr>
          <p:nvPr>
            <p:ph type="body" sz="quarter" idx="11"/>
          </p:nvPr>
        </p:nvSpPr>
        <p:spPr>
          <a:xfrm>
            <a:off x="9453058" y="4012460"/>
            <a:ext cx="4953000" cy="3995999"/>
          </a:xfrm>
        </p:spPr>
        <p:txBody>
          <a:bodyPr/>
          <a:lstStyle/>
          <a:p>
            <a:r>
              <a:rPr lang="en-US" dirty="0"/>
              <a:t>Ensure that records are identified and classified accordingly.</a:t>
            </a:r>
          </a:p>
        </p:txBody>
      </p:sp>
      <p:sp>
        <p:nvSpPr>
          <p:cNvPr id="4" name="Text Placeholder 3">
            <a:extLst>
              <a:ext uri="{FF2B5EF4-FFF2-40B4-BE49-F238E27FC236}">
                <a16:creationId xmlns:a16="http://schemas.microsoft.com/office/drawing/2014/main" id="{E87D3E61-A329-275D-1B73-767FDDF6E7AD}"/>
              </a:ext>
            </a:extLst>
          </p:cNvPr>
          <p:cNvSpPr>
            <a:spLocks noGrp="1"/>
          </p:cNvSpPr>
          <p:nvPr>
            <p:ph type="body" sz="quarter" idx="12"/>
          </p:nvPr>
        </p:nvSpPr>
        <p:spPr>
          <a:xfrm>
            <a:off x="15512003" y="4012532"/>
            <a:ext cx="4941888" cy="3995999"/>
          </a:xfrm>
        </p:spPr>
        <p:txBody>
          <a:bodyPr/>
          <a:lstStyle/>
          <a:p>
            <a:r>
              <a:rPr lang="en-US" dirty="0"/>
              <a:t>Ensure that records are stored in appropriate media and storage facilities.</a:t>
            </a:r>
          </a:p>
        </p:txBody>
      </p:sp>
      <p:sp>
        <p:nvSpPr>
          <p:cNvPr id="8" name="Slide Number Placeholder 4">
            <a:extLst>
              <a:ext uri="{FF2B5EF4-FFF2-40B4-BE49-F238E27FC236}">
                <a16:creationId xmlns:a16="http://schemas.microsoft.com/office/drawing/2014/main" id="{A8728135-61B3-20D9-67AF-E4451D5457DD}"/>
              </a:ext>
            </a:extLst>
          </p:cNvPr>
          <p:cNvSpPr>
            <a:spLocks noGrp="1"/>
          </p:cNvSpPr>
          <p:nvPr>
            <p:ph type="sldNum" sz="quarter" idx="2"/>
          </p:nvPr>
        </p:nvSpPr>
        <p:spPr>
          <a:xfrm>
            <a:off x="588442" y="12951714"/>
            <a:ext cx="270908" cy="246221"/>
          </a:xfrm>
        </p:spPr>
        <p:txBody>
          <a:bodyPr/>
          <a:lstStyle/>
          <a:p>
            <a:pPr algn="l"/>
            <a:fld id="{86CB4B4D-7CA3-9044-876B-883B54F8677D}" type="slidenum">
              <a:rPr lang="en-US" smtClean="0"/>
              <a:pPr algn="l"/>
              <a:t>4</a:t>
            </a:fld>
            <a:endParaRPr lang="en-US" dirty="0"/>
          </a:p>
        </p:txBody>
      </p:sp>
      <p:sp>
        <p:nvSpPr>
          <p:cNvPr id="9" name="Footer Placeholder 5">
            <a:extLst>
              <a:ext uri="{FF2B5EF4-FFF2-40B4-BE49-F238E27FC236}">
                <a16:creationId xmlns:a16="http://schemas.microsoft.com/office/drawing/2014/main" id="{2B7D1192-34EE-CE95-AE63-3969CE69E956}"/>
              </a:ext>
            </a:extLst>
          </p:cNvPr>
          <p:cNvSpPr>
            <a:spLocks noGrp="1"/>
          </p:cNvSpPr>
          <p:nvPr>
            <p:ph type="ftr" sz="quarter" idx="3"/>
          </p:nvPr>
        </p:nvSpPr>
        <p:spPr>
          <a:xfrm>
            <a:off x="1381091" y="12823285"/>
            <a:ext cx="3385135" cy="381000"/>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6" name="Text Placeholder 2">
            <a:extLst>
              <a:ext uri="{FF2B5EF4-FFF2-40B4-BE49-F238E27FC236}">
                <a16:creationId xmlns:a16="http://schemas.microsoft.com/office/drawing/2014/main" id="{A6DAC856-A388-ADFF-A110-2DFBBA469585}"/>
              </a:ext>
            </a:extLst>
          </p:cNvPr>
          <p:cNvSpPr txBox="1">
            <a:spLocks/>
          </p:cNvSpPr>
          <p:nvPr/>
        </p:nvSpPr>
        <p:spPr>
          <a:xfrm>
            <a:off x="9453058" y="10308723"/>
            <a:ext cx="4953000" cy="399592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Ensure that records are retrievable.</a:t>
            </a:r>
          </a:p>
        </p:txBody>
      </p:sp>
      <p:sp>
        <p:nvSpPr>
          <p:cNvPr id="13" name="Text Placeholder 2">
            <a:extLst>
              <a:ext uri="{FF2B5EF4-FFF2-40B4-BE49-F238E27FC236}">
                <a16:creationId xmlns:a16="http://schemas.microsoft.com/office/drawing/2014/main" id="{64D602C2-7BFE-762E-88C9-03C9190D8EE5}"/>
              </a:ext>
            </a:extLst>
          </p:cNvPr>
          <p:cNvSpPr txBox="1">
            <a:spLocks/>
          </p:cNvSpPr>
          <p:nvPr/>
        </p:nvSpPr>
        <p:spPr>
          <a:xfrm>
            <a:off x="15809486" y="10308723"/>
            <a:ext cx="4941888" cy="264299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Ensure the timely disposal of obsolete records.</a:t>
            </a:r>
          </a:p>
        </p:txBody>
      </p:sp>
      <p:pic>
        <p:nvPicPr>
          <p:cNvPr id="15" name="Picture 14" descr="Document security, Blue 60 pictogram">
            <a:extLst>
              <a:ext uri="{FF2B5EF4-FFF2-40B4-BE49-F238E27FC236}">
                <a16:creationId xmlns:a16="http://schemas.microsoft.com/office/drawing/2014/main" id="{6B0B225A-3F89-CDC3-D22F-C44A2247C696}"/>
              </a:ext>
            </a:extLst>
          </p:cNvPr>
          <p:cNvPicPr>
            <a:picLocks noChangeAspect="1"/>
          </p:cNvPicPr>
          <p:nvPr/>
        </p:nvPicPr>
        <p:blipFill>
          <a:blip r:embed="rId3"/>
          <a:srcRect/>
          <a:stretch/>
        </p:blipFill>
        <p:spPr>
          <a:xfrm>
            <a:off x="10049454" y="1496220"/>
            <a:ext cx="2179353" cy="2179353"/>
          </a:xfrm>
          <a:prstGeom prst="rect">
            <a:avLst/>
          </a:prstGeom>
        </p:spPr>
      </p:pic>
      <p:pic>
        <p:nvPicPr>
          <p:cNvPr id="16" name="Picture 15" descr="Hard disk drive, Blue 60 pictogram">
            <a:extLst>
              <a:ext uri="{FF2B5EF4-FFF2-40B4-BE49-F238E27FC236}">
                <a16:creationId xmlns:a16="http://schemas.microsoft.com/office/drawing/2014/main" id="{A57ED7C7-F9FC-6230-6D5C-F0488A6D3B25}"/>
              </a:ext>
            </a:extLst>
          </p:cNvPr>
          <p:cNvPicPr>
            <a:picLocks noChangeAspect="1"/>
          </p:cNvPicPr>
          <p:nvPr/>
        </p:nvPicPr>
        <p:blipFill>
          <a:blip r:embed="rId4"/>
          <a:srcRect/>
          <a:stretch/>
        </p:blipFill>
        <p:spPr>
          <a:xfrm>
            <a:off x="16182261" y="1496220"/>
            <a:ext cx="2301171" cy="2301171"/>
          </a:xfrm>
          <a:prstGeom prst="rect">
            <a:avLst/>
          </a:prstGeom>
        </p:spPr>
      </p:pic>
      <p:pic>
        <p:nvPicPr>
          <p:cNvPr id="17" name="Picture 16" descr="Export 02, Blue 60 pictogram">
            <a:extLst>
              <a:ext uri="{FF2B5EF4-FFF2-40B4-BE49-F238E27FC236}">
                <a16:creationId xmlns:a16="http://schemas.microsoft.com/office/drawing/2014/main" id="{DD8AC2C4-50FF-2790-8AC4-7827A45B963F}"/>
              </a:ext>
            </a:extLst>
          </p:cNvPr>
          <p:cNvPicPr>
            <a:picLocks noChangeAspect="1"/>
          </p:cNvPicPr>
          <p:nvPr/>
        </p:nvPicPr>
        <p:blipFill>
          <a:blip r:embed="rId5"/>
          <a:srcRect/>
          <a:stretch/>
        </p:blipFill>
        <p:spPr>
          <a:xfrm>
            <a:off x="10049454" y="7473348"/>
            <a:ext cx="2149623" cy="2149623"/>
          </a:xfrm>
          <a:prstGeom prst="rect">
            <a:avLst/>
          </a:prstGeom>
        </p:spPr>
      </p:pic>
      <p:pic>
        <p:nvPicPr>
          <p:cNvPr id="18" name="Picture 17" descr="Minimize, Blue 60 pictogram">
            <a:extLst>
              <a:ext uri="{FF2B5EF4-FFF2-40B4-BE49-F238E27FC236}">
                <a16:creationId xmlns:a16="http://schemas.microsoft.com/office/drawing/2014/main" id="{FBD0ACDD-CD92-63B1-D98B-0D6FD3F4E1CB}"/>
              </a:ext>
            </a:extLst>
          </p:cNvPr>
          <p:cNvPicPr>
            <a:picLocks noChangeAspect="1"/>
          </p:cNvPicPr>
          <p:nvPr/>
        </p:nvPicPr>
        <p:blipFill>
          <a:blip r:embed="rId6"/>
          <a:srcRect/>
          <a:stretch/>
        </p:blipFill>
        <p:spPr>
          <a:xfrm>
            <a:off x="16441620" y="7473348"/>
            <a:ext cx="2149623" cy="2149623"/>
          </a:xfrm>
          <a:prstGeom prst="rect">
            <a:avLst/>
          </a:prstGeom>
        </p:spPr>
      </p:pic>
    </p:spTree>
    <p:extLst>
      <p:ext uri="{BB962C8B-B14F-4D97-AF65-F5344CB8AC3E}">
        <p14:creationId xmlns:p14="http://schemas.microsoft.com/office/powerpoint/2010/main" val="18359721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3EE35C-A590-9C5E-D7E9-AF34FFF0B026}"/>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7A2AFB48-CE34-1B68-4D8C-FF9ABDA89ACB}"/>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4" name="Rectangle 2">
            <a:extLst>
              <a:ext uri="{FF2B5EF4-FFF2-40B4-BE49-F238E27FC236}">
                <a16:creationId xmlns:a16="http://schemas.microsoft.com/office/drawing/2014/main" id="{EE14496B-3619-6F97-3845-E10A4307959F}"/>
              </a:ext>
            </a:extLst>
          </p:cNvPr>
          <p:cNvSpPr>
            <a:spLocks noChangeArrowheads="1"/>
          </p:cNvSpPr>
          <p:nvPr/>
        </p:nvSpPr>
        <p:spPr bwMode="auto">
          <a:xfrm>
            <a:off x="152400" y="152400"/>
            <a:ext cx="24387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mn-cs"/>
              </a:rPr>
              <a:t>Users can update issue statuses at any time, giving stakeholders a real‑time view of all issues.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7" name="Rectangle 3">
            <a:extLst>
              <a:ext uri="{FF2B5EF4-FFF2-40B4-BE49-F238E27FC236}">
                <a16:creationId xmlns:a16="http://schemas.microsoft.com/office/drawing/2014/main" id="{52E8CD25-EA94-12CF-BC20-2D1452467D77}"/>
              </a:ext>
            </a:extLst>
          </p:cNvPr>
          <p:cNvSpPr>
            <a:spLocks noChangeArrowheads="1"/>
          </p:cNvSpPr>
          <p:nvPr/>
        </p:nvSpPr>
        <p:spPr bwMode="auto">
          <a:xfrm>
            <a:off x="304800" y="304800"/>
            <a:ext cx="24387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mn-cs"/>
              </a:rPr>
              <a:t>Users can update issue statuses at any time, giving stakeholders a real‑time view of all issues.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grpSp>
        <p:nvGrpSpPr>
          <p:cNvPr id="21" name="Group 20">
            <a:extLst>
              <a:ext uri="{FF2B5EF4-FFF2-40B4-BE49-F238E27FC236}">
                <a16:creationId xmlns:a16="http://schemas.microsoft.com/office/drawing/2014/main" id="{A07B7B14-F96C-C541-49A6-160DFEE23CBD}"/>
              </a:ext>
            </a:extLst>
          </p:cNvPr>
          <p:cNvGrpSpPr/>
          <p:nvPr/>
        </p:nvGrpSpPr>
        <p:grpSpPr>
          <a:xfrm>
            <a:off x="2019865" y="2766404"/>
            <a:ext cx="19011335" cy="9930981"/>
            <a:chOff x="1828113" y="670135"/>
            <a:chExt cx="8654147" cy="4978103"/>
          </a:xfrm>
        </p:grpSpPr>
        <p:sp>
          <p:nvSpPr>
            <p:cNvPr id="22" name="Rectangle 21">
              <a:extLst>
                <a:ext uri="{FF2B5EF4-FFF2-40B4-BE49-F238E27FC236}">
                  <a16:creationId xmlns:a16="http://schemas.microsoft.com/office/drawing/2014/main" id="{F8C935B9-FE68-A0EF-9875-99D0B7C722D7}"/>
                </a:ext>
              </a:extLst>
            </p:cNvPr>
            <p:cNvSpPr/>
            <p:nvPr/>
          </p:nvSpPr>
          <p:spPr>
            <a:xfrm>
              <a:off x="1828113" y="670135"/>
              <a:ext cx="8654145" cy="3592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Records Management Process Flowchart</a:t>
              </a:r>
            </a:p>
          </p:txBody>
        </p:sp>
        <p:grpSp>
          <p:nvGrpSpPr>
            <p:cNvPr id="23" name="Group 22">
              <a:extLst>
                <a:ext uri="{FF2B5EF4-FFF2-40B4-BE49-F238E27FC236}">
                  <a16:creationId xmlns:a16="http://schemas.microsoft.com/office/drawing/2014/main" id="{C28D2336-7ED2-DC06-ADC1-A1B24DCACF3D}"/>
                </a:ext>
              </a:extLst>
            </p:cNvPr>
            <p:cNvGrpSpPr/>
            <p:nvPr/>
          </p:nvGrpSpPr>
          <p:grpSpPr>
            <a:xfrm>
              <a:off x="1828117" y="956491"/>
              <a:ext cx="8654143" cy="4691747"/>
              <a:chOff x="152399" y="700013"/>
              <a:chExt cx="8654143" cy="4691747"/>
            </a:xfrm>
          </p:grpSpPr>
          <p:sp>
            <p:nvSpPr>
              <p:cNvPr id="49" name="Rectangle 48">
                <a:extLst>
                  <a:ext uri="{FF2B5EF4-FFF2-40B4-BE49-F238E27FC236}">
                    <a16:creationId xmlns:a16="http://schemas.microsoft.com/office/drawing/2014/main" id="{8C5FB86E-1CF3-DD10-4779-45B7F69836EA}"/>
                  </a:ext>
                </a:extLst>
              </p:cNvPr>
              <p:cNvSpPr/>
              <p:nvPr/>
            </p:nvSpPr>
            <p:spPr>
              <a:xfrm>
                <a:off x="152399" y="3037115"/>
                <a:ext cx="533399" cy="1132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Rectangle 49">
                <a:extLst>
                  <a:ext uri="{FF2B5EF4-FFF2-40B4-BE49-F238E27FC236}">
                    <a16:creationId xmlns:a16="http://schemas.microsoft.com/office/drawing/2014/main" id="{D6A92618-34A8-3590-4C72-96A1CAD4584D}"/>
                  </a:ext>
                </a:extLst>
              </p:cNvPr>
              <p:cNvSpPr/>
              <p:nvPr/>
            </p:nvSpPr>
            <p:spPr>
              <a:xfrm>
                <a:off x="685797" y="772885"/>
                <a:ext cx="8120745" cy="1132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9E4814F3-5DEB-99FA-14A9-A530B2694011}"/>
                  </a:ext>
                </a:extLst>
              </p:cNvPr>
              <p:cNvSpPr/>
              <p:nvPr/>
            </p:nvSpPr>
            <p:spPr>
              <a:xfrm>
                <a:off x="685796" y="1905000"/>
                <a:ext cx="8120745" cy="1132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TextBox 51">
                <a:extLst>
                  <a:ext uri="{FF2B5EF4-FFF2-40B4-BE49-F238E27FC236}">
                    <a16:creationId xmlns:a16="http://schemas.microsoft.com/office/drawing/2014/main" id="{0F9B6B00-6239-1885-741E-6E3121FE22F1}"/>
                  </a:ext>
                </a:extLst>
              </p:cNvPr>
              <p:cNvSpPr txBox="1"/>
              <p:nvPr/>
            </p:nvSpPr>
            <p:spPr>
              <a:xfrm rot="16200000">
                <a:off x="-220761" y="2370006"/>
                <a:ext cx="1312945" cy="278342"/>
              </a:xfrm>
              <a:prstGeom prst="rect">
                <a:avLst/>
              </a:prstGeom>
              <a:noFill/>
            </p:spPr>
            <p:txBody>
              <a:bodyPr wrap="square" rtlCol="0">
                <a:spAutoFit/>
              </a:bodyPr>
              <a:lstStyle/>
              <a:p>
                <a:pPr algn="ctr"/>
                <a:r>
                  <a:rPr lang="en-US" sz="1800" b="1" dirty="0"/>
                  <a:t>Client/CSM/</a:t>
                </a:r>
              </a:p>
              <a:p>
                <a:pPr algn="ctr"/>
                <a:r>
                  <a:rPr lang="en-US" sz="1800" b="1" dirty="0"/>
                  <a:t>Operations Manager</a:t>
                </a:r>
              </a:p>
            </p:txBody>
          </p:sp>
          <p:sp>
            <p:nvSpPr>
              <p:cNvPr id="53" name="Rectangle 52">
                <a:extLst>
                  <a:ext uri="{FF2B5EF4-FFF2-40B4-BE49-F238E27FC236}">
                    <a16:creationId xmlns:a16="http://schemas.microsoft.com/office/drawing/2014/main" id="{76138F0C-7142-C750-2951-E2FC4AD5A672}"/>
                  </a:ext>
                </a:extLst>
              </p:cNvPr>
              <p:cNvSpPr/>
              <p:nvPr/>
            </p:nvSpPr>
            <p:spPr>
              <a:xfrm>
                <a:off x="152399" y="772885"/>
                <a:ext cx="533400" cy="1132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Rectangle 53">
                <a:extLst>
                  <a:ext uri="{FF2B5EF4-FFF2-40B4-BE49-F238E27FC236}">
                    <a16:creationId xmlns:a16="http://schemas.microsoft.com/office/drawing/2014/main" id="{C03C5C1F-AB35-AC26-7A06-FFAE5726D699}"/>
                  </a:ext>
                </a:extLst>
              </p:cNvPr>
              <p:cNvSpPr/>
              <p:nvPr/>
            </p:nvSpPr>
            <p:spPr>
              <a:xfrm>
                <a:off x="152400" y="1905000"/>
                <a:ext cx="533399" cy="1132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5" name="Rectangle 54">
                <a:extLst>
                  <a:ext uri="{FF2B5EF4-FFF2-40B4-BE49-F238E27FC236}">
                    <a16:creationId xmlns:a16="http://schemas.microsoft.com/office/drawing/2014/main" id="{67F1B48D-A785-52C6-5072-87B3422A30F7}"/>
                  </a:ext>
                </a:extLst>
              </p:cNvPr>
              <p:cNvSpPr/>
              <p:nvPr/>
            </p:nvSpPr>
            <p:spPr>
              <a:xfrm>
                <a:off x="152399" y="4169230"/>
                <a:ext cx="533399" cy="1132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scene3d>
                  <a:camera prst="orthographicFront">
                    <a:rot lat="0" lon="0" rev="5400000"/>
                  </a:camera>
                  <a:lightRig rig="threePt" dir="t"/>
                </a:scene3d>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45636D3B-1E61-2013-07EF-81A0E6D4EFFB}"/>
                  </a:ext>
                </a:extLst>
              </p:cNvPr>
              <p:cNvSpPr/>
              <p:nvPr/>
            </p:nvSpPr>
            <p:spPr>
              <a:xfrm>
                <a:off x="685796" y="3037115"/>
                <a:ext cx="8120745" cy="1132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a:extLst>
                  <a:ext uri="{FF2B5EF4-FFF2-40B4-BE49-F238E27FC236}">
                    <a16:creationId xmlns:a16="http://schemas.microsoft.com/office/drawing/2014/main" id="{199A0DE3-D21B-23C2-DBED-011D127A03F9}"/>
                  </a:ext>
                </a:extLst>
              </p:cNvPr>
              <p:cNvSpPr/>
              <p:nvPr/>
            </p:nvSpPr>
            <p:spPr>
              <a:xfrm>
                <a:off x="685796" y="4169229"/>
                <a:ext cx="8120745" cy="1132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7FB44304-0B35-6768-BDE2-A92CF17704F7}"/>
                  </a:ext>
                </a:extLst>
              </p:cNvPr>
              <p:cNvSpPr txBox="1"/>
              <p:nvPr/>
            </p:nvSpPr>
            <p:spPr>
              <a:xfrm rot="16200000">
                <a:off x="-250162" y="4556353"/>
                <a:ext cx="1312945" cy="357869"/>
              </a:xfrm>
              <a:prstGeom prst="rect">
                <a:avLst/>
              </a:prstGeom>
              <a:noFill/>
            </p:spPr>
            <p:txBody>
              <a:bodyPr wrap="square" rtlCol="0">
                <a:spAutoFit/>
              </a:bodyPr>
              <a:lstStyle/>
              <a:p>
                <a:pPr algn="ctr"/>
                <a:r>
                  <a:rPr lang="en-US" sz="1600" b="1" dirty="0"/>
                  <a:t>Records Custodian</a:t>
                </a:r>
              </a:p>
              <a:p>
                <a:pPr algn="ctr"/>
                <a:r>
                  <a:rPr lang="en-US" sz="1600" b="1" dirty="0"/>
                  <a:t>(HR Process Owners/Team Leads)</a:t>
                </a:r>
              </a:p>
            </p:txBody>
          </p:sp>
          <p:sp>
            <p:nvSpPr>
              <p:cNvPr id="59" name="TextBox 58">
                <a:extLst>
                  <a:ext uri="{FF2B5EF4-FFF2-40B4-BE49-F238E27FC236}">
                    <a16:creationId xmlns:a16="http://schemas.microsoft.com/office/drawing/2014/main" id="{11558133-1130-C87D-341F-0FCBDFC8C205}"/>
                  </a:ext>
                </a:extLst>
              </p:cNvPr>
              <p:cNvSpPr txBox="1"/>
              <p:nvPr/>
            </p:nvSpPr>
            <p:spPr>
              <a:xfrm rot="16200000">
                <a:off x="-237375" y="3352212"/>
                <a:ext cx="1312945" cy="516922"/>
              </a:xfrm>
              <a:prstGeom prst="rect">
                <a:avLst/>
              </a:prstGeom>
              <a:noFill/>
            </p:spPr>
            <p:txBody>
              <a:bodyPr wrap="square" rtlCol="0">
                <a:spAutoFit/>
              </a:bodyPr>
              <a:lstStyle/>
              <a:p>
                <a:pPr algn="ctr"/>
                <a:r>
                  <a:rPr lang="en-US" sz="1800" b="1" dirty="0"/>
                  <a:t>Records Owner </a:t>
                </a:r>
              </a:p>
              <a:p>
                <a:pPr algn="ctr"/>
                <a:r>
                  <a:rPr lang="en-US" sz="1800" b="1" dirty="0"/>
                  <a:t>(HR Delivery Manager/Operations Leads)</a:t>
                </a:r>
              </a:p>
            </p:txBody>
          </p:sp>
          <p:sp>
            <p:nvSpPr>
              <p:cNvPr id="60" name="TextBox 59">
                <a:extLst>
                  <a:ext uri="{FF2B5EF4-FFF2-40B4-BE49-F238E27FC236}">
                    <a16:creationId xmlns:a16="http://schemas.microsoft.com/office/drawing/2014/main" id="{66CC541E-2A8E-D2F5-1E11-B8C7C33C040B}"/>
                  </a:ext>
                </a:extLst>
              </p:cNvPr>
              <p:cNvSpPr txBox="1"/>
              <p:nvPr/>
            </p:nvSpPr>
            <p:spPr>
              <a:xfrm rot="16200000">
                <a:off x="-237374" y="1276959"/>
                <a:ext cx="1312945" cy="159053"/>
              </a:xfrm>
              <a:prstGeom prst="rect">
                <a:avLst/>
              </a:prstGeom>
              <a:noFill/>
            </p:spPr>
            <p:txBody>
              <a:bodyPr wrap="square" rtlCol="0">
                <a:spAutoFit/>
              </a:bodyPr>
              <a:lstStyle/>
              <a:p>
                <a:pPr algn="ctr"/>
                <a:r>
                  <a:rPr lang="en-US" sz="1800" b="1" dirty="0"/>
                  <a:t>GRE Team</a:t>
                </a:r>
              </a:p>
            </p:txBody>
          </p:sp>
        </p:grpSp>
        <p:sp>
          <p:nvSpPr>
            <p:cNvPr id="24" name="Rectangle 23">
              <a:extLst>
                <a:ext uri="{FF2B5EF4-FFF2-40B4-BE49-F238E27FC236}">
                  <a16:creationId xmlns:a16="http://schemas.microsoft.com/office/drawing/2014/main" id="{3887B890-AB88-46AF-09A0-A8B39E924B46}"/>
                </a:ext>
              </a:extLst>
            </p:cNvPr>
            <p:cNvSpPr/>
            <p:nvPr/>
          </p:nvSpPr>
          <p:spPr>
            <a:xfrm>
              <a:off x="3624253" y="3551219"/>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1. Identification and Classification of Records</a:t>
              </a:r>
            </a:p>
          </p:txBody>
        </p:sp>
        <p:cxnSp>
          <p:nvCxnSpPr>
            <p:cNvPr id="25" name="Elbow Connector 13">
              <a:extLst>
                <a:ext uri="{FF2B5EF4-FFF2-40B4-BE49-F238E27FC236}">
                  <a16:creationId xmlns:a16="http://schemas.microsoft.com/office/drawing/2014/main" id="{1B7AAA4A-39BC-10A4-6098-DF2DCD73AA33}"/>
                </a:ext>
              </a:extLst>
            </p:cNvPr>
            <p:cNvCxnSpPr>
              <a:cxnSpLocks/>
              <a:endCxn id="24" idx="1"/>
            </p:cNvCxnSpPr>
            <p:nvPr/>
          </p:nvCxnSpPr>
          <p:spPr>
            <a:xfrm flipV="1">
              <a:off x="3330347" y="3875977"/>
              <a:ext cx="293906"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hlinkClick r:id="" action="ppaction://hlinkshowjump?jump=nextslide"/>
              <a:extLst>
                <a:ext uri="{FF2B5EF4-FFF2-40B4-BE49-F238E27FC236}">
                  <a16:creationId xmlns:a16="http://schemas.microsoft.com/office/drawing/2014/main" id="{E6850F2A-0783-C5F0-E7FF-18CFAFE0B12C}"/>
                </a:ext>
              </a:extLst>
            </p:cNvPr>
            <p:cNvSpPr/>
            <p:nvPr/>
          </p:nvSpPr>
          <p:spPr>
            <a:xfrm>
              <a:off x="3624252" y="4662160"/>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2. Organizing, Labeling and Indexing of Records </a:t>
              </a:r>
            </a:p>
          </p:txBody>
        </p:sp>
        <p:sp>
          <p:nvSpPr>
            <p:cNvPr id="27" name="Rectangle 26">
              <a:extLst>
                <a:ext uri="{FF2B5EF4-FFF2-40B4-BE49-F238E27FC236}">
                  <a16:creationId xmlns:a16="http://schemas.microsoft.com/office/drawing/2014/main" id="{2E4F75C3-7379-6837-348D-F93A050F73AE}"/>
                </a:ext>
              </a:extLst>
            </p:cNvPr>
            <p:cNvSpPr/>
            <p:nvPr/>
          </p:nvSpPr>
          <p:spPr>
            <a:xfrm>
              <a:off x="3624253" y="2351977"/>
              <a:ext cx="1066799" cy="692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Records </a:t>
              </a:r>
            </a:p>
            <a:p>
              <a:pPr algn="ctr"/>
              <a:r>
                <a:rPr lang="en-US" sz="1800" b="1" dirty="0">
                  <a:solidFill>
                    <a:schemeClr val="tx1"/>
                  </a:solidFill>
                </a:rPr>
                <a:t>Retention Requirements</a:t>
              </a:r>
            </a:p>
            <a:p>
              <a:pPr algn="ctr"/>
              <a:r>
                <a:rPr lang="en-US" sz="1800" b="1" dirty="0">
                  <a:solidFill>
                    <a:schemeClr val="tx1"/>
                  </a:solidFill>
                </a:rPr>
                <a:t>(Contractual Agreement)</a:t>
              </a:r>
            </a:p>
          </p:txBody>
        </p:sp>
        <p:cxnSp>
          <p:nvCxnSpPr>
            <p:cNvPr id="28" name="Straight Connector 27">
              <a:extLst>
                <a:ext uri="{FF2B5EF4-FFF2-40B4-BE49-F238E27FC236}">
                  <a16:creationId xmlns:a16="http://schemas.microsoft.com/office/drawing/2014/main" id="{7F8FA6AC-1307-D751-B3E5-C7B08F22A8AC}"/>
                </a:ext>
              </a:extLst>
            </p:cNvPr>
            <p:cNvCxnSpPr>
              <a:cxnSpLocks/>
            </p:cNvCxnSpPr>
            <p:nvPr/>
          </p:nvCxnSpPr>
          <p:spPr>
            <a:xfrm>
              <a:off x="4549547" y="2351977"/>
              <a:ext cx="0" cy="686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D99D7C-A00E-C488-2502-45FBF2C748FD}"/>
                </a:ext>
              </a:extLst>
            </p:cNvPr>
            <p:cNvCxnSpPr>
              <a:cxnSpLocks/>
            </p:cNvCxnSpPr>
            <p:nvPr/>
          </p:nvCxnSpPr>
          <p:spPr>
            <a:xfrm>
              <a:off x="3733118" y="2351977"/>
              <a:ext cx="0" cy="686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D41F565-1475-9F7D-740D-BB2AE03E8379}"/>
                </a:ext>
              </a:extLst>
            </p:cNvPr>
            <p:cNvSpPr/>
            <p:nvPr/>
          </p:nvSpPr>
          <p:spPr>
            <a:xfrm>
              <a:off x="5119390" y="4667007"/>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3. Storage  of Records</a:t>
              </a:r>
            </a:p>
          </p:txBody>
        </p:sp>
        <p:sp>
          <p:nvSpPr>
            <p:cNvPr id="31" name="Rectangle 30">
              <a:extLst>
                <a:ext uri="{FF2B5EF4-FFF2-40B4-BE49-F238E27FC236}">
                  <a16:creationId xmlns:a16="http://schemas.microsoft.com/office/drawing/2014/main" id="{BCAEA022-1CD9-A638-8C6D-2F5BC55EA2F7}"/>
                </a:ext>
              </a:extLst>
            </p:cNvPr>
            <p:cNvSpPr/>
            <p:nvPr/>
          </p:nvSpPr>
          <p:spPr>
            <a:xfrm>
              <a:off x="6716963" y="4660229"/>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4. Retrieval of Records</a:t>
              </a:r>
            </a:p>
          </p:txBody>
        </p:sp>
        <p:sp>
          <p:nvSpPr>
            <p:cNvPr id="32" name="Rectangle 31">
              <a:extLst>
                <a:ext uri="{FF2B5EF4-FFF2-40B4-BE49-F238E27FC236}">
                  <a16:creationId xmlns:a16="http://schemas.microsoft.com/office/drawing/2014/main" id="{AA84FEC3-7973-F681-C45B-60779302DA97}"/>
                </a:ext>
              </a:extLst>
            </p:cNvPr>
            <p:cNvSpPr/>
            <p:nvPr/>
          </p:nvSpPr>
          <p:spPr>
            <a:xfrm>
              <a:off x="8219368" y="4660229"/>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5. Disposal of Records</a:t>
              </a:r>
            </a:p>
          </p:txBody>
        </p:sp>
        <p:cxnSp>
          <p:nvCxnSpPr>
            <p:cNvPr id="33" name="Straight Arrow Connector 32">
              <a:extLst>
                <a:ext uri="{FF2B5EF4-FFF2-40B4-BE49-F238E27FC236}">
                  <a16:creationId xmlns:a16="http://schemas.microsoft.com/office/drawing/2014/main" id="{9E397948-60C5-4046-71A0-864A31354B63}"/>
                </a:ext>
              </a:extLst>
            </p:cNvPr>
            <p:cNvCxnSpPr>
              <a:stCxn id="24" idx="2"/>
              <a:endCxn id="26" idx="0"/>
            </p:cNvCxnSpPr>
            <p:nvPr/>
          </p:nvCxnSpPr>
          <p:spPr>
            <a:xfrm flipH="1">
              <a:off x="4157652" y="4200734"/>
              <a:ext cx="1" cy="46142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FB68035-3018-CEF1-EC78-3A2D71C5DECB}"/>
                </a:ext>
              </a:extLst>
            </p:cNvPr>
            <p:cNvCxnSpPr>
              <a:stCxn id="26" idx="3"/>
              <a:endCxn id="30" idx="1"/>
            </p:cNvCxnSpPr>
            <p:nvPr/>
          </p:nvCxnSpPr>
          <p:spPr>
            <a:xfrm>
              <a:off x="4691051" y="4986918"/>
              <a:ext cx="428339" cy="484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CD30655-0B81-1ADC-0C53-C50DA2C04F3E}"/>
                </a:ext>
              </a:extLst>
            </p:cNvPr>
            <p:cNvCxnSpPr>
              <a:cxnSpLocks/>
              <a:stCxn id="30" idx="3"/>
            </p:cNvCxnSpPr>
            <p:nvPr/>
          </p:nvCxnSpPr>
          <p:spPr>
            <a:xfrm>
              <a:off x="6186189" y="4991765"/>
              <a:ext cx="530774" cy="212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9E0E689-2F60-FDF7-4161-E77259D88041}"/>
                </a:ext>
              </a:extLst>
            </p:cNvPr>
            <p:cNvCxnSpPr>
              <a:cxnSpLocks/>
              <a:stCxn id="31" idx="3"/>
              <a:endCxn id="32" idx="1"/>
            </p:cNvCxnSpPr>
            <p:nvPr/>
          </p:nvCxnSpPr>
          <p:spPr>
            <a:xfrm>
              <a:off x="7783762" y="4984987"/>
              <a:ext cx="43560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E0444C3-1F56-7331-6389-50449BB3603D}"/>
                </a:ext>
              </a:extLst>
            </p:cNvPr>
            <p:cNvCxnSpPr>
              <a:cxnSpLocks/>
              <a:stCxn id="32" idx="3"/>
            </p:cNvCxnSpPr>
            <p:nvPr/>
          </p:nvCxnSpPr>
          <p:spPr>
            <a:xfrm>
              <a:off x="9286167" y="4984987"/>
              <a:ext cx="294498" cy="402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0E05B00-2941-6BC4-3A53-20E046DE4790}"/>
                </a:ext>
              </a:extLst>
            </p:cNvPr>
            <p:cNvSpPr/>
            <p:nvPr/>
          </p:nvSpPr>
          <p:spPr>
            <a:xfrm>
              <a:off x="5897324" y="1121053"/>
              <a:ext cx="1066799" cy="6495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Onsite/Offsite Archiving</a:t>
              </a:r>
            </a:p>
          </p:txBody>
        </p:sp>
        <p:cxnSp>
          <p:nvCxnSpPr>
            <p:cNvPr id="39" name="Straight Connector 38">
              <a:extLst>
                <a:ext uri="{FF2B5EF4-FFF2-40B4-BE49-F238E27FC236}">
                  <a16:creationId xmlns:a16="http://schemas.microsoft.com/office/drawing/2014/main" id="{1F97F077-ACEB-87C7-B131-0D82C1D6815D}"/>
                </a:ext>
              </a:extLst>
            </p:cNvPr>
            <p:cNvCxnSpPr>
              <a:cxnSpLocks/>
            </p:cNvCxnSpPr>
            <p:nvPr/>
          </p:nvCxnSpPr>
          <p:spPr>
            <a:xfrm>
              <a:off x="6844400" y="1121053"/>
              <a:ext cx="0" cy="6495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3BC011F-5274-D30E-F8E0-E156A4D19ABA}"/>
                </a:ext>
              </a:extLst>
            </p:cNvPr>
            <p:cNvCxnSpPr>
              <a:cxnSpLocks/>
            </p:cNvCxnSpPr>
            <p:nvPr/>
          </p:nvCxnSpPr>
          <p:spPr>
            <a:xfrm>
              <a:off x="6027971" y="1131939"/>
              <a:ext cx="0" cy="6386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BB2C97-8C3A-9E29-8E5A-72C61A9C7EE0}"/>
                </a:ext>
              </a:extLst>
            </p:cNvPr>
            <p:cNvCxnSpPr>
              <a:cxnSpLocks/>
              <a:stCxn id="27" idx="2"/>
              <a:endCxn id="24" idx="0"/>
            </p:cNvCxnSpPr>
            <p:nvPr/>
          </p:nvCxnSpPr>
          <p:spPr>
            <a:xfrm>
              <a:off x="4157653" y="3044340"/>
              <a:ext cx="0" cy="506879"/>
            </a:xfrm>
            <a:prstGeom prst="straightConnector1">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6212E8A5-A1C0-AEF9-05A9-73AF514D2857}"/>
                </a:ext>
              </a:extLst>
            </p:cNvPr>
            <p:cNvCxnSpPr>
              <a:cxnSpLocks/>
              <a:stCxn id="38" idx="2"/>
            </p:cNvCxnSpPr>
            <p:nvPr/>
          </p:nvCxnSpPr>
          <p:spPr>
            <a:xfrm>
              <a:off x="6430724" y="1770568"/>
              <a:ext cx="0" cy="2497373"/>
            </a:xfrm>
            <a:prstGeom prst="straightConnector1">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rminator 31">
              <a:extLst>
                <a:ext uri="{FF2B5EF4-FFF2-40B4-BE49-F238E27FC236}">
                  <a16:creationId xmlns:a16="http://schemas.microsoft.com/office/drawing/2014/main" id="{AF528903-6F85-3012-E767-F7DBB12320F5}"/>
                </a:ext>
              </a:extLst>
            </p:cNvPr>
            <p:cNvSpPr/>
            <p:nvPr/>
          </p:nvSpPr>
          <p:spPr>
            <a:xfrm>
              <a:off x="2593231" y="3735799"/>
              <a:ext cx="736270" cy="261258"/>
            </a:xfrm>
            <a:prstGeom prst="flowChartTermina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Start</a:t>
              </a:r>
            </a:p>
          </p:txBody>
        </p:sp>
        <p:sp>
          <p:nvSpPr>
            <p:cNvPr id="44" name="Terminator 32">
              <a:extLst>
                <a:ext uri="{FF2B5EF4-FFF2-40B4-BE49-F238E27FC236}">
                  <a16:creationId xmlns:a16="http://schemas.microsoft.com/office/drawing/2014/main" id="{51804A31-8F2C-8BA2-BBA8-0875631166BC}"/>
                </a:ext>
              </a:extLst>
            </p:cNvPr>
            <p:cNvSpPr/>
            <p:nvPr/>
          </p:nvSpPr>
          <p:spPr>
            <a:xfrm>
              <a:off x="9577944" y="4861136"/>
              <a:ext cx="736270" cy="261258"/>
            </a:xfrm>
            <a:prstGeom prst="flowChartTermina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End</a:t>
              </a:r>
            </a:p>
          </p:txBody>
        </p:sp>
        <p:cxnSp>
          <p:nvCxnSpPr>
            <p:cNvPr id="45" name="Straight Arrow Connector 44">
              <a:extLst>
                <a:ext uri="{FF2B5EF4-FFF2-40B4-BE49-F238E27FC236}">
                  <a16:creationId xmlns:a16="http://schemas.microsoft.com/office/drawing/2014/main" id="{325CBFFA-F78B-4863-3879-A9C5AAFC9E33}"/>
                </a:ext>
              </a:extLst>
            </p:cNvPr>
            <p:cNvCxnSpPr>
              <a:cxnSpLocks/>
            </p:cNvCxnSpPr>
            <p:nvPr/>
          </p:nvCxnSpPr>
          <p:spPr>
            <a:xfrm flipH="1">
              <a:off x="5652789" y="4243253"/>
              <a:ext cx="1597574" cy="0"/>
            </a:xfrm>
            <a:prstGeom prst="straightConnector1">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1A406BC6-50D5-C9B1-BFD4-A4FDABE1D5B4}"/>
                </a:ext>
              </a:extLst>
            </p:cNvPr>
            <p:cNvCxnSpPr>
              <a:cxnSpLocks/>
              <a:endCxn id="30" idx="0"/>
            </p:cNvCxnSpPr>
            <p:nvPr/>
          </p:nvCxnSpPr>
          <p:spPr>
            <a:xfrm>
              <a:off x="5652789" y="4259940"/>
              <a:ext cx="1" cy="407067"/>
            </a:xfrm>
            <a:prstGeom prst="straightConnector1">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9A6FA196-FE41-5374-F728-FECA3779ECBC}"/>
                </a:ext>
              </a:extLst>
            </p:cNvPr>
            <p:cNvCxnSpPr>
              <a:cxnSpLocks/>
            </p:cNvCxnSpPr>
            <p:nvPr/>
          </p:nvCxnSpPr>
          <p:spPr>
            <a:xfrm>
              <a:off x="7250361" y="4267941"/>
              <a:ext cx="1" cy="407067"/>
            </a:xfrm>
            <a:prstGeom prst="straightConnector1">
              <a:avLst/>
            </a:prstGeom>
            <a:ln w="254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TextBox 47">
              <a:extLst>
                <a:ext uri="{FF2B5EF4-FFF2-40B4-BE49-F238E27FC236}">
                  <a16:creationId xmlns:a16="http://schemas.microsoft.com/office/drawing/2014/main" id="{3FDC7306-AB5E-2BBF-C951-AC22462DA84D}"/>
                </a:ext>
              </a:extLst>
            </p:cNvPr>
            <p:cNvSpPr txBox="1"/>
            <p:nvPr/>
          </p:nvSpPr>
          <p:spPr>
            <a:xfrm>
              <a:off x="5388320" y="4931606"/>
              <a:ext cx="74846" cy="268150"/>
            </a:xfrm>
            <a:prstGeom prst="rect">
              <a:avLst/>
            </a:prstGeom>
            <a:noFill/>
          </p:spPr>
          <p:txBody>
            <a:bodyPr wrap="none" rtlCol="0">
              <a:spAutoFit/>
            </a:bodyPr>
            <a:lstStyle/>
            <a:p>
              <a:endParaRPr lang="en-US" dirty="0"/>
            </a:p>
          </p:txBody>
        </p:sp>
      </p:grpSp>
      <p:sp>
        <p:nvSpPr>
          <p:cNvPr id="61" name="Oval 60">
            <a:extLst>
              <a:ext uri="{FF2B5EF4-FFF2-40B4-BE49-F238E27FC236}">
                <a16:creationId xmlns:a16="http://schemas.microsoft.com/office/drawing/2014/main" id="{288019ED-FB4C-1F82-2569-BAA4B3C60153}"/>
              </a:ext>
            </a:extLst>
          </p:cNvPr>
          <p:cNvSpPr/>
          <p:nvPr/>
        </p:nvSpPr>
        <p:spPr>
          <a:xfrm>
            <a:off x="5376983" y="7834037"/>
            <a:ext cx="3524311" cy="2728773"/>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Oval 61">
            <a:extLst>
              <a:ext uri="{FF2B5EF4-FFF2-40B4-BE49-F238E27FC236}">
                <a16:creationId xmlns:a16="http://schemas.microsoft.com/office/drawing/2014/main" id="{0D898CFA-AE64-C5D7-5824-546DA996FF19}"/>
              </a:ext>
            </a:extLst>
          </p:cNvPr>
          <p:cNvSpPr/>
          <p:nvPr/>
        </p:nvSpPr>
        <p:spPr>
          <a:xfrm>
            <a:off x="15469715" y="10020351"/>
            <a:ext cx="3524311" cy="2728773"/>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0" name="Group 9">
            <a:extLst>
              <a:ext uri="{FF2B5EF4-FFF2-40B4-BE49-F238E27FC236}">
                <a16:creationId xmlns:a16="http://schemas.microsoft.com/office/drawing/2014/main" id="{41870356-1B0A-4EA4-3D55-9A210D13CF22}"/>
              </a:ext>
            </a:extLst>
          </p:cNvPr>
          <p:cNvGrpSpPr/>
          <p:nvPr/>
        </p:nvGrpSpPr>
        <p:grpSpPr>
          <a:xfrm>
            <a:off x="1658160" y="7696148"/>
            <a:ext cx="2324626" cy="5064187"/>
            <a:chOff x="1394202" y="6919777"/>
            <a:chExt cx="2324626" cy="5764650"/>
          </a:xfrm>
        </p:grpSpPr>
        <p:sp>
          <p:nvSpPr>
            <p:cNvPr id="63" name="Rectangle 62">
              <a:extLst>
                <a:ext uri="{FF2B5EF4-FFF2-40B4-BE49-F238E27FC236}">
                  <a16:creationId xmlns:a16="http://schemas.microsoft.com/office/drawing/2014/main" id="{1902B888-A942-7D21-0FFC-B57CC250472E}"/>
                </a:ext>
              </a:extLst>
            </p:cNvPr>
            <p:cNvSpPr/>
            <p:nvPr/>
          </p:nvSpPr>
          <p:spPr>
            <a:xfrm>
              <a:off x="1394202" y="6919777"/>
              <a:ext cx="2324626" cy="290721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Rectangle 63">
              <a:extLst>
                <a:ext uri="{FF2B5EF4-FFF2-40B4-BE49-F238E27FC236}">
                  <a16:creationId xmlns:a16="http://schemas.microsoft.com/office/drawing/2014/main" id="{D95BD3F6-902C-B4D9-E92A-9960CFE36725}"/>
                </a:ext>
              </a:extLst>
            </p:cNvPr>
            <p:cNvSpPr/>
            <p:nvPr/>
          </p:nvSpPr>
          <p:spPr>
            <a:xfrm>
              <a:off x="1394202" y="9848035"/>
              <a:ext cx="2324626" cy="283639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7" name="TextBox 66">
            <a:extLst>
              <a:ext uri="{FF2B5EF4-FFF2-40B4-BE49-F238E27FC236}">
                <a16:creationId xmlns:a16="http://schemas.microsoft.com/office/drawing/2014/main" id="{BDEC2249-762D-CA65-8B57-45D316DD1C5F}"/>
              </a:ext>
            </a:extLst>
          </p:cNvPr>
          <p:cNvSpPr txBox="1"/>
          <p:nvPr/>
        </p:nvSpPr>
        <p:spPr>
          <a:xfrm>
            <a:off x="14563044" y="1101566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8" name="TextBox 67">
            <a:extLst>
              <a:ext uri="{FF2B5EF4-FFF2-40B4-BE49-F238E27FC236}">
                <a16:creationId xmlns:a16="http://schemas.microsoft.com/office/drawing/2014/main" id="{1FB6890E-29D0-22C4-0053-14CB84248C78}"/>
              </a:ext>
            </a:extLst>
          </p:cNvPr>
          <p:cNvSpPr txBox="1"/>
          <p:nvPr/>
        </p:nvSpPr>
        <p:spPr>
          <a:xfrm>
            <a:off x="18277794" y="1128712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8" name="Rectangle 7" descr="Blue 10 half slide background">
            <a:extLst>
              <a:ext uri="{FF2B5EF4-FFF2-40B4-BE49-F238E27FC236}">
                <a16:creationId xmlns:a16="http://schemas.microsoft.com/office/drawing/2014/main" id="{9B7F5834-7BD2-C47A-8BD2-8D1F0755D1E0}"/>
              </a:ext>
            </a:extLst>
          </p:cNvPr>
          <p:cNvSpPr/>
          <p:nvPr/>
        </p:nvSpPr>
        <p:spPr bwMode="auto">
          <a:xfrm>
            <a:off x="0" y="-50852"/>
            <a:ext cx="24387175" cy="2509141"/>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9" name="Title 1">
            <a:extLst>
              <a:ext uri="{FF2B5EF4-FFF2-40B4-BE49-F238E27FC236}">
                <a16:creationId xmlns:a16="http://schemas.microsoft.com/office/drawing/2014/main" id="{40764B3E-52F8-A809-F595-94C629A0AA7D}"/>
              </a:ext>
            </a:extLst>
          </p:cNvPr>
          <p:cNvSpPr>
            <a:spLocks noGrp="1"/>
          </p:cNvSpPr>
          <p:nvPr>
            <p:ph type="title"/>
          </p:nvPr>
        </p:nvSpPr>
        <p:spPr>
          <a:xfrm>
            <a:off x="576071" y="576072"/>
            <a:ext cx="15972775" cy="4573587"/>
          </a:xfrm>
        </p:spPr>
        <p:txBody>
          <a:bodyPr/>
          <a:lstStyle/>
          <a:p>
            <a:r>
              <a:rPr lang="en-US" sz="6400" dirty="0">
                <a:solidFill>
                  <a:schemeClr val="accent1"/>
                </a:solidFill>
              </a:rPr>
              <a:t>Records Management Process Flowchart</a:t>
            </a:r>
          </a:p>
        </p:txBody>
      </p:sp>
    </p:spTree>
    <p:extLst>
      <p:ext uri="{BB962C8B-B14F-4D97-AF65-F5344CB8AC3E}">
        <p14:creationId xmlns:p14="http://schemas.microsoft.com/office/powerpoint/2010/main" val="117694436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4627C-E756-FD6D-DBA5-6CBC52C51B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8F63472-3059-83A5-C820-47998648FCD9}"/>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8C24FDBE-E794-8E99-D800-B6E4A508AD61}"/>
              </a:ext>
            </a:extLst>
          </p:cNvPr>
          <p:cNvSpPr>
            <a:spLocks noGrp="1"/>
          </p:cNvSpPr>
          <p:nvPr>
            <p:ph type="title"/>
          </p:nvPr>
        </p:nvSpPr>
        <p:spPr>
          <a:xfrm>
            <a:off x="576000" y="384048"/>
            <a:ext cx="11036491" cy="2663825"/>
          </a:xfrm>
        </p:spPr>
        <p:txBody>
          <a:bodyPr/>
          <a:lstStyle/>
          <a:p>
            <a:r>
              <a:rPr lang="en-US" dirty="0"/>
              <a:t>Roles and Responsibilities</a:t>
            </a:r>
          </a:p>
        </p:txBody>
      </p:sp>
    </p:spTree>
    <p:extLst>
      <p:ext uri="{BB962C8B-B14F-4D97-AF65-F5344CB8AC3E}">
        <p14:creationId xmlns:p14="http://schemas.microsoft.com/office/powerpoint/2010/main" val="338878279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3EE35C-A590-9C5E-D7E9-AF34FFF0B026}"/>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7A2AFB48-CE34-1B68-4D8C-FF9ABDA89ACB}"/>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4" name="Rectangle 2">
            <a:extLst>
              <a:ext uri="{FF2B5EF4-FFF2-40B4-BE49-F238E27FC236}">
                <a16:creationId xmlns:a16="http://schemas.microsoft.com/office/drawing/2014/main" id="{EE14496B-3619-6F97-3845-E10A4307959F}"/>
              </a:ext>
            </a:extLst>
          </p:cNvPr>
          <p:cNvSpPr>
            <a:spLocks noChangeArrowheads="1"/>
          </p:cNvSpPr>
          <p:nvPr/>
        </p:nvSpPr>
        <p:spPr bwMode="auto">
          <a:xfrm>
            <a:off x="152400" y="152400"/>
            <a:ext cx="24387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mn-cs"/>
              </a:rPr>
              <a:t>Users can update issue statuses at any time, giving stakeholders a real‑time view of all issues.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7" name="Rectangle 3">
            <a:extLst>
              <a:ext uri="{FF2B5EF4-FFF2-40B4-BE49-F238E27FC236}">
                <a16:creationId xmlns:a16="http://schemas.microsoft.com/office/drawing/2014/main" id="{52E8CD25-EA94-12CF-BC20-2D1452467D77}"/>
              </a:ext>
            </a:extLst>
          </p:cNvPr>
          <p:cNvSpPr>
            <a:spLocks noChangeArrowheads="1"/>
          </p:cNvSpPr>
          <p:nvPr/>
        </p:nvSpPr>
        <p:spPr bwMode="auto">
          <a:xfrm>
            <a:off x="304800" y="304800"/>
            <a:ext cx="24387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mn-cs"/>
              </a:rPr>
              <a:t>Users can update issue statuses at any time, giving stakeholders a real‑time view of all issues.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05A1A25F-2293-DAC3-951C-89052AA2A3F7}"/>
              </a:ext>
            </a:extLst>
          </p:cNvPr>
          <p:cNvSpPr>
            <a:spLocks noGrp="1"/>
          </p:cNvSpPr>
          <p:nvPr>
            <p:ph type="title"/>
          </p:nvPr>
        </p:nvSpPr>
        <p:spPr>
          <a:xfrm>
            <a:off x="576072" y="384049"/>
            <a:ext cx="22979887" cy="1319534"/>
          </a:xfrm>
        </p:spPr>
        <p:txBody>
          <a:bodyPr/>
          <a:lstStyle/>
          <a:p>
            <a:r>
              <a:rPr lang="en-US" dirty="0">
                <a:solidFill>
                  <a:schemeClr val="accent1"/>
                </a:solidFill>
              </a:rPr>
              <a:t>Records Owner</a:t>
            </a:r>
            <a:br>
              <a:rPr lang="en-US" dirty="0">
                <a:solidFill>
                  <a:schemeClr val="accent1"/>
                </a:solidFill>
              </a:rPr>
            </a:br>
            <a:r>
              <a:rPr lang="en-US" sz="4800" dirty="0">
                <a:solidFill>
                  <a:schemeClr val="accent1"/>
                </a:solidFill>
              </a:rPr>
              <a:t>- Identification and classification of Records</a:t>
            </a:r>
            <a:endParaRPr lang="en-US" dirty="0">
              <a:solidFill>
                <a:schemeClr val="accent1"/>
              </a:solidFill>
            </a:endParaRPr>
          </a:p>
        </p:txBody>
      </p:sp>
      <p:cxnSp>
        <p:nvCxnSpPr>
          <p:cNvPr id="3" name="Straight Connector 2" descr="Horizontal row divider">
            <a:extLst>
              <a:ext uri="{FF2B5EF4-FFF2-40B4-BE49-F238E27FC236}">
                <a16:creationId xmlns:a16="http://schemas.microsoft.com/office/drawing/2014/main" id="{C26E1028-C268-DC76-4715-A1C25BD8402C}"/>
              </a:ext>
            </a:extLst>
          </p:cNvPr>
          <p:cNvCxnSpPr/>
          <p:nvPr/>
        </p:nvCxnSpPr>
        <p:spPr bwMode="auto">
          <a:xfrm>
            <a:off x="568325" y="765048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2">
            <a:extLst>
              <a:ext uri="{FF2B5EF4-FFF2-40B4-BE49-F238E27FC236}">
                <a16:creationId xmlns:a16="http://schemas.microsoft.com/office/drawing/2014/main" id="{30F8B27B-85BC-E8D9-4AC1-CCB00256ADA5}"/>
              </a:ext>
            </a:extLst>
          </p:cNvPr>
          <p:cNvSpPr>
            <a:spLocks noGrp="1"/>
          </p:cNvSpPr>
          <p:nvPr>
            <p:ph type="body" sz="quarter" idx="11"/>
          </p:nvPr>
        </p:nvSpPr>
        <p:spPr>
          <a:xfrm>
            <a:off x="576072" y="8211313"/>
            <a:ext cx="10732006" cy="1664208"/>
          </a:xfrm>
        </p:spPr>
        <p:txBody>
          <a:bodyPr/>
          <a:lstStyle/>
          <a:p>
            <a:r>
              <a:rPr lang="en-US" dirty="0"/>
              <a:t>Classification of records should also be considered in accordance with IBM policies (WRM), for IBM or Client owned records.</a:t>
            </a:r>
          </a:p>
          <a:p>
            <a:endParaRPr lang="en-US" dirty="0"/>
          </a:p>
        </p:txBody>
      </p:sp>
      <p:sp>
        <p:nvSpPr>
          <p:cNvPr id="9" name="Text Placeholder 4">
            <a:extLst>
              <a:ext uri="{FF2B5EF4-FFF2-40B4-BE49-F238E27FC236}">
                <a16:creationId xmlns:a16="http://schemas.microsoft.com/office/drawing/2014/main" id="{C16E93F5-C1AF-44EB-C88B-FA61F90A27FD}"/>
              </a:ext>
            </a:extLst>
          </p:cNvPr>
          <p:cNvSpPr txBox="1">
            <a:spLocks/>
          </p:cNvSpPr>
          <p:nvPr/>
        </p:nvSpPr>
        <p:spPr>
          <a:xfrm>
            <a:off x="12767760" y="8221982"/>
            <a:ext cx="10732001" cy="211132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Identification of Records to be retained and their classification should be reflected in each respective Records Matrix.</a:t>
            </a:r>
          </a:p>
        </p:txBody>
      </p:sp>
      <p:pic>
        <p:nvPicPr>
          <p:cNvPr id="10" name="Picture 9" descr="Identity trust assessment, Blue 60 pictogram">
            <a:extLst>
              <a:ext uri="{FF2B5EF4-FFF2-40B4-BE49-F238E27FC236}">
                <a16:creationId xmlns:a16="http://schemas.microsoft.com/office/drawing/2014/main" id="{3BC6FE77-DE11-3F16-749D-DFB1803824B7}"/>
              </a:ext>
            </a:extLst>
          </p:cNvPr>
          <p:cNvPicPr>
            <a:picLocks noChangeAspect="1"/>
          </p:cNvPicPr>
          <p:nvPr/>
        </p:nvPicPr>
        <p:blipFill>
          <a:blip r:embed="rId3"/>
          <a:srcRect/>
          <a:stretch/>
        </p:blipFill>
        <p:spPr>
          <a:xfrm>
            <a:off x="20227716" y="2264415"/>
            <a:ext cx="3328243" cy="3328243"/>
          </a:xfrm>
          <a:prstGeom prst="rect">
            <a:avLst/>
          </a:prstGeom>
        </p:spPr>
      </p:pic>
      <p:sp>
        <p:nvSpPr>
          <p:cNvPr id="11" name="Rectangle 6">
            <a:extLst>
              <a:ext uri="{FF2B5EF4-FFF2-40B4-BE49-F238E27FC236}">
                <a16:creationId xmlns:a16="http://schemas.microsoft.com/office/drawing/2014/main" id="{BEAEE73E-7989-DAD5-65BE-2722AF95E08A}"/>
              </a:ext>
            </a:extLst>
          </p:cNvPr>
          <p:cNvSpPr>
            <a:spLocks noChangeArrowheads="1"/>
          </p:cNvSpPr>
          <p:nvPr/>
        </p:nvSpPr>
        <p:spPr bwMode="auto">
          <a:xfrm>
            <a:off x="10637450" y="3382698"/>
            <a:ext cx="921044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IBM Plex Sans Light"/>
                <a:ea typeface="MS PGothic" panose="020B0600070205080204" pitchFamily="34" charset="-128"/>
                <a:cs typeface="Calibri" panose="020F0502020204030204" pitchFamily="34" charset="0"/>
              </a:rPr>
              <a:t>It is the responsibility of the </a:t>
            </a:r>
            <a:r>
              <a:rPr kumimoji="0" lang="en-US" altLang="en-US" sz="2800" b="1" i="0" u="none" strike="noStrike" kern="1200" cap="none" spc="0" normalizeH="0" baseline="0" noProof="0" dirty="0">
                <a:ln>
                  <a:noFill/>
                </a:ln>
                <a:solidFill>
                  <a:srgbClr val="000000"/>
                </a:solidFill>
                <a:effectLst/>
                <a:uLnTx/>
                <a:uFillTx/>
                <a:latin typeface="IBM Plex Sans Light"/>
                <a:ea typeface="MS PGothic" panose="020B0600070205080204" pitchFamily="34" charset="-128"/>
                <a:cs typeface="Calibri" panose="020F0502020204030204" pitchFamily="34" charset="0"/>
              </a:rPr>
              <a:t>Records Owner</a:t>
            </a:r>
            <a:r>
              <a:rPr kumimoji="0" lang="en-US" altLang="en-US" sz="2800" b="0" i="0" u="none" strike="noStrike" kern="1200" cap="none" spc="0" normalizeH="0" baseline="0" noProof="0" dirty="0">
                <a:ln>
                  <a:noFill/>
                </a:ln>
                <a:solidFill>
                  <a:srgbClr val="000000"/>
                </a:solidFill>
                <a:effectLst/>
                <a:uLnTx/>
                <a:uFillTx/>
                <a:latin typeface="IBM Plex Sans Light"/>
                <a:ea typeface="MS PGothic" panose="020B0600070205080204" pitchFamily="34" charset="-128"/>
                <a:cs typeface="Calibri" panose="020F0502020204030204" pitchFamily="34" charset="0"/>
              </a:rPr>
              <a:t> to identify which records are to be retained.  This may be based on how records are classified in accordance with IBM or Client Requirements.</a:t>
            </a:r>
            <a:endParaRPr kumimoji="0" lang="en-US" altLang="en-US" sz="2800" b="1" i="0" u="none" strike="noStrike" kern="1200" cap="none" spc="0" normalizeH="0" baseline="0" noProof="0" dirty="0">
              <a:ln>
                <a:noFill/>
              </a:ln>
              <a:solidFill>
                <a:srgbClr val="000000"/>
              </a:solidFill>
              <a:effectLst/>
              <a:uLnTx/>
              <a:uFillTx/>
              <a:latin typeface="IBM Plex Sans Light"/>
              <a:ea typeface="MS PGothic" panose="020B0600070205080204" pitchFamily="34" charset="-128"/>
              <a:cs typeface="Calibri" panose="020F0502020204030204" pitchFamily="34" charset="0"/>
            </a:endParaRPr>
          </a:p>
        </p:txBody>
      </p:sp>
      <p:cxnSp>
        <p:nvCxnSpPr>
          <p:cNvPr id="12" name="Straight Connector 11" descr="Vertical column divider">
            <a:extLst>
              <a:ext uri="{FF2B5EF4-FFF2-40B4-BE49-F238E27FC236}">
                <a16:creationId xmlns:a16="http://schemas.microsoft.com/office/drawing/2014/main" id="{31154EFA-7BEC-5CC1-B762-546C134280F1}"/>
              </a:ext>
            </a:extLst>
          </p:cNvPr>
          <p:cNvCxnSpPr>
            <a:cxnSpLocks/>
          </p:cNvCxnSpPr>
          <p:nvPr/>
        </p:nvCxnSpPr>
        <p:spPr bwMode="auto">
          <a:xfrm>
            <a:off x="12188952" y="7650480"/>
            <a:ext cx="0" cy="43392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54899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3EE35C-A590-9C5E-D7E9-AF34FFF0B026}"/>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7A2AFB48-CE34-1B68-4D8C-FF9ABDA89ACB}"/>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16" name="Title 1">
            <a:extLst>
              <a:ext uri="{FF2B5EF4-FFF2-40B4-BE49-F238E27FC236}">
                <a16:creationId xmlns:a16="http://schemas.microsoft.com/office/drawing/2014/main" id="{B0CD6708-F624-231D-413A-E55FDF8AB353}"/>
              </a:ext>
            </a:extLst>
          </p:cNvPr>
          <p:cNvSpPr>
            <a:spLocks noGrp="1"/>
          </p:cNvSpPr>
          <p:nvPr>
            <p:ph type="title"/>
          </p:nvPr>
        </p:nvSpPr>
        <p:spPr>
          <a:xfrm>
            <a:off x="576072" y="384049"/>
            <a:ext cx="22979887" cy="1319534"/>
          </a:xfrm>
        </p:spPr>
        <p:txBody>
          <a:bodyPr/>
          <a:lstStyle/>
          <a:p>
            <a:r>
              <a:rPr lang="en-US" dirty="0">
                <a:solidFill>
                  <a:schemeClr val="accent1"/>
                </a:solidFill>
              </a:rPr>
              <a:t>Records Custodian</a:t>
            </a:r>
            <a:br>
              <a:rPr lang="en-US" dirty="0">
                <a:solidFill>
                  <a:schemeClr val="accent1"/>
                </a:solidFill>
              </a:rPr>
            </a:br>
            <a:r>
              <a:rPr lang="en-US" sz="4400" dirty="0">
                <a:solidFill>
                  <a:schemeClr val="accent1"/>
                </a:solidFill>
              </a:rPr>
              <a:t>- Identification of storage location</a:t>
            </a:r>
            <a:endParaRPr lang="en-US" dirty="0">
              <a:solidFill>
                <a:schemeClr val="accent1"/>
              </a:solidFill>
            </a:endParaRPr>
          </a:p>
        </p:txBody>
      </p:sp>
      <p:cxnSp>
        <p:nvCxnSpPr>
          <p:cNvPr id="17" name="Straight Connector 16" descr="Horizontal row divider">
            <a:extLst>
              <a:ext uri="{FF2B5EF4-FFF2-40B4-BE49-F238E27FC236}">
                <a16:creationId xmlns:a16="http://schemas.microsoft.com/office/drawing/2014/main" id="{6A6C9903-4CBE-023D-D8FF-E84EC42186B2}"/>
              </a:ext>
            </a:extLst>
          </p:cNvPr>
          <p:cNvCxnSpPr/>
          <p:nvPr/>
        </p:nvCxnSpPr>
        <p:spPr bwMode="auto">
          <a:xfrm>
            <a:off x="568325" y="649224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8" name="Picture 17" descr="Identity trust assessment, Blue 60 pictogram">
            <a:extLst>
              <a:ext uri="{FF2B5EF4-FFF2-40B4-BE49-F238E27FC236}">
                <a16:creationId xmlns:a16="http://schemas.microsoft.com/office/drawing/2014/main" id="{BD4E7669-7152-178D-8312-27A08B59D1D2}"/>
              </a:ext>
            </a:extLst>
          </p:cNvPr>
          <p:cNvPicPr>
            <a:picLocks noChangeAspect="1"/>
          </p:cNvPicPr>
          <p:nvPr/>
        </p:nvPicPr>
        <p:blipFill>
          <a:blip r:embed="rId3"/>
          <a:srcRect/>
          <a:stretch/>
        </p:blipFill>
        <p:spPr>
          <a:xfrm>
            <a:off x="20227716" y="1931903"/>
            <a:ext cx="3328243" cy="3328243"/>
          </a:xfrm>
          <a:prstGeom prst="rect">
            <a:avLst/>
          </a:prstGeom>
        </p:spPr>
      </p:pic>
      <p:sp>
        <p:nvSpPr>
          <p:cNvPr id="19" name="Rectangle 6">
            <a:extLst>
              <a:ext uri="{FF2B5EF4-FFF2-40B4-BE49-F238E27FC236}">
                <a16:creationId xmlns:a16="http://schemas.microsoft.com/office/drawing/2014/main" id="{C5B8F312-C42F-E4DD-5D61-6C7F5920AB64}"/>
              </a:ext>
            </a:extLst>
          </p:cNvPr>
          <p:cNvSpPr>
            <a:spLocks noChangeArrowheads="1"/>
          </p:cNvSpPr>
          <p:nvPr/>
        </p:nvSpPr>
        <p:spPr bwMode="auto">
          <a:xfrm>
            <a:off x="10637450" y="3050186"/>
            <a:ext cx="921044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r>
              <a:rPr lang="en-US" altLang="en-US" sz="2800" b="0" dirty="0">
                <a:solidFill>
                  <a:srgbClr val="000000"/>
                </a:solidFill>
                <a:latin typeface="+mj-lt"/>
              </a:rPr>
              <a:t>It is the responsibility of </a:t>
            </a:r>
            <a:r>
              <a:rPr lang="en-US" altLang="en-US" sz="2800" dirty="0">
                <a:solidFill>
                  <a:srgbClr val="000000"/>
                </a:solidFill>
                <a:latin typeface="+mj-lt"/>
              </a:rPr>
              <a:t>Records Custodian </a:t>
            </a:r>
            <a:r>
              <a:rPr lang="en-US" altLang="en-US" sz="2800" b="0" dirty="0">
                <a:latin typeface="+mj-lt"/>
              </a:rPr>
              <a:t>select a location, media type and format that is appropriate to the records being retained.  This should include arrangements as to how they will be protected and eventually retrieved. </a:t>
            </a:r>
            <a:endParaRPr lang="en-US" altLang="en-US" sz="2800" dirty="0">
              <a:latin typeface="+mj-lt"/>
            </a:endParaRPr>
          </a:p>
        </p:txBody>
      </p:sp>
      <p:grpSp>
        <p:nvGrpSpPr>
          <p:cNvPr id="20" name="Group 19">
            <a:extLst>
              <a:ext uri="{FF2B5EF4-FFF2-40B4-BE49-F238E27FC236}">
                <a16:creationId xmlns:a16="http://schemas.microsoft.com/office/drawing/2014/main" id="{A5041761-EF2E-77CD-1E66-76E3582BB178}"/>
              </a:ext>
            </a:extLst>
          </p:cNvPr>
          <p:cNvGrpSpPr/>
          <p:nvPr/>
        </p:nvGrpSpPr>
        <p:grpSpPr>
          <a:xfrm>
            <a:off x="959307" y="7210995"/>
            <a:ext cx="22340109" cy="5133355"/>
            <a:chOff x="1963822" y="3231433"/>
            <a:chExt cx="8018378" cy="2301760"/>
          </a:xfrm>
        </p:grpSpPr>
        <p:sp>
          <p:nvSpPr>
            <p:cNvPr id="21" name="Rectangle 20">
              <a:extLst>
                <a:ext uri="{FF2B5EF4-FFF2-40B4-BE49-F238E27FC236}">
                  <a16:creationId xmlns:a16="http://schemas.microsoft.com/office/drawing/2014/main" id="{FD8A7A35-61EE-4193-6881-EEA604A38819}"/>
                </a:ext>
              </a:extLst>
            </p:cNvPr>
            <p:cNvSpPr/>
            <p:nvPr/>
          </p:nvSpPr>
          <p:spPr>
            <a:xfrm>
              <a:off x="1963822" y="3238176"/>
              <a:ext cx="2057400" cy="1313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Type of Storage</a:t>
              </a:r>
            </a:p>
          </p:txBody>
        </p:sp>
        <p:sp>
          <p:nvSpPr>
            <p:cNvPr id="22" name="Rectangle 21">
              <a:extLst>
                <a:ext uri="{FF2B5EF4-FFF2-40B4-BE49-F238E27FC236}">
                  <a16:creationId xmlns:a16="http://schemas.microsoft.com/office/drawing/2014/main" id="{B0EAC2D7-25A0-716C-07F6-D75B129AA107}"/>
                </a:ext>
              </a:extLst>
            </p:cNvPr>
            <p:cNvSpPr/>
            <p:nvPr/>
          </p:nvSpPr>
          <p:spPr>
            <a:xfrm>
              <a:off x="1963822" y="4567993"/>
              <a:ext cx="2057400" cy="965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Characteristics</a:t>
              </a:r>
            </a:p>
          </p:txBody>
        </p:sp>
        <p:sp>
          <p:nvSpPr>
            <p:cNvPr id="23" name="Rectangle 22">
              <a:extLst>
                <a:ext uri="{FF2B5EF4-FFF2-40B4-BE49-F238E27FC236}">
                  <a16:creationId xmlns:a16="http://schemas.microsoft.com/office/drawing/2014/main" id="{0C0CECA4-5F0B-1C14-9139-F3AC1C532BBB}"/>
                </a:ext>
              </a:extLst>
            </p:cNvPr>
            <p:cNvSpPr/>
            <p:nvPr/>
          </p:nvSpPr>
          <p:spPr>
            <a:xfrm>
              <a:off x="4021222" y="3238176"/>
              <a:ext cx="3405103" cy="360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Onsite</a:t>
              </a:r>
            </a:p>
          </p:txBody>
        </p:sp>
        <p:sp>
          <p:nvSpPr>
            <p:cNvPr id="24" name="Rectangle 23">
              <a:extLst>
                <a:ext uri="{FF2B5EF4-FFF2-40B4-BE49-F238E27FC236}">
                  <a16:creationId xmlns:a16="http://schemas.microsoft.com/office/drawing/2014/main" id="{064F9BA8-CAFD-9C7A-2928-60AFF1370A23}"/>
                </a:ext>
              </a:extLst>
            </p:cNvPr>
            <p:cNvSpPr/>
            <p:nvPr/>
          </p:nvSpPr>
          <p:spPr>
            <a:xfrm>
              <a:off x="4021223" y="3600623"/>
              <a:ext cx="1648576" cy="2993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Physical</a:t>
              </a:r>
            </a:p>
          </p:txBody>
        </p:sp>
        <p:sp>
          <p:nvSpPr>
            <p:cNvPr id="25" name="Rectangle 24">
              <a:extLst>
                <a:ext uri="{FF2B5EF4-FFF2-40B4-BE49-F238E27FC236}">
                  <a16:creationId xmlns:a16="http://schemas.microsoft.com/office/drawing/2014/main" id="{D00AD7F4-8864-C13E-EEDB-C384FF8B6140}"/>
                </a:ext>
              </a:extLst>
            </p:cNvPr>
            <p:cNvSpPr/>
            <p:nvPr/>
          </p:nvSpPr>
          <p:spPr>
            <a:xfrm>
              <a:off x="5669799" y="3601967"/>
              <a:ext cx="1756526" cy="29938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Electronic</a:t>
              </a:r>
            </a:p>
          </p:txBody>
        </p:sp>
        <p:sp>
          <p:nvSpPr>
            <p:cNvPr id="26" name="Rectangle 25">
              <a:extLst>
                <a:ext uri="{FF2B5EF4-FFF2-40B4-BE49-F238E27FC236}">
                  <a16:creationId xmlns:a16="http://schemas.microsoft.com/office/drawing/2014/main" id="{5C0E1B17-915A-AC10-3E7A-506238C2658B}"/>
                </a:ext>
              </a:extLst>
            </p:cNvPr>
            <p:cNvSpPr/>
            <p:nvPr/>
          </p:nvSpPr>
          <p:spPr>
            <a:xfrm>
              <a:off x="4021222" y="3910491"/>
              <a:ext cx="1648577" cy="65593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800" dirty="0">
                  <a:solidFill>
                    <a:schemeClr val="tx1"/>
                  </a:solidFill>
                  <a:latin typeface="+mj-lt"/>
                </a:rPr>
                <a:t>Lateral Cabinets</a:t>
              </a:r>
            </a:p>
            <a:p>
              <a:pPr marL="285750" indent="-285750">
                <a:buFont typeface="Arial" panose="020B0604020202020204" pitchFamily="34" charset="0"/>
                <a:buChar char="•"/>
              </a:pPr>
              <a:r>
                <a:rPr lang="en-US" sz="1800" dirty="0">
                  <a:solidFill>
                    <a:schemeClr val="tx1"/>
                  </a:solidFill>
                  <a:latin typeface="+mj-lt"/>
                </a:rPr>
                <a:t>Lockers</a:t>
              </a:r>
            </a:p>
            <a:p>
              <a:pPr marL="285750" indent="-285750">
                <a:buFont typeface="Arial" panose="020B0604020202020204" pitchFamily="34" charset="0"/>
                <a:buChar char="•"/>
              </a:pPr>
              <a:r>
                <a:rPr lang="en-US" sz="1800" dirty="0">
                  <a:solidFill>
                    <a:schemeClr val="tx1"/>
                  </a:solidFill>
                  <a:latin typeface="+mj-lt"/>
                </a:rPr>
                <a:t>Mobile pedestals</a:t>
              </a:r>
            </a:p>
            <a:p>
              <a:pPr marL="285750" indent="-285750">
                <a:buFont typeface="Arial" panose="020B0604020202020204" pitchFamily="34" charset="0"/>
                <a:buChar char="•"/>
              </a:pPr>
              <a:r>
                <a:rPr lang="en-US" sz="1800" dirty="0">
                  <a:solidFill>
                    <a:schemeClr val="tx1"/>
                  </a:solidFill>
                  <a:latin typeface="+mj-lt"/>
                </a:rPr>
                <a:t>Boxes</a:t>
              </a:r>
            </a:p>
          </p:txBody>
        </p:sp>
        <p:sp>
          <p:nvSpPr>
            <p:cNvPr id="27" name="Rectangle 26">
              <a:extLst>
                <a:ext uri="{FF2B5EF4-FFF2-40B4-BE49-F238E27FC236}">
                  <a16:creationId xmlns:a16="http://schemas.microsoft.com/office/drawing/2014/main" id="{EE19DC6C-E817-6BB6-1891-1D90555C8DA7}"/>
                </a:ext>
              </a:extLst>
            </p:cNvPr>
            <p:cNvSpPr/>
            <p:nvPr/>
          </p:nvSpPr>
          <p:spPr>
            <a:xfrm>
              <a:off x="5669798" y="3910491"/>
              <a:ext cx="1756527" cy="65593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latin typeface="+mj-lt"/>
                </a:rPr>
                <a:t>Database or Tools like Cobee Lite.</a:t>
              </a:r>
            </a:p>
          </p:txBody>
        </p:sp>
        <p:sp>
          <p:nvSpPr>
            <p:cNvPr id="28" name="Rectangle 27">
              <a:extLst>
                <a:ext uri="{FF2B5EF4-FFF2-40B4-BE49-F238E27FC236}">
                  <a16:creationId xmlns:a16="http://schemas.microsoft.com/office/drawing/2014/main" id="{E7C27A82-E0B4-C8D8-D0F9-D62DC1B1A05E}"/>
                </a:ext>
              </a:extLst>
            </p:cNvPr>
            <p:cNvSpPr/>
            <p:nvPr/>
          </p:nvSpPr>
          <p:spPr>
            <a:xfrm>
              <a:off x="4021221" y="4567993"/>
              <a:ext cx="1648577" cy="96362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latin typeface="+mj-lt"/>
                </a:rPr>
                <a:t>Documents should have labels including actual filenames, record series codes, and retention dates.</a:t>
              </a:r>
            </a:p>
          </p:txBody>
        </p:sp>
        <p:sp>
          <p:nvSpPr>
            <p:cNvPr id="29" name="Rectangle 28">
              <a:extLst>
                <a:ext uri="{FF2B5EF4-FFF2-40B4-BE49-F238E27FC236}">
                  <a16:creationId xmlns:a16="http://schemas.microsoft.com/office/drawing/2014/main" id="{24575670-2C0C-02C9-C913-2A188F682C9C}"/>
                </a:ext>
              </a:extLst>
            </p:cNvPr>
            <p:cNvSpPr/>
            <p:nvPr/>
          </p:nvSpPr>
          <p:spPr>
            <a:xfrm>
              <a:off x="5669798" y="4571265"/>
              <a:ext cx="1756527" cy="961927"/>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latin typeface="+mj-lt"/>
                </a:rPr>
                <a:t>Document labels should be included in the report extracted from the tool.</a:t>
              </a:r>
            </a:p>
          </p:txBody>
        </p:sp>
        <p:sp>
          <p:nvSpPr>
            <p:cNvPr id="30" name="Rectangle 29">
              <a:extLst>
                <a:ext uri="{FF2B5EF4-FFF2-40B4-BE49-F238E27FC236}">
                  <a16:creationId xmlns:a16="http://schemas.microsoft.com/office/drawing/2014/main" id="{6A692A51-7917-D63B-9158-204228E06D66}"/>
                </a:ext>
              </a:extLst>
            </p:cNvPr>
            <p:cNvSpPr/>
            <p:nvPr/>
          </p:nvSpPr>
          <p:spPr>
            <a:xfrm>
              <a:off x="7426325" y="3231433"/>
              <a:ext cx="2555875" cy="360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Offsite</a:t>
              </a:r>
            </a:p>
          </p:txBody>
        </p:sp>
        <p:sp>
          <p:nvSpPr>
            <p:cNvPr id="31" name="Rectangle 30">
              <a:extLst>
                <a:ext uri="{FF2B5EF4-FFF2-40B4-BE49-F238E27FC236}">
                  <a16:creationId xmlns:a16="http://schemas.microsoft.com/office/drawing/2014/main" id="{2D8FF020-07C2-EA0E-2AF2-D16709235EFC}"/>
                </a:ext>
              </a:extLst>
            </p:cNvPr>
            <p:cNvSpPr/>
            <p:nvPr/>
          </p:nvSpPr>
          <p:spPr>
            <a:xfrm>
              <a:off x="7426325" y="3599065"/>
              <a:ext cx="2555874" cy="29938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Physical</a:t>
              </a:r>
            </a:p>
          </p:txBody>
        </p:sp>
        <p:sp>
          <p:nvSpPr>
            <p:cNvPr id="32" name="Rectangle 31">
              <a:extLst>
                <a:ext uri="{FF2B5EF4-FFF2-40B4-BE49-F238E27FC236}">
                  <a16:creationId xmlns:a16="http://schemas.microsoft.com/office/drawing/2014/main" id="{99A8DBD3-A38F-215C-098A-D2B7A51A7688}"/>
                </a:ext>
              </a:extLst>
            </p:cNvPr>
            <p:cNvSpPr/>
            <p:nvPr/>
          </p:nvSpPr>
          <p:spPr>
            <a:xfrm>
              <a:off x="7426325" y="3898211"/>
              <a:ext cx="2555874" cy="66821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latin typeface="+mj-lt"/>
                </a:rPr>
                <a:t>Offsite Storage and Archiving should be coordinated with GRE Team. </a:t>
              </a:r>
            </a:p>
          </p:txBody>
        </p:sp>
        <p:sp>
          <p:nvSpPr>
            <p:cNvPr id="33" name="Rectangle 32">
              <a:extLst>
                <a:ext uri="{FF2B5EF4-FFF2-40B4-BE49-F238E27FC236}">
                  <a16:creationId xmlns:a16="http://schemas.microsoft.com/office/drawing/2014/main" id="{66C9570D-8B9A-71C1-468E-BE7958832779}"/>
                </a:ext>
              </a:extLst>
            </p:cNvPr>
            <p:cNvSpPr/>
            <p:nvPr/>
          </p:nvSpPr>
          <p:spPr>
            <a:xfrm>
              <a:off x="7426325" y="4569525"/>
              <a:ext cx="2555874" cy="96192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solidFill>
                  <a:latin typeface="+mj-lt"/>
                </a:rPr>
                <a:t>Offsite Storage should be coordinated with the GRE Team. </a:t>
              </a:r>
            </a:p>
          </p:txBody>
        </p:sp>
      </p:grpSp>
    </p:spTree>
    <p:extLst>
      <p:ext uri="{BB962C8B-B14F-4D97-AF65-F5344CB8AC3E}">
        <p14:creationId xmlns:p14="http://schemas.microsoft.com/office/powerpoint/2010/main" val="218249626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0929-4D92-BAC1-56BD-0A19948BCE6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F142210-30F2-C18F-5256-993A02079410}"/>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21FC914B-07FB-E9C1-E1A2-08F59EEC27BE}"/>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Title 1">
            <a:extLst>
              <a:ext uri="{FF2B5EF4-FFF2-40B4-BE49-F238E27FC236}">
                <a16:creationId xmlns:a16="http://schemas.microsoft.com/office/drawing/2014/main" id="{0852B174-AE04-CE06-18A2-8CFF273C1B31}"/>
              </a:ext>
            </a:extLst>
          </p:cNvPr>
          <p:cNvSpPr>
            <a:spLocks noGrp="1"/>
          </p:cNvSpPr>
          <p:nvPr>
            <p:ph type="title"/>
          </p:nvPr>
        </p:nvSpPr>
        <p:spPr>
          <a:xfrm>
            <a:off x="576072" y="384049"/>
            <a:ext cx="22979887" cy="1319534"/>
          </a:xfrm>
        </p:spPr>
        <p:txBody>
          <a:bodyPr/>
          <a:lstStyle/>
          <a:p>
            <a:r>
              <a:rPr lang="en-US" dirty="0">
                <a:solidFill>
                  <a:schemeClr val="accent1"/>
                </a:solidFill>
              </a:rPr>
              <a:t>Records Custodian</a:t>
            </a:r>
            <a:br>
              <a:rPr lang="en-US" dirty="0">
                <a:solidFill>
                  <a:schemeClr val="accent1"/>
                </a:solidFill>
              </a:rPr>
            </a:br>
            <a:r>
              <a:rPr lang="en-US" sz="4800" dirty="0">
                <a:solidFill>
                  <a:schemeClr val="accent1"/>
                </a:solidFill>
              </a:rPr>
              <a:t>- Organization of records</a:t>
            </a:r>
            <a:endParaRPr lang="en-US" dirty="0">
              <a:solidFill>
                <a:schemeClr val="accent1"/>
              </a:solidFill>
            </a:endParaRPr>
          </a:p>
        </p:txBody>
      </p:sp>
      <p:cxnSp>
        <p:nvCxnSpPr>
          <p:cNvPr id="3" name="Straight Connector 2" descr="Horizontal row divider">
            <a:extLst>
              <a:ext uri="{FF2B5EF4-FFF2-40B4-BE49-F238E27FC236}">
                <a16:creationId xmlns:a16="http://schemas.microsoft.com/office/drawing/2014/main" id="{97904E5B-F181-5A89-D0A8-33DD617E8C4D}"/>
              </a:ext>
            </a:extLst>
          </p:cNvPr>
          <p:cNvCxnSpPr/>
          <p:nvPr/>
        </p:nvCxnSpPr>
        <p:spPr bwMode="auto">
          <a:xfrm>
            <a:off x="568325" y="649224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4" name="Picture 3" descr="Identity trust assessment, Blue 60 pictogram">
            <a:extLst>
              <a:ext uri="{FF2B5EF4-FFF2-40B4-BE49-F238E27FC236}">
                <a16:creationId xmlns:a16="http://schemas.microsoft.com/office/drawing/2014/main" id="{F97A8190-3938-D5E4-17C8-C75CFF96A7C2}"/>
              </a:ext>
            </a:extLst>
          </p:cNvPr>
          <p:cNvPicPr>
            <a:picLocks noChangeAspect="1"/>
          </p:cNvPicPr>
          <p:nvPr/>
        </p:nvPicPr>
        <p:blipFill>
          <a:blip r:embed="rId3"/>
          <a:srcRect/>
          <a:stretch/>
        </p:blipFill>
        <p:spPr>
          <a:xfrm>
            <a:off x="20227716" y="1931903"/>
            <a:ext cx="3328243" cy="3328243"/>
          </a:xfrm>
          <a:prstGeom prst="rect">
            <a:avLst/>
          </a:prstGeom>
        </p:spPr>
      </p:pic>
      <p:sp>
        <p:nvSpPr>
          <p:cNvPr id="7" name="Rectangle 6">
            <a:extLst>
              <a:ext uri="{FF2B5EF4-FFF2-40B4-BE49-F238E27FC236}">
                <a16:creationId xmlns:a16="http://schemas.microsoft.com/office/drawing/2014/main" id="{459410C4-EE48-7FBC-559B-48F0491C20E3}"/>
              </a:ext>
            </a:extLst>
          </p:cNvPr>
          <p:cNvSpPr>
            <a:spLocks noChangeArrowheads="1"/>
          </p:cNvSpPr>
          <p:nvPr/>
        </p:nvSpPr>
        <p:spPr bwMode="auto">
          <a:xfrm>
            <a:off x="10637450" y="3050186"/>
            <a:ext cx="92104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r>
              <a:rPr lang="en-US" altLang="en-US" sz="2800" b="0" dirty="0">
                <a:solidFill>
                  <a:srgbClr val="000000"/>
                </a:solidFill>
                <a:latin typeface="+mj-lt"/>
              </a:rPr>
              <a:t>It is the responsibility of </a:t>
            </a:r>
            <a:r>
              <a:rPr lang="en-US" altLang="en-US" sz="2800" dirty="0">
                <a:solidFill>
                  <a:srgbClr val="000000"/>
                </a:solidFill>
                <a:latin typeface="+mj-lt"/>
              </a:rPr>
              <a:t>Records Custodian </a:t>
            </a:r>
            <a:r>
              <a:rPr lang="en-US" altLang="en-US" sz="2800" b="0" dirty="0">
                <a:solidFill>
                  <a:srgbClr val="000000"/>
                </a:solidFill>
                <a:latin typeface="+mj-lt"/>
              </a:rPr>
              <a:t>to </a:t>
            </a:r>
            <a:r>
              <a:rPr lang="en-US" altLang="en-US" sz="2800" b="0" dirty="0">
                <a:latin typeface="+mj-lt"/>
              </a:rPr>
              <a:t>organize the records in the manner that will allow them to identify and retrieve records effectively and efficiently.</a:t>
            </a:r>
            <a:endParaRPr lang="en-US" altLang="en-US" sz="2800" dirty="0">
              <a:latin typeface="+mj-lt"/>
            </a:endParaRPr>
          </a:p>
        </p:txBody>
      </p:sp>
      <p:sp>
        <p:nvSpPr>
          <p:cNvPr id="8" name="Rectangle 6">
            <a:extLst>
              <a:ext uri="{FF2B5EF4-FFF2-40B4-BE49-F238E27FC236}">
                <a16:creationId xmlns:a16="http://schemas.microsoft.com/office/drawing/2014/main" id="{605799D6-03DA-5D4A-57D2-80D9C3F545A2}"/>
              </a:ext>
            </a:extLst>
          </p:cNvPr>
          <p:cNvSpPr>
            <a:spLocks noChangeArrowheads="1"/>
          </p:cNvSpPr>
          <p:nvPr/>
        </p:nvSpPr>
        <p:spPr bwMode="auto">
          <a:xfrm>
            <a:off x="4936097" y="7259159"/>
            <a:ext cx="145086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algn="ctr"/>
            <a:r>
              <a:rPr lang="en-US" altLang="en-US" sz="2800" dirty="0">
                <a:solidFill>
                  <a:srgbClr val="000000"/>
                </a:solidFill>
                <a:latin typeface="+mj-lt"/>
              </a:rPr>
              <a:t>A label is considered accurate if it has the following basic information:</a:t>
            </a:r>
            <a:endParaRPr lang="en-US" altLang="en-US" sz="2800" dirty="0">
              <a:latin typeface="+mj-lt"/>
            </a:endParaRPr>
          </a:p>
        </p:txBody>
      </p:sp>
      <p:sp>
        <p:nvSpPr>
          <p:cNvPr id="9" name="Snip Single Corner Rectangle 11">
            <a:extLst>
              <a:ext uri="{FF2B5EF4-FFF2-40B4-BE49-F238E27FC236}">
                <a16:creationId xmlns:a16="http://schemas.microsoft.com/office/drawing/2014/main" id="{5ADC25EE-E89E-38C6-AF15-046305F9F604}"/>
              </a:ext>
            </a:extLst>
          </p:cNvPr>
          <p:cNvSpPr/>
          <p:nvPr/>
        </p:nvSpPr>
        <p:spPr bwMode="auto">
          <a:xfrm>
            <a:off x="738168" y="8549300"/>
            <a:ext cx="3948546" cy="3636891"/>
          </a:xfrm>
          <a:prstGeom prst="snip1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tx1"/>
                </a:solidFill>
                <a:effectLst/>
                <a:latin typeface="+mj-lt"/>
              </a:rPr>
              <a:t>Record Code</a:t>
            </a:r>
          </a:p>
        </p:txBody>
      </p:sp>
      <p:sp>
        <p:nvSpPr>
          <p:cNvPr id="10" name="Snip Single Corner Rectangle 31">
            <a:extLst>
              <a:ext uri="{FF2B5EF4-FFF2-40B4-BE49-F238E27FC236}">
                <a16:creationId xmlns:a16="http://schemas.microsoft.com/office/drawing/2014/main" id="{E4F78CBC-576A-5CE3-8C6B-BD06B7A2CCA9}"/>
              </a:ext>
            </a:extLst>
          </p:cNvPr>
          <p:cNvSpPr/>
          <p:nvPr/>
        </p:nvSpPr>
        <p:spPr bwMode="auto">
          <a:xfrm>
            <a:off x="5504132" y="8549300"/>
            <a:ext cx="3948546" cy="3636891"/>
          </a:xfrm>
          <a:prstGeom prst="snip1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tx1"/>
                </a:solidFill>
                <a:effectLst/>
                <a:latin typeface="+mj-lt"/>
              </a:rPr>
              <a:t>Filename</a:t>
            </a:r>
          </a:p>
        </p:txBody>
      </p:sp>
      <p:sp>
        <p:nvSpPr>
          <p:cNvPr id="11" name="Snip Single Corner Rectangle 32">
            <a:extLst>
              <a:ext uri="{FF2B5EF4-FFF2-40B4-BE49-F238E27FC236}">
                <a16:creationId xmlns:a16="http://schemas.microsoft.com/office/drawing/2014/main" id="{259CE009-583B-3EDC-0EDD-750D1E01E048}"/>
              </a:ext>
            </a:extLst>
          </p:cNvPr>
          <p:cNvSpPr/>
          <p:nvPr/>
        </p:nvSpPr>
        <p:spPr bwMode="auto">
          <a:xfrm>
            <a:off x="10270096" y="8549300"/>
            <a:ext cx="3948546" cy="3636891"/>
          </a:xfrm>
          <a:prstGeom prst="snip1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tx1"/>
                </a:solidFill>
                <a:effectLst/>
                <a:latin typeface="+mj-lt"/>
              </a:rPr>
              <a:t>Coverage Date</a:t>
            </a:r>
          </a:p>
        </p:txBody>
      </p:sp>
      <p:sp>
        <p:nvSpPr>
          <p:cNvPr id="12" name="Snip Single Corner Rectangle 33">
            <a:extLst>
              <a:ext uri="{FF2B5EF4-FFF2-40B4-BE49-F238E27FC236}">
                <a16:creationId xmlns:a16="http://schemas.microsoft.com/office/drawing/2014/main" id="{AD3866C7-F05B-BB06-07D6-3ACD3C7A4A52}"/>
              </a:ext>
            </a:extLst>
          </p:cNvPr>
          <p:cNvSpPr/>
          <p:nvPr/>
        </p:nvSpPr>
        <p:spPr bwMode="auto">
          <a:xfrm>
            <a:off x="15036060" y="8549299"/>
            <a:ext cx="3948546" cy="3636891"/>
          </a:xfrm>
          <a:prstGeom prst="snip1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tx1"/>
                </a:solidFill>
                <a:effectLst/>
                <a:latin typeface="+mj-lt"/>
              </a:rPr>
              <a:t>Computed end of retention period</a:t>
            </a:r>
          </a:p>
        </p:txBody>
      </p:sp>
      <p:sp>
        <p:nvSpPr>
          <p:cNvPr id="13" name="Snip Single Corner Rectangle 35">
            <a:extLst>
              <a:ext uri="{FF2B5EF4-FFF2-40B4-BE49-F238E27FC236}">
                <a16:creationId xmlns:a16="http://schemas.microsoft.com/office/drawing/2014/main" id="{49E2C657-5BE5-5701-73BA-F028248A0970}"/>
              </a:ext>
            </a:extLst>
          </p:cNvPr>
          <p:cNvSpPr/>
          <p:nvPr/>
        </p:nvSpPr>
        <p:spPr bwMode="auto">
          <a:xfrm>
            <a:off x="19802024" y="8549298"/>
            <a:ext cx="3948546" cy="3636891"/>
          </a:xfrm>
          <a:prstGeom prst="snip1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tx1"/>
                </a:solidFill>
                <a:effectLst/>
                <a:latin typeface="+mj-lt"/>
              </a:rPr>
              <a:t>Data Classification</a:t>
            </a:r>
          </a:p>
        </p:txBody>
      </p:sp>
    </p:spTree>
    <p:extLst>
      <p:ext uri="{BB962C8B-B14F-4D97-AF65-F5344CB8AC3E}">
        <p14:creationId xmlns:p14="http://schemas.microsoft.com/office/powerpoint/2010/main" val="42115874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1D113-CBCC-181C-A1AA-0D08E632C9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FCA6BE-AF5B-3F0E-CC78-F2842A692277}"/>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879E1811-8B96-514D-E78C-02EA219537DA}"/>
              </a:ext>
            </a:extLst>
          </p:cNvPr>
          <p:cNvSpPr>
            <a:spLocks noGrp="1"/>
          </p:cNvSpPr>
          <p:nvPr>
            <p:ph type="title"/>
          </p:nvPr>
        </p:nvSpPr>
        <p:spPr>
          <a:xfrm>
            <a:off x="576000" y="384048"/>
            <a:ext cx="11036491" cy="2663825"/>
          </a:xfrm>
        </p:spPr>
        <p:txBody>
          <a:bodyPr/>
          <a:lstStyle/>
          <a:p>
            <a:r>
              <a:rPr lang="en-US" dirty="0"/>
              <a:t>Labeling of Records</a:t>
            </a:r>
          </a:p>
        </p:txBody>
      </p:sp>
    </p:spTree>
    <p:extLst>
      <p:ext uri="{BB962C8B-B14F-4D97-AF65-F5344CB8AC3E}">
        <p14:creationId xmlns:p14="http://schemas.microsoft.com/office/powerpoint/2010/main" val="334438470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5BC4-6952-8450-D1BC-5910A85C472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42F77A8-41AE-31A7-946F-53985B0128A8}"/>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2D92B9A0-C93A-1226-3793-1D2E5B3472FF}"/>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Title 1">
            <a:extLst>
              <a:ext uri="{FF2B5EF4-FFF2-40B4-BE49-F238E27FC236}">
                <a16:creationId xmlns:a16="http://schemas.microsoft.com/office/drawing/2014/main" id="{C7DAB29F-A1B1-87F0-24C1-4695B7DF76F6}"/>
              </a:ext>
            </a:extLst>
          </p:cNvPr>
          <p:cNvSpPr>
            <a:spLocks noGrp="1"/>
          </p:cNvSpPr>
          <p:nvPr>
            <p:ph type="title"/>
          </p:nvPr>
        </p:nvSpPr>
        <p:spPr>
          <a:xfrm>
            <a:off x="409818" y="885845"/>
            <a:ext cx="22979887" cy="1319534"/>
          </a:xfrm>
        </p:spPr>
        <p:txBody>
          <a:bodyPr/>
          <a:lstStyle/>
          <a:p>
            <a:r>
              <a:rPr lang="en-US" dirty="0">
                <a:solidFill>
                  <a:schemeClr val="tx1"/>
                </a:solidFill>
              </a:rPr>
              <a:t>Electronic Records Labeling</a:t>
            </a:r>
          </a:p>
        </p:txBody>
      </p:sp>
      <p:sp>
        <p:nvSpPr>
          <p:cNvPr id="3" name="Text Placeholder 2">
            <a:extLst>
              <a:ext uri="{FF2B5EF4-FFF2-40B4-BE49-F238E27FC236}">
                <a16:creationId xmlns:a16="http://schemas.microsoft.com/office/drawing/2014/main" id="{F23764F4-B9C9-C408-9E49-FBFEF3A31DFC}"/>
              </a:ext>
            </a:extLst>
          </p:cNvPr>
          <p:cNvSpPr txBox="1">
            <a:spLocks/>
          </p:cNvSpPr>
          <p:nvPr/>
        </p:nvSpPr>
        <p:spPr>
          <a:xfrm>
            <a:off x="409818" y="2205379"/>
            <a:ext cx="22979886" cy="166420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t>For electronic records stored report extract should include the necessary Information about the documents.</a:t>
            </a:r>
          </a:p>
          <a:p>
            <a:r>
              <a:rPr lang="en-US" sz="2800" dirty="0"/>
              <a:t>Document Name/Title</a:t>
            </a:r>
          </a:p>
          <a:p>
            <a:r>
              <a:rPr lang="en-US" sz="2800" dirty="0"/>
              <a:t>Unique identifier ex. document number </a:t>
            </a:r>
          </a:p>
        </p:txBody>
      </p:sp>
      <p:pic>
        <p:nvPicPr>
          <p:cNvPr id="4" name="Picture 3">
            <a:extLst>
              <a:ext uri="{FF2B5EF4-FFF2-40B4-BE49-F238E27FC236}">
                <a16:creationId xmlns:a16="http://schemas.microsoft.com/office/drawing/2014/main" id="{1F86D9AF-74B4-2E20-03E0-BFC0E84DFA28}"/>
              </a:ext>
            </a:extLst>
          </p:cNvPr>
          <p:cNvPicPr>
            <a:picLocks noChangeAspect="1"/>
          </p:cNvPicPr>
          <p:nvPr/>
        </p:nvPicPr>
        <p:blipFill>
          <a:blip r:embed="rId3"/>
          <a:stretch>
            <a:fillRect/>
          </a:stretch>
        </p:blipFill>
        <p:spPr>
          <a:xfrm>
            <a:off x="409818" y="4243662"/>
            <a:ext cx="22980843" cy="5152349"/>
          </a:xfrm>
          <a:prstGeom prst="rect">
            <a:avLst/>
          </a:prstGeom>
        </p:spPr>
      </p:pic>
      <p:sp>
        <p:nvSpPr>
          <p:cNvPr id="7" name="Rectangle 6">
            <a:extLst>
              <a:ext uri="{FF2B5EF4-FFF2-40B4-BE49-F238E27FC236}">
                <a16:creationId xmlns:a16="http://schemas.microsoft.com/office/drawing/2014/main" id="{495EC6B4-64CB-92CE-B2A3-150631DF5A4C}"/>
              </a:ext>
            </a:extLst>
          </p:cNvPr>
          <p:cNvSpPr/>
          <p:nvPr/>
        </p:nvSpPr>
        <p:spPr>
          <a:xfrm>
            <a:off x="408862" y="3898729"/>
            <a:ext cx="1045866" cy="595185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8" name="Rectangle 7">
            <a:extLst>
              <a:ext uri="{FF2B5EF4-FFF2-40B4-BE49-F238E27FC236}">
                <a16:creationId xmlns:a16="http://schemas.microsoft.com/office/drawing/2014/main" id="{EE8D0542-D19A-A06E-F9EA-CBB8E5B84650}"/>
              </a:ext>
            </a:extLst>
          </p:cNvPr>
          <p:cNvSpPr/>
          <p:nvPr/>
        </p:nvSpPr>
        <p:spPr>
          <a:xfrm>
            <a:off x="1454728" y="3898729"/>
            <a:ext cx="1787236" cy="595185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9" name="Rectangle 8">
            <a:extLst>
              <a:ext uri="{FF2B5EF4-FFF2-40B4-BE49-F238E27FC236}">
                <a16:creationId xmlns:a16="http://schemas.microsoft.com/office/drawing/2014/main" id="{CA004CC6-B2A7-94B4-EB48-7B1CE0BDE745}"/>
              </a:ext>
            </a:extLst>
          </p:cNvPr>
          <p:cNvSpPr/>
          <p:nvPr/>
        </p:nvSpPr>
        <p:spPr>
          <a:xfrm>
            <a:off x="9206499" y="3898728"/>
            <a:ext cx="2987088" cy="595185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 name="Rectangle 9">
            <a:extLst>
              <a:ext uri="{FF2B5EF4-FFF2-40B4-BE49-F238E27FC236}">
                <a16:creationId xmlns:a16="http://schemas.microsoft.com/office/drawing/2014/main" id="{931033C0-2BF9-60E2-4E0C-08577981E8ED}"/>
              </a:ext>
            </a:extLst>
          </p:cNvPr>
          <p:cNvSpPr/>
          <p:nvPr/>
        </p:nvSpPr>
        <p:spPr>
          <a:xfrm>
            <a:off x="21239652" y="3954146"/>
            <a:ext cx="1045866" cy="5951855"/>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2" name="Rectangle 11">
            <a:extLst>
              <a:ext uri="{FF2B5EF4-FFF2-40B4-BE49-F238E27FC236}">
                <a16:creationId xmlns:a16="http://schemas.microsoft.com/office/drawing/2014/main" id="{CD13A6E9-760D-1CE7-2262-B86E34E6BC4C}"/>
              </a:ext>
            </a:extLst>
          </p:cNvPr>
          <p:cNvSpPr>
            <a:spLocks noChangeArrowheads="1"/>
          </p:cNvSpPr>
          <p:nvPr/>
        </p:nvSpPr>
        <p:spPr bwMode="auto">
          <a:xfrm>
            <a:off x="408862" y="11627256"/>
            <a:ext cx="142036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r>
              <a:rPr lang="en-US" altLang="en-US" sz="1800" b="0" dirty="0">
                <a:solidFill>
                  <a:srgbClr val="000000"/>
                </a:solidFill>
                <a:latin typeface="+mj-lt"/>
              </a:rPr>
              <a:t>See Appendix section for guidance on labeling hard-copy documents</a:t>
            </a:r>
            <a:endParaRPr lang="en-US" altLang="en-US" sz="1800" dirty="0">
              <a:latin typeface="+mj-lt"/>
            </a:endParaRPr>
          </a:p>
        </p:txBody>
      </p:sp>
    </p:spTree>
    <p:extLst>
      <p:ext uri="{BB962C8B-B14F-4D97-AF65-F5344CB8AC3E}">
        <p14:creationId xmlns:p14="http://schemas.microsoft.com/office/powerpoint/2010/main" val="318835251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129E7-F631-7E9D-CEC4-4C46969CC43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69C6A89-924B-A4AC-D847-FD4A5ACCAEA4}"/>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8F6042C8-7D63-45BD-874A-010513EBACCB}"/>
              </a:ext>
            </a:extLst>
          </p:cNvPr>
          <p:cNvSpPr>
            <a:spLocks noGrp="1"/>
          </p:cNvSpPr>
          <p:nvPr>
            <p:ph type="title"/>
          </p:nvPr>
        </p:nvSpPr>
        <p:spPr>
          <a:xfrm>
            <a:off x="576000" y="384048"/>
            <a:ext cx="11036491" cy="2663825"/>
          </a:xfrm>
        </p:spPr>
        <p:txBody>
          <a:bodyPr/>
          <a:lstStyle/>
          <a:p>
            <a:r>
              <a:rPr lang="en-US" dirty="0"/>
              <a:t>Records Retrieval and Disposal</a:t>
            </a:r>
          </a:p>
        </p:txBody>
      </p:sp>
    </p:spTree>
    <p:extLst>
      <p:ext uri="{BB962C8B-B14F-4D97-AF65-F5344CB8AC3E}">
        <p14:creationId xmlns:p14="http://schemas.microsoft.com/office/powerpoint/2010/main" val="312389156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0A10-CE95-3E5D-BAC5-CB5938C4917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3F5FA04-BDE0-081D-608A-5FF417D66FB0}"/>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778AC9BF-0247-9ECA-82C3-51203A644FC1}"/>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Rectangle 1" descr="Blue 10 half slide background">
            <a:extLst>
              <a:ext uri="{FF2B5EF4-FFF2-40B4-BE49-F238E27FC236}">
                <a16:creationId xmlns:a16="http://schemas.microsoft.com/office/drawing/2014/main" id="{916D806F-61CC-A558-2118-1B370AC1C156}"/>
              </a:ext>
            </a:extLst>
          </p:cNvPr>
          <p:cNvSpPr/>
          <p:nvPr/>
        </p:nvSpPr>
        <p:spPr bwMode="auto">
          <a:xfrm>
            <a:off x="-4636" y="0"/>
            <a:ext cx="24387175" cy="6071616"/>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 name="Title 1">
            <a:extLst>
              <a:ext uri="{FF2B5EF4-FFF2-40B4-BE49-F238E27FC236}">
                <a16:creationId xmlns:a16="http://schemas.microsoft.com/office/drawing/2014/main" id="{78D54115-D3B3-694D-FBF6-AA4AFBBE1931}"/>
              </a:ext>
            </a:extLst>
          </p:cNvPr>
          <p:cNvSpPr>
            <a:spLocks noGrp="1"/>
          </p:cNvSpPr>
          <p:nvPr>
            <p:ph type="title"/>
          </p:nvPr>
        </p:nvSpPr>
        <p:spPr>
          <a:xfrm>
            <a:off x="576072" y="576073"/>
            <a:ext cx="7986037" cy="1709928"/>
          </a:xfrm>
        </p:spPr>
        <p:txBody>
          <a:bodyPr/>
          <a:lstStyle/>
          <a:p>
            <a:r>
              <a:rPr lang="en-US" sz="6400" dirty="0">
                <a:solidFill>
                  <a:schemeClr val="accent1"/>
                </a:solidFill>
              </a:rPr>
              <a:t>Retrieval of Records</a:t>
            </a:r>
          </a:p>
        </p:txBody>
      </p:sp>
      <p:sp>
        <p:nvSpPr>
          <p:cNvPr id="4" name="Text Placeholder 2">
            <a:extLst>
              <a:ext uri="{FF2B5EF4-FFF2-40B4-BE49-F238E27FC236}">
                <a16:creationId xmlns:a16="http://schemas.microsoft.com/office/drawing/2014/main" id="{317C9772-5BAF-A64C-D873-C34B0288AA31}"/>
              </a:ext>
            </a:extLst>
          </p:cNvPr>
          <p:cNvSpPr>
            <a:spLocks noGrp="1"/>
          </p:cNvSpPr>
          <p:nvPr>
            <p:ph type="body" sz="quarter" idx="11"/>
          </p:nvPr>
        </p:nvSpPr>
        <p:spPr>
          <a:xfrm>
            <a:off x="576072" y="6656832"/>
            <a:ext cx="11034070" cy="5344917"/>
          </a:xfrm>
        </p:spPr>
        <p:txBody>
          <a:bodyPr/>
          <a:lstStyle/>
          <a:p>
            <a:r>
              <a:rPr lang="en-US" sz="6400" dirty="0">
                <a:solidFill>
                  <a:schemeClr val="accent1"/>
                </a:solidFill>
              </a:rPr>
              <a:t>Onsite</a:t>
            </a:r>
          </a:p>
          <a:p>
            <a:endParaRPr lang="en-US" dirty="0"/>
          </a:p>
          <a:p>
            <a:pPr marL="457200" indent="-457200">
              <a:buFont typeface="Arial" panose="020B0604020202020204" pitchFamily="34" charset="0"/>
              <a:buChar char="•"/>
            </a:pPr>
            <a:r>
              <a:rPr lang="en-US" dirty="0"/>
              <a:t>Electronic</a:t>
            </a:r>
          </a:p>
          <a:p>
            <a:r>
              <a:rPr lang="en-US" dirty="0"/>
              <a:t>The electronic system can recover the information in a readable format for the duration of the retention period.</a:t>
            </a:r>
          </a:p>
          <a:p>
            <a:endParaRPr lang="en-US" dirty="0"/>
          </a:p>
          <a:p>
            <a:pPr marL="457200" indent="-457200">
              <a:buFont typeface="Arial" panose="020B0604020202020204" pitchFamily="34" charset="0"/>
              <a:buChar char="•"/>
            </a:pPr>
            <a:r>
              <a:rPr lang="en-US" dirty="0"/>
              <a:t>Physical</a:t>
            </a:r>
          </a:p>
          <a:p>
            <a:r>
              <a:rPr lang="en-US" dirty="0"/>
              <a:t>Cabinets , laterals, lockers, boxes should easily be identified using indexing and labeling.</a:t>
            </a:r>
          </a:p>
          <a:p>
            <a:endParaRPr lang="en-US" dirty="0"/>
          </a:p>
          <a:p>
            <a:endParaRPr lang="en-US" dirty="0"/>
          </a:p>
        </p:txBody>
      </p:sp>
      <p:cxnSp>
        <p:nvCxnSpPr>
          <p:cNvPr id="7" name="Straight Connector 6" descr="Vertical column divider">
            <a:extLst>
              <a:ext uri="{FF2B5EF4-FFF2-40B4-BE49-F238E27FC236}">
                <a16:creationId xmlns:a16="http://schemas.microsoft.com/office/drawing/2014/main" id="{3E39AE52-6127-690A-1C45-C85E5749373D}"/>
              </a:ext>
            </a:extLst>
          </p:cNvPr>
          <p:cNvCxnSpPr>
            <a:cxnSpLocks/>
          </p:cNvCxnSpPr>
          <p:nvPr/>
        </p:nvCxnSpPr>
        <p:spPr bwMode="auto">
          <a:xfrm>
            <a:off x="12188952" y="6500622"/>
            <a:ext cx="0" cy="548905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2">
            <a:extLst>
              <a:ext uri="{FF2B5EF4-FFF2-40B4-BE49-F238E27FC236}">
                <a16:creationId xmlns:a16="http://schemas.microsoft.com/office/drawing/2014/main" id="{6D7735E1-D04C-0FBD-2496-CC216330FB9E}"/>
              </a:ext>
            </a:extLst>
          </p:cNvPr>
          <p:cNvSpPr txBox="1">
            <a:spLocks/>
          </p:cNvSpPr>
          <p:nvPr/>
        </p:nvSpPr>
        <p:spPr>
          <a:xfrm>
            <a:off x="409818" y="2205379"/>
            <a:ext cx="16506582" cy="166420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t>Records are to be made easily accessible and readily retrievable by all who need them, whether they may be from onsite or offsite storage facility.</a:t>
            </a:r>
          </a:p>
          <a:p>
            <a:endParaRPr lang="en-US" sz="2800" dirty="0"/>
          </a:p>
        </p:txBody>
      </p:sp>
      <p:pic>
        <p:nvPicPr>
          <p:cNvPr id="9" name="Picture 8" descr="Hybrid cloud services, Blue 60 pictogram">
            <a:extLst>
              <a:ext uri="{FF2B5EF4-FFF2-40B4-BE49-F238E27FC236}">
                <a16:creationId xmlns:a16="http://schemas.microsoft.com/office/drawing/2014/main" id="{CDC1C5F6-8F07-0A1E-96E2-11FA379C92B1}"/>
              </a:ext>
            </a:extLst>
          </p:cNvPr>
          <p:cNvPicPr>
            <a:picLocks noChangeAspect="1"/>
          </p:cNvPicPr>
          <p:nvPr/>
        </p:nvPicPr>
        <p:blipFill>
          <a:blip r:embed="rId3"/>
          <a:srcRect/>
          <a:stretch/>
        </p:blipFill>
        <p:spPr>
          <a:xfrm>
            <a:off x="20220911" y="1431037"/>
            <a:ext cx="3072014" cy="3072014"/>
          </a:xfrm>
          <a:prstGeom prst="rect">
            <a:avLst/>
          </a:prstGeom>
        </p:spPr>
      </p:pic>
      <p:sp>
        <p:nvSpPr>
          <p:cNvPr id="10" name="Text Placeholder 2">
            <a:extLst>
              <a:ext uri="{FF2B5EF4-FFF2-40B4-BE49-F238E27FC236}">
                <a16:creationId xmlns:a16="http://schemas.microsoft.com/office/drawing/2014/main" id="{D5CE5537-D4DD-30C3-2D90-9437B0F11875}"/>
              </a:ext>
            </a:extLst>
          </p:cNvPr>
          <p:cNvSpPr txBox="1">
            <a:spLocks/>
          </p:cNvSpPr>
          <p:nvPr/>
        </p:nvSpPr>
        <p:spPr>
          <a:xfrm>
            <a:off x="12777034" y="6656832"/>
            <a:ext cx="11034070" cy="5344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Off-site</a:t>
            </a:r>
          </a:p>
          <a:p>
            <a:endParaRPr lang="en-US" kern="0" dirty="0"/>
          </a:p>
          <a:p>
            <a:r>
              <a:rPr lang="en-US" kern="0" dirty="0"/>
              <a:t>Retrieval request shall be forwarded to GRE Team to retrieve these records from the vendor.</a:t>
            </a:r>
          </a:p>
          <a:p>
            <a:endParaRPr lang="en-US" kern="0" dirty="0"/>
          </a:p>
          <a:p>
            <a:endParaRPr lang="en-US" kern="0" dirty="0"/>
          </a:p>
        </p:txBody>
      </p:sp>
    </p:spTree>
    <p:extLst>
      <p:ext uri="{BB962C8B-B14F-4D97-AF65-F5344CB8AC3E}">
        <p14:creationId xmlns:p14="http://schemas.microsoft.com/office/powerpoint/2010/main" val="283884948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875A1-088A-0F90-B3F1-23DD5EF5A63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D17994-CB0C-80E9-1095-D467B3CB809A}"/>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AE35E325-3FA7-773F-35BC-A96E748B0FFF}"/>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Rectangle 1" descr="Blue 10 half slide background">
            <a:extLst>
              <a:ext uri="{FF2B5EF4-FFF2-40B4-BE49-F238E27FC236}">
                <a16:creationId xmlns:a16="http://schemas.microsoft.com/office/drawing/2014/main" id="{5C2835CC-4EFB-9DC7-5494-0A3CB6ADFF65}"/>
              </a:ext>
            </a:extLst>
          </p:cNvPr>
          <p:cNvSpPr/>
          <p:nvPr/>
        </p:nvSpPr>
        <p:spPr bwMode="auto">
          <a:xfrm>
            <a:off x="-1" y="0"/>
            <a:ext cx="24387175" cy="6071616"/>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 name="Title 1">
            <a:extLst>
              <a:ext uri="{FF2B5EF4-FFF2-40B4-BE49-F238E27FC236}">
                <a16:creationId xmlns:a16="http://schemas.microsoft.com/office/drawing/2014/main" id="{CABDC71B-9FA1-6E82-B7BD-396559A66C8F}"/>
              </a:ext>
            </a:extLst>
          </p:cNvPr>
          <p:cNvSpPr>
            <a:spLocks noGrp="1"/>
          </p:cNvSpPr>
          <p:nvPr>
            <p:ph type="title"/>
          </p:nvPr>
        </p:nvSpPr>
        <p:spPr>
          <a:xfrm>
            <a:off x="576072" y="576073"/>
            <a:ext cx="7986037" cy="1709928"/>
          </a:xfrm>
        </p:spPr>
        <p:txBody>
          <a:bodyPr/>
          <a:lstStyle/>
          <a:p>
            <a:r>
              <a:rPr lang="en-US" sz="6400" dirty="0">
                <a:solidFill>
                  <a:schemeClr val="accent1"/>
                </a:solidFill>
              </a:rPr>
              <a:t>Disposal of Records</a:t>
            </a:r>
          </a:p>
        </p:txBody>
      </p:sp>
      <p:sp>
        <p:nvSpPr>
          <p:cNvPr id="4" name="Text Placeholder 2">
            <a:extLst>
              <a:ext uri="{FF2B5EF4-FFF2-40B4-BE49-F238E27FC236}">
                <a16:creationId xmlns:a16="http://schemas.microsoft.com/office/drawing/2014/main" id="{4CE0546C-980D-09FB-9A7E-3D69261CA470}"/>
              </a:ext>
            </a:extLst>
          </p:cNvPr>
          <p:cNvSpPr>
            <a:spLocks noGrp="1"/>
          </p:cNvSpPr>
          <p:nvPr>
            <p:ph type="body" sz="quarter" idx="11"/>
          </p:nvPr>
        </p:nvSpPr>
        <p:spPr>
          <a:xfrm>
            <a:off x="576072" y="6656832"/>
            <a:ext cx="11034070" cy="5344917"/>
          </a:xfrm>
        </p:spPr>
        <p:txBody>
          <a:bodyPr/>
          <a:lstStyle/>
          <a:p>
            <a:r>
              <a:rPr lang="en-US" sz="2800" dirty="0">
                <a:cs typeface="Calibri" panose="020F0502020204030204" pitchFamily="34" charset="0"/>
              </a:rPr>
              <a:t>Request for obsoletion should be requested via Cobee Lite.</a:t>
            </a:r>
          </a:p>
          <a:p>
            <a:endParaRPr lang="en-US" dirty="0"/>
          </a:p>
        </p:txBody>
      </p:sp>
      <p:cxnSp>
        <p:nvCxnSpPr>
          <p:cNvPr id="7" name="Straight Connector 6" descr="Vertical column divider">
            <a:extLst>
              <a:ext uri="{FF2B5EF4-FFF2-40B4-BE49-F238E27FC236}">
                <a16:creationId xmlns:a16="http://schemas.microsoft.com/office/drawing/2014/main" id="{43A02DF8-FE3A-4102-74EB-A078B7C8CE05}"/>
              </a:ext>
            </a:extLst>
          </p:cNvPr>
          <p:cNvCxnSpPr>
            <a:cxnSpLocks/>
          </p:cNvCxnSpPr>
          <p:nvPr/>
        </p:nvCxnSpPr>
        <p:spPr bwMode="auto">
          <a:xfrm>
            <a:off x="12188952" y="6500622"/>
            <a:ext cx="0" cy="548905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2">
            <a:extLst>
              <a:ext uri="{FF2B5EF4-FFF2-40B4-BE49-F238E27FC236}">
                <a16:creationId xmlns:a16="http://schemas.microsoft.com/office/drawing/2014/main" id="{5D629871-1F37-7032-FEAD-B2C5DC3EAEE7}"/>
              </a:ext>
            </a:extLst>
          </p:cNvPr>
          <p:cNvSpPr txBox="1">
            <a:spLocks/>
          </p:cNvSpPr>
          <p:nvPr/>
        </p:nvSpPr>
        <p:spPr>
          <a:xfrm>
            <a:off x="12777034" y="6656832"/>
            <a:ext cx="11034070" cy="5344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dirty="0">
                <a:cs typeface="Calibri" panose="020F0502020204030204" pitchFamily="34" charset="0"/>
              </a:rPr>
              <a:t>Client owned records should be disposed according to their instructions. </a:t>
            </a:r>
          </a:p>
        </p:txBody>
      </p:sp>
      <p:pic>
        <p:nvPicPr>
          <p:cNvPr id="9" name="Picture 8" descr="Contract, Blue 60 pictogram">
            <a:extLst>
              <a:ext uri="{FF2B5EF4-FFF2-40B4-BE49-F238E27FC236}">
                <a16:creationId xmlns:a16="http://schemas.microsoft.com/office/drawing/2014/main" id="{427BB3F0-8A42-CAB0-A9AB-1E0B82A9065E}"/>
              </a:ext>
            </a:extLst>
          </p:cNvPr>
          <p:cNvPicPr>
            <a:picLocks noChangeAspect="1"/>
          </p:cNvPicPr>
          <p:nvPr/>
        </p:nvPicPr>
        <p:blipFill>
          <a:blip r:embed="rId3"/>
          <a:srcRect/>
          <a:stretch/>
        </p:blipFill>
        <p:spPr>
          <a:xfrm>
            <a:off x="16739008" y="8043983"/>
            <a:ext cx="3110121" cy="3110121"/>
          </a:xfrm>
          <a:prstGeom prst="rect">
            <a:avLst/>
          </a:prstGeom>
        </p:spPr>
      </p:pic>
      <p:pic>
        <p:nvPicPr>
          <p:cNvPr id="10" name="Picture 9">
            <a:extLst>
              <a:ext uri="{FF2B5EF4-FFF2-40B4-BE49-F238E27FC236}">
                <a16:creationId xmlns:a16="http://schemas.microsoft.com/office/drawing/2014/main" id="{B4FCAD74-F1B2-DC95-851A-0B13738C04E3}"/>
              </a:ext>
            </a:extLst>
          </p:cNvPr>
          <p:cNvPicPr>
            <a:picLocks noChangeAspect="1"/>
          </p:cNvPicPr>
          <p:nvPr/>
        </p:nvPicPr>
        <p:blipFill>
          <a:blip r:embed="rId4"/>
          <a:stretch>
            <a:fillRect/>
          </a:stretch>
        </p:blipFill>
        <p:spPr>
          <a:xfrm>
            <a:off x="3380694" y="7687694"/>
            <a:ext cx="4432300" cy="3822700"/>
          </a:xfrm>
          <a:prstGeom prst="rect">
            <a:avLst/>
          </a:prstGeom>
        </p:spPr>
      </p:pic>
    </p:spTree>
    <p:extLst>
      <p:ext uri="{BB962C8B-B14F-4D97-AF65-F5344CB8AC3E}">
        <p14:creationId xmlns:p14="http://schemas.microsoft.com/office/powerpoint/2010/main" val="224836384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5B02E-0D90-8D81-C3BA-2BB4633141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464D768-5CDC-FAF8-F298-817565C82AD7}"/>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4868695F-34DC-4BD4-BE75-BA6A80716E28}"/>
              </a:ext>
            </a:extLst>
          </p:cNvPr>
          <p:cNvSpPr>
            <a:spLocks noGrp="1"/>
          </p:cNvSpPr>
          <p:nvPr>
            <p:ph type="title"/>
          </p:nvPr>
        </p:nvSpPr>
        <p:spPr>
          <a:xfrm>
            <a:off x="576000" y="384048"/>
            <a:ext cx="11036491" cy="2663825"/>
          </a:xfrm>
        </p:spPr>
        <p:txBody>
          <a:bodyPr/>
          <a:lstStyle/>
          <a:p>
            <a:r>
              <a:rPr lang="en-US" dirty="0"/>
              <a:t>Records Matrix</a:t>
            </a:r>
          </a:p>
        </p:txBody>
      </p:sp>
    </p:spTree>
    <p:extLst>
      <p:ext uri="{BB962C8B-B14F-4D97-AF65-F5344CB8AC3E}">
        <p14:creationId xmlns:p14="http://schemas.microsoft.com/office/powerpoint/2010/main" val="37907859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6694-E0DD-6DD2-DC82-D0388108927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44748CB-EE5F-242B-E8D1-76D5ED69F60E}"/>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16</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0B854B4D-7393-8D25-5898-446F50CEE86F}"/>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3" name="Title 1">
            <a:extLst>
              <a:ext uri="{FF2B5EF4-FFF2-40B4-BE49-F238E27FC236}">
                <a16:creationId xmlns:a16="http://schemas.microsoft.com/office/drawing/2014/main" id="{56116804-1C9E-45C6-5B00-CA9A5361C6FD}"/>
              </a:ext>
            </a:extLst>
          </p:cNvPr>
          <p:cNvSpPr>
            <a:spLocks noGrp="1"/>
          </p:cNvSpPr>
          <p:nvPr>
            <p:ph type="title"/>
          </p:nvPr>
        </p:nvSpPr>
        <p:spPr>
          <a:xfrm>
            <a:off x="409818" y="567805"/>
            <a:ext cx="22979887" cy="1319534"/>
          </a:xfrm>
        </p:spPr>
        <p:txBody>
          <a:bodyPr/>
          <a:lstStyle/>
          <a:p>
            <a:r>
              <a:rPr lang="en-US" sz="6400" dirty="0">
                <a:solidFill>
                  <a:schemeClr val="accent1"/>
                </a:solidFill>
              </a:rPr>
              <a:t>Records Matrix</a:t>
            </a:r>
          </a:p>
        </p:txBody>
      </p:sp>
      <p:pic>
        <p:nvPicPr>
          <p:cNvPr id="8" name="Picture 7">
            <a:extLst>
              <a:ext uri="{FF2B5EF4-FFF2-40B4-BE49-F238E27FC236}">
                <a16:creationId xmlns:a16="http://schemas.microsoft.com/office/drawing/2014/main" id="{3DFDF231-52DE-E011-7C6C-11901002F42F}"/>
              </a:ext>
            </a:extLst>
          </p:cNvPr>
          <p:cNvPicPr>
            <a:picLocks noChangeAspect="1"/>
          </p:cNvPicPr>
          <p:nvPr/>
        </p:nvPicPr>
        <p:blipFill>
          <a:blip r:embed="rId3"/>
          <a:stretch>
            <a:fillRect/>
          </a:stretch>
        </p:blipFill>
        <p:spPr>
          <a:xfrm>
            <a:off x="15013081" y="229485"/>
            <a:ext cx="8964276" cy="4286848"/>
          </a:xfrm>
          <a:prstGeom prst="rect">
            <a:avLst/>
          </a:prstGeom>
        </p:spPr>
      </p:pic>
      <p:pic>
        <p:nvPicPr>
          <p:cNvPr id="10" name="Picture 9">
            <a:extLst>
              <a:ext uri="{FF2B5EF4-FFF2-40B4-BE49-F238E27FC236}">
                <a16:creationId xmlns:a16="http://schemas.microsoft.com/office/drawing/2014/main" id="{E692D6AC-E263-02D9-5614-C610793C4EE5}"/>
              </a:ext>
            </a:extLst>
          </p:cNvPr>
          <p:cNvPicPr>
            <a:picLocks noChangeAspect="1"/>
          </p:cNvPicPr>
          <p:nvPr/>
        </p:nvPicPr>
        <p:blipFill>
          <a:blip r:embed="rId4"/>
          <a:stretch>
            <a:fillRect/>
          </a:stretch>
        </p:blipFill>
        <p:spPr>
          <a:xfrm>
            <a:off x="409818" y="3407660"/>
            <a:ext cx="15023022" cy="5792008"/>
          </a:xfrm>
          <a:prstGeom prst="rect">
            <a:avLst/>
          </a:prstGeom>
        </p:spPr>
      </p:pic>
      <p:pic>
        <p:nvPicPr>
          <p:cNvPr id="12" name="Picture 11">
            <a:extLst>
              <a:ext uri="{FF2B5EF4-FFF2-40B4-BE49-F238E27FC236}">
                <a16:creationId xmlns:a16="http://schemas.microsoft.com/office/drawing/2014/main" id="{08A55F94-BE61-7B1F-1D92-F0E0F15F3FA4}"/>
              </a:ext>
            </a:extLst>
          </p:cNvPr>
          <p:cNvPicPr>
            <a:picLocks noChangeAspect="1"/>
          </p:cNvPicPr>
          <p:nvPr/>
        </p:nvPicPr>
        <p:blipFill>
          <a:blip r:embed="rId5"/>
          <a:stretch>
            <a:fillRect/>
          </a:stretch>
        </p:blipFill>
        <p:spPr>
          <a:xfrm>
            <a:off x="8804290" y="8508873"/>
            <a:ext cx="14994443" cy="4639322"/>
          </a:xfrm>
          <a:prstGeom prst="rect">
            <a:avLst/>
          </a:prstGeom>
        </p:spPr>
      </p:pic>
    </p:spTree>
    <p:extLst>
      <p:ext uri="{BB962C8B-B14F-4D97-AF65-F5344CB8AC3E}">
        <p14:creationId xmlns:p14="http://schemas.microsoft.com/office/powerpoint/2010/main" val="126722837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41248-D088-8A9C-91DC-A0E99167BE0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84DE48B-AA11-59D5-1BF2-321E0AB576E4}"/>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17</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6BC76655-7786-01C4-4E47-0E39D7BD13F5}"/>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a:ln>
                  <a:noFill/>
                </a:ln>
                <a:solidFill>
                  <a:srgbClr val="001141"/>
                </a:solidFill>
                <a:effectLst/>
                <a:uLnTx/>
                <a:uFillTx/>
                <a:latin typeface="IBM Plex Sans" charset="0"/>
                <a:ea typeface="IBM Plex Sans" charset="0"/>
                <a:cs typeface="IBM Plex Sans" charset="0"/>
              </a:rPr>
              <a:t> FutureNow</a:t>
            </a:r>
            <a:endPar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endParaRPr>
          </a:p>
        </p:txBody>
      </p:sp>
      <p:sp>
        <p:nvSpPr>
          <p:cNvPr id="2" name="Title 1">
            <a:extLst>
              <a:ext uri="{FF2B5EF4-FFF2-40B4-BE49-F238E27FC236}">
                <a16:creationId xmlns:a16="http://schemas.microsoft.com/office/drawing/2014/main" id="{749ADA52-0849-7140-36FB-025B47AF1FF3}"/>
              </a:ext>
            </a:extLst>
          </p:cNvPr>
          <p:cNvSpPr>
            <a:spLocks noGrp="1"/>
          </p:cNvSpPr>
          <p:nvPr>
            <p:ph type="title"/>
          </p:nvPr>
        </p:nvSpPr>
        <p:spPr>
          <a:xfrm>
            <a:off x="409818" y="678025"/>
            <a:ext cx="14764868" cy="1319534"/>
          </a:xfrm>
        </p:spPr>
        <p:txBody>
          <a:bodyPr/>
          <a:lstStyle/>
          <a:p>
            <a:r>
              <a:rPr lang="en-US" sz="6400" dirty="0">
                <a:solidFill>
                  <a:schemeClr val="accent1"/>
                </a:solidFill>
              </a:rPr>
              <a:t>Records Codes and Retention Periods</a:t>
            </a:r>
          </a:p>
        </p:txBody>
      </p:sp>
      <p:sp>
        <p:nvSpPr>
          <p:cNvPr id="4" name="TextBox 3">
            <a:extLst>
              <a:ext uri="{FF2B5EF4-FFF2-40B4-BE49-F238E27FC236}">
                <a16:creationId xmlns:a16="http://schemas.microsoft.com/office/drawing/2014/main" id="{85F3CDC7-BCE8-F8C6-8140-B4871C788353}"/>
              </a:ext>
            </a:extLst>
          </p:cNvPr>
          <p:cNvSpPr txBox="1"/>
          <p:nvPr/>
        </p:nvSpPr>
        <p:spPr>
          <a:xfrm>
            <a:off x="409818" y="1887600"/>
            <a:ext cx="10654370" cy="523220"/>
          </a:xfrm>
          <a:prstGeom prst="rect">
            <a:avLst/>
          </a:prstGeom>
          <a:noFill/>
        </p:spPr>
        <p:txBody>
          <a:bodyPr wrap="square" rtlCol="0">
            <a:spAutoFit/>
          </a:bodyPr>
          <a:lstStyle/>
          <a:p>
            <a:r>
              <a:rPr lang="en-US" sz="2800" dirty="0">
                <a:latin typeface="+mj-lt"/>
              </a:rPr>
              <a:t>Records listed below </a:t>
            </a:r>
            <a:r>
              <a:rPr lang="en-US" sz="2800" b="1" u="sng" dirty="0">
                <a:latin typeface="+mj-lt"/>
              </a:rPr>
              <a:t>should be included in the Records Matrix.</a:t>
            </a:r>
            <a:endParaRPr lang="en-US" sz="2800" b="1" u="sng" dirty="0">
              <a:solidFill>
                <a:srgbClr val="0432FF"/>
              </a:solidFill>
              <a:latin typeface="+mj-lt"/>
            </a:endParaRPr>
          </a:p>
        </p:txBody>
      </p:sp>
      <p:sp>
        <p:nvSpPr>
          <p:cNvPr id="7" name="TextBox 6">
            <a:extLst>
              <a:ext uri="{FF2B5EF4-FFF2-40B4-BE49-F238E27FC236}">
                <a16:creationId xmlns:a16="http://schemas.microsoft.com/office/drawing/2014/main" id="{6A8DF393-8D37-2392-C6C7-37727996F542}"/>
              </a:ext>
            </a:extLst>
          </p:cNvPr>
          <p:cNvSpPr txBox="1"/>
          <p:nvPr/>
        </p:nvSpPr>
        <p:spPr>
          <a:xfrm>
            <a:off x="20172101" y="9233475"/>
            <a:ext cx="3631085" cy="2246769"/>
          </a:xfrm>
          <a:prstGeom prst="rect">
            <a:avLst/>
          </a:prstGeom>
          <a:noFill/>
        </p:spPr>
        <p:txBody>
          <a:bodyPr wrap="square" rtlCol="0">
            <a:spAutoFit/>
          </a:bodyPr>
          <a:lstStyle/>
          <a:p>
            <a:r>
              <a:rPr lang="en-US" altLang="en-US" sz="2000" dirty="0">
                <a:solidFill>
                  <a:srgbClr val="000000"/>
                </a:solidFill>
              </a:rPr>
              <a:t>As per DG 101, any reference materials will not have a record code, </a:t>
            </a:r>
          </a:p>
          <a:p>
            <a:r>
              <a:rPr lang="en-US" altLang="en-US" sz="2000" dirty="0">
                <a:solidFill>
                  <a:srgbClr val="000000"/>
                </a:solidFill>
              </a:rPr>
              <a:t>hence NA is assigned to these types of records, which are used by the team in their daily work.</a:t>
            </a:r>
            <a:endParaRPr lang="en-US" altLang="en-US" sz="2000" b="0" dirty="0">
              <a:solidFill>
                <a:srgbClr val="000000"/>
              </a:solidFill>
              <a:latin typeface="+mn-lt"/>
            </a:endParaRPr>
          </a:p>
        </p:txBody>
      </p:sp>
      <p:pic>
        <p:nvPicPr>
          <p:cNvPr id="13" name="Picture 12">
            <a:extLst>
              <a:ext uri="{FF2B5EF4-FFF2-40B4-BE49-F238E27FC236}">
                <a16:creationId xmlns:a16="http://schemas.microsoft.com/office/drawing/2014/main" id="{A7D092E6-B85D-FDE2-2EAD-6A82514A9AEE}"/>
              </a:ext>
            </a:extLst>
          </p:cNvPr>
          <p:cNvPicPr>
            <a:picLocks noChangeAspect="1"/>
          </p:cNvPicPr>
          <p:nvPr/>
        </p:nvPicPr>
        <p:blipFill>
          <a:blip r:embed="rId3"/>
          <a:stretch>
            <a:fillRect/>
          </a:stretch>
        </p:blipFill>
        <p:spPr>
          <a:xfrm>
            <a:off x="409818" y="2460171"/>
            <a:ext cx="19526636" cy="9013372"/>
          </a:xfrm>
          <a:prstGeom prst="rect">
            <a:avLst/>
          </a:prstGeom>
        </p:spPr>
      </p:pic>
      <p:sp>
        <p:nvSpPr>
          <p:cNvPr id="15" name="TextBox 14">
            <a:extLst>
              <a:ext uri="{FF2B5EF4-FFF2-40B4-BE49-F238E27FC236}">
                <a16:creationId xmlns:a16="http://schemas.microsoft.com/office/drawing/2014/main" id="{84F82F6F-FB33-4B4C-ACB9-25486D5EEBFD}"/>
              </a:ext>
            </a:extLst>
          </p:cNvPr>
          <p:cNvSpPr txBox="1"/>
          <p:nvPr/>
        </p:nvSpPr>
        <p:spPr>
          <a:xfrm>
            <a:off x="6683828" y="11829688"/>
            <a:ext cx="9174262" cy="1631216"/>
          </a:xfrm>
          <a:prstGeom prst="rect">
            <a:avLst/>
          </a:prstGeom>
          <a:noFill/>
        </p:spPr>
        <p:txBody>
          <a:bodyPr wrap="square" rtlCol="0">
            <a:spAutoFit/>
          </a:bodyPr>
          <a:lstStyle/>
          <a:p>
            <a:r>
              <a:rPr lang="en-US" altLang="en-US" sz="2000" b="0" dirty="0">
                <a:solidFill>
                  <a:srgbClr val="000000"/>
                </a:solidFill>
                <a:latin typeface="+mn-lt"/>
              </a:rPr>
              <a:t>If there are center generated records not listed in the table, please coordinate with your respective Account Business Controls for guidance or visit WRM via this link:</a:t>
            </a:r>
          </a:p>
          <a:p>
            <a:r>
              <a:rPr lang="en-US" altLang="en-US" sz="2000" dirty="0">
                <a:solidFill>
                  <a:srgbClr val="000000"/>
                </a:solidFill>
                <a:hlinkClick r:id="rId4"/>
              </a:rPr>
              <a:t>https://w3.ibm.com/w3publisher/data-governance-standards/enterprise-data-governance#WRM_Essential_information_categories</a:t>
            </a:r>
            <a:r>
              <a:rPr lang="en-US" altLang="en-US" sz="2000" dirty="0">
                <a:solidFill>
                  <a:srgbClr val="000000"/>
                </a:solidFill>
              </a:rPr>
              <a:t> </a:t>
            </a:r>
            <a:endParaRPr lang="en-US" altLang="en-US" sz="2000" b="0" dirty="0">
              <a:solidFill>
                <a:srgbClr val="000000"/>
              </a:solidFill>
              <a:latin typeface="+mn-lt"/>
            </a:endParaRPr>
          </a:p>
        </p:txBody>
      </p:sp>
    </p:spTree>
    <p:extLst>
      <p:ext uri="{BB962C8B-B14F-4D97-AF65-F5344CB8AC3E}">
        <p14:creationId xmlns:p14="http://schemas.microsoft.com/office/powerpoint/2010/main" val="159544774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80375-005D-18ED-6BF4-86A52C39F49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99E943-1993-9E86-212E-44DCB5AC1BE8}"/>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18</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50B5D7ED-C082-9DB5-7F87-3194F9BF48FE}"/>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Rectangle 1" descr="Blue 10 half slide background">
            <a:extLst>
              <a:ext uri="{FF2B5EF4-FFF2-40B4-BE49-F238E27FC236}">
                <a16:creationId xmlns:a16="http://schemas.microsoft.com/office/drawing/2014/main" id="{F058E023-3A57-A687-1F4A-7649B251A046}"/>
              </a:ext>
            </a:extLst>
          </p:cNvPr>
          <p:cNvSpPr/>
          <p:nvPr/>
        </p:nvSpPr>
        <p:spPr bwMode="auto">
          <a:xfrm>
            <a:off x="-21486" y="-15323"/>
            <a:ext cx="24387175" cy="2509141"/>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 name="Title 1">
            <a:extLst>
              <a:ext uri="{FF2B5EF4-FFF2-40B4-BE49-F238E27FC236}">
                <a16:creationId xmlns:a16="http://schemas.microsoft.com/office/drawing/2014/main" id="{A9FA701A-F867-27E5-4AB8-E36ECD513700}"/>
              </a:ext>
            </a:extLst>
          </p:cNvPr>
          <p:cNvSpPr>
            <a:spLocks noGrp="1"/>
          </p:cNvSpPr>
          <p:nvPr>
            <p:ph type="title"/>
          </p:nvPr>
        </p:nvSpPr>
        <p:spPr>
          <a:xfrm>
            <a:off x="576072" y="576072"/>
            <a:ext cx="11036994" cy="4573587"/>
          </a:xfrm>
        </p:spPr>
        <p:txBody>
          <a:bodyPr/>
          <a:lstStyle/>
          <a:p>
            <a:r>
              <a:rPr lang="en-US" sz="6400" dirty="0">
                <a:solidFill>
                  <a:schemeClr val="accent1"/>
                </a:solidFill>
              </a:rPr>
              <a:t>Records Matrix Approvers</a:t>
            </a:r>
          </a:p>
        </p:txBody>
      </p:sp>
      <p:graphicFrame>
        <p:nvGraphicFramePr>
          <p:cNvPr id="4" name="Table 3">
            <a:extLst>
              <a:ext uri="{FF2B5EF4-FFF2-40B4-BE49-F238E27FC236}">
                <a16:creationId xmlns:a16="http://schemas.microsoft.com/office/drawing/2014/main" id="{585470DA-CE47-E97F-E520-012C764038EB}"/>
              </a:ext>
            </a:extLst>
          </p:cNvPr>
          <p:cNvGraphicFramePr>
            <a:graphicFrameLocks noGrp="1"/>
          </p:cNvGraphicFramePr>
          <p:nvPr>
            <p:extLst>
              <p:ext uri="{D42A27DB-BD31-4B8C-83A1-F6EECF244321}">
                <p14:modId xmlns:p14="http://schemas.microsoft.com/office/powerpoint/2010/main" val="3610080359"/>
              </p:ext>
            </p:extLst>
          </p:nvPr>
        </p:nvGraphicFramePr>
        <p:xfrm>
          <a:off x="1017199" y="5133189"/>
          <a:ext cx="22309803" cy="3449622"/>
        </p:xfrm>
        <a:graphic>
          <a:graphicData uri="http://schemas.openxmlformats.org/drawingml/2006/table">
            <a:tbl>
              <a:tblPr firstRow="1" bandRow="1">
                <a:tableStyleId>{5C22544A-7EE6-4342-B048-85BDC9FD1C3A}</a:tableStyleId>
              </a:tblPr>
              <a:tblGrid>
                <a:gridCol w="3827275">
                  <a:extLst>
                    <a:ext uri="{9D8B030D-6E8A-4147-A177-3AD203B41FA5}">
                      <a16:colId xmlns:a16="http://schemas.microsoft.com/office/drawing/2014/main" val="1596663239"/>
                    </a:ext>
                  </a:extLst>
                </a:gridCol>
                <a:gridCol w="3168968">
                  <a:extLst>
                    <a:ext uri="{9D8B030D-6E8A-4147-A177-3AD203B41FA5}">
                      <a16:colId xmlns:a16="http://schemas.microsoft.com/office/drawing/2014/main" val="1854613047"/>
                    </a:ext>
                  </a:extLst>
                </a:gridCol>
                <a:gridCol w="3828390">
                  <a:extLst>
                    <a:ext uri="{9D8B030D-6E8A-4147-A177-3AD203B41FA5}">
                      <a16:colId xmlns:a16="http://schemas.microsoft.com/office/drawing/2014/main" val="2650948528"/>
                    </a:ext>
                  </a:extLst>
                </a:gridCol>
                <a:gridCol w="3828390">
                  <a:extLst>
                    <a:ext uri="{9D8B030D-6E8A-4147-A177-3AD203B41FA5}">
                      <a16:colId xmlns:a16="http://schemas.microsoft.com/office/drawing/2014/main" val="3742931714"/>
                    </a:ext>
                  </a:extLst>
                </a:gridCol>
                <a:gridCol w="3828390">
                  <a:extLst>
                    <a:ext uri="{9D8B030D-6E8A-4147-A177-3AD203B41FA5}">
                      <a16:colId xmlns:a16="http://schemas.microsoft.com/office/drawing/2014/main" val="735840901"/>
                    </a:ext>
                  </a:extLst>
                </a:gridCol>
                <a:gridCol w="3828390">
                  <a:extLst>
                    <a:ext uri="{9D8B030D-6E8A-4147-A177-3AD203B41FA5}">
                      <a16:colId xmlns:a16="http://schemas.microsoft.com/office/drawing/2014/main" val="4225553292"/>
                    </a:ext>
                  </a:extLst>
                </a:gridCol>
              </a:tblGrid>
              <a:tr h="614982">
                <a:tc rowSpan="2">
                  <a:txBody>
                    <a:bodyPr/>
                    <a:lstStyle/>
                    <a:p>
                      <a:pPr algn="ctr"/>
                      <a:r>
                        <a:rPr lang="en-PH" sz="2800" dirty="0">
                          <a:solidFill>
                            <a:schemeClr val="bg1"/>
                          </a:solidFill>
                          <a:latin typeface="+mj-lt"/>
                        </a:rPr>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r>
                        <a:rPr lang="en-PH" sz="2800" dirty="0">
                          <a:solidFill>
                            <a:schemeClr val="bg1"/>
                          </a:solidFill>
                          <a:latin typeface="+mj-lt"/>
                        </a:rPr>
                        <a:t>TOWER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tc hMerge="1">
                  <a:txBody>
                    <a:bodyPr/>
                    <a:lstStyle/>
                    <a:p>
                      <a:endParaRPr lang="en-PH" dirty="0"/>
                    </a:p>
                  </a:txBody>
                  <a:tcPr/>
                </a:tc>
                <a:extLst>
                  <a:ext uri="{0D108BD9-81ED-4DB2-BD59-A6C34878D82A}">
                    <a16:rowId xmlns:a16="http://schemas.microsoft.com/office/drawing/2014/main" val="1527524519"/>
                  </a:ext>
                </a:extLst>
              </a:tr>
              <a:tr h="370840">
                <a:tc vMerge="1">
                  <a:txBody>
                    <a:bodyPr/>
                    <a:lstStyle/>
                    <a:p>
                      <a:endParaRPr lang="en-PH" dirty="0"/>
                    </a:p>
                  </a:txBody>
                  <a:tcPr/>
                </a:tc>
                <a:tc>
                  <a:txBody>
                    <a:bodyPr/>
                    <a:lstStyle/>
                    <a:p>
                      <a:pPr algn="ctr"/>
                      <a:r>
                        <a:rPr lang="en-PH" sz="2800" b="1" dirty="0">
                          <a:solidFill>
                            <a:schemeClr val="tx1"/>
                          </a:solidFill>
                          <a:latin typeface="+mj-lt"/>
                        </a:rPr>
                        <a:t>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b="1" dirty="0">
                          <a:solidFill>
                            <a:schemeClr val="tx1"/>
                          </a:solidFill>
                          <a:latin typeface="+mj-lt"/>
                        </a:rPr>
                        <a:t>F&amp;PO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b="1" dirty="0">
                          <a:solidFill>
                            <a:schemeClr val="tx1"/>
                          </a:solidFill>
                          <a:latin typeface="+mj-lt"/>
                        </a:rPr>
                        <a:t>SHARED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b="1" dirty="0">
                          <a:solidFill>
                            <a:schemeClr val="tx1"/>
                          </a:solidFill>
                          <a:latin typeface="+mj-lt"/>
                        </a:rPr>
                        <a:t>CENTER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b="1" dirty="0">
                          <a:solidFill>
                            <a:schemeClr val="tx1"/>
                          </a:solidFill>
                          <a:latin typeface="+mj-lt"/>
                        </a:rPr>
                        <a:t>OTHER TOWERS</a:t>
                      </a:r>
                    </a:p>
                  </a:txBody>
                  <a:tcPr marL="9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8744955"/>
                  </a:ext>
                </a:extLst>
              </a:tr>
              <a:tr h="370840">
                <a:tc rowSpan="2">
                  <a:txBody>
                    <a:bodyPr/>
                    <a:lstStyle/>
                    <a:p>
                      <a:pPr algn="ctr"/>
                      <a:r>
                        <a:rPr lang="en-PH" sz="2800" dirty="0">
                          <a:solidFill>
                            <a:schemeClr val="tx1"/>
                          </a:solidFill>
                          <a:latin typeface="+mj-lt"/>
                        </a:rPr>
                        <a:t>APPROVERS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HR Delivery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Team Lead and/or Operations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Team Lead and/or Operations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Team Lead and/or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Team Lead</a:t>
                      </a:r>
                    </a:p>
                  </a:txBody>
                  <a:tcPr marL="9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00922"/>
                  </a:ext>
                </a:extLst>
              </a:tr>
              <a:tr h="370840">
                <a:tc vMerge="1">
                  <a:txBody>
                    <a:bodyPr/>
                    <a:lstStyle/>
                    <a:p>
                      <a:pPr algn="ctr"/>
                      <a:endParaRPr lang="en-PH" dirty="0"/>
                    </a:p>
                  </a:txBody>
                  <a:tcPr anchor="ctr"/>
                </a:tc>
                <a:tc>
                  <a:txBody>
                    <a:bodyPr/>
                    <a:lstStyle/>
                    <a:p>
                      <a:pPr algn="ctr"/>
                      <a:r>
                        <a:rPr lang="en-PH" sz="2800" dirty="0">
                          <a:solidFill>
                            <a:schemeClr val="tx1"/>
                          </a:solidFill>
                          <a:latin typeface="+mj-lt"/>
                        </a:rPr>
                        <a:t>CSM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Operations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Domain Lead (or its equivalent/delegate)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Manager/</a:t>
                      </a:r>
                    </a:p>
                    <a:p>
                      <a:pPr algn="ctr"/>
                      <a:r>
                        <a:rPr lang="en-PH" sz="2800" dirty="0">
                          <a:solidFill>
                            <a:schemeClr val="tx1"/>
                          </a:solidFill>
                          <a:latin typeface="+mj-lt"/>
                        </a:rPr>
                        <a:t>Center Leader (or its equivalent/delegate)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PH" sz="2800" dirty="0">
                          <a:solidFill>
                            <a:schemeClr val="tx1"/>
                          </a:solidFill>
                          <a:latin typeface="+mj-lt"/>
                        </a:rPr>
                        <a:t>Operations Manager (or its equivalent/delegate)</a:t>
                      </a:r>
                    </a:p>
                  </a:txBody>
                  <a:tcPr marL="9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0708430"/>
                  </a:ext>
                </a:extLst>
              </a:tr>
            </a:tbl>
          </a:graphicData>
        </a:graphic>
      </p:graphicFrame>
    </p:spTree>
    <p:extLst>
      <p:ext uri="{BB962C8B-B14F-4D97-AF65-F5344CB8AC3E}">
        <p14:creationId xmlns:p14="http://schemas.microsoft.com/office/powerpoint/2010/main" val="198588949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76B47-CE7A-510F-943D-E0C711812331}"/>
            </a:ext>
          </a:extLst>
        </p:cNvPr>
        <p:cNvGrpSpPr/>
        <p:nvPr/>
      </p:nvGrpSpPr>
      <p:grpSpPr>
        <a:xfrm>
          <a:off x="0" y="0"/>
          <a:ext cx="0" cy="0"/>
          <a:chOff x="0" y="0"/>
          <a:chExt cx="0" cy="0"/>
        </a:xfrm>
      </p:grpSpPr>
      <p:sp>
        <p:nvSpPr>
          <p:cNvPr id="17" name="Rectangle 16" descr="Blue 10 quarter slide background">
            <a:extLst>
              <a:ext uri="{FF2B5EF4-FFF2-40B4-BE49-F238E27FC236}">
                <a16:creationId xmlns:a16="http://schemas.microsoft.com/office/drawing/2014/main" id="{5C08DC0F-D31E-9552-ED53-986A0365FBAD}"/>
              </a:ext>
            </a:extLst>
          </p:cNvPr>
          <p:cNvSpPr/>
          <p:nvPr/>
        </p:nvSpPr>
        <p:spPr bwMode="auto">
          <a:xfrm>
            <a:off x="-21845" y="0"/>
            <a:ext cx="6096001" cy="13716000"/>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5" name="Slide Number Placeholder 4">
            <a:extLst>
              <a:ext uri="{FF2B5EF4-FFF2-40B4-BE49-F238E27FC236}">
                <a16:creationId xmlns:a16="http://schemas.microsoft.com/office/drawing/2014/main" id="{FB1C2A28-F82D-40A1-33FB-AC7F81B94DE6}"/>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19</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9B15348B-0C50-CD82-FBEB-000E0EAA16C2}"/>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Title 1">
            <a:extLst>
              <a:ext uri="{FF2B5EF4-FFF2-40B4-BE49-F238E27FC236}">
                <a16:creationId xmlns:a16="http://schemas.microsoft.com/office/drawing/2014/main" id="{2AB9E1DF-614E-2B5B-4E2E-8CD32073C736}"/>
              </a:ext>
            </a:extLst>
          </p:cNvPr>
          <p:cNvSpPr>
            <a:spLocks noGrp="1"/>
          </p:cNvSpPr>
          <p:nvPr>
            <p:ph type="title"/>
          </p:nvPr>
        </p:nvSpPr>
        <p:spPr>
          <a:xfrm>
            <a:off x="576072" y="576072"/>
            <a:ext cx="4949825" cy="4573588"/>
          </a:xfrm>
        </p:spPr>
        <p:txBody>
          <a:bodyPr/>
          <a:lstStyle/>
          <a:p>
            <a:r>
              <a:rPr lang="en-US" sz="6400" dirty="0">
                <a:solidFill>
                  <a:schemeClr val="accent1"/>
                </a:solidFill>
              </a:rPr>
              <a:t>Key Takeaway</a:t>
            </a:r>
          </a:p>
        </p:txBody>
      </p:sp>
      <p:sp>
        <p:nvSpPr>
          <p:cNvPr id="3" name="Text Placeholder 6">
            <a:extLst>
              <a:ext uri="{FF2B5EF4-FFF2-40B4-BE49-F238E27FC236}">
                <a16:creationId xmlns:a16="http://schemas.microsoft.com/office/drawing/2014/main" id="{FFA20178-D14E-0889-2996-F989D4B05367}"/>
              </a:ext>
            </a:extLst>
          </p:cNvPr>
          <p:cNvSpPr txBox="1">
            <a:spLocks/>
          </p:cNvSpPr>
          <p:nvPr/>
        </p:nvSpPr>
        <p:spPr>
          <a:xfrm>
            <a:off x="6662801" y="853359"/>
            <a:ext cx="4953000" cy="252160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altLang="en-US" b="1" kern="0" dirty="0">
                <a:cs typeface="Calibri" panose="020F0502020204030204" pitchFamily="34" charset="0"/>
              </a:rPr>
              <a:t>DCC </a:t>
            </a:r>
            <a:r>
              <a:rPr lang="en-US" altLang="en-US" kern="0" dirty="0">
                <a:cs typeface="Calibri" panose="020F0502020204030204" pitchFamily="34" charset="0"/>
              </a:rPr>
              <a:t>is the new Center’s Records Management Repository.</a:t>
            </a:r>
          </a:p>
        </p:txBody>
      </p:sp>
      <p:cxnSp>
        <p:nvCxnSpPr>
          <p:cNvPr id="4" name="Straight Connector 3" descr="Vertical column divider">
            <a:extLst>
              <a:ext uri="{FF2B5EF4-FFF2-40B4-BE49-F238E27FC236}">
                <a16:creationId xmlns:a16="http://schemas.microsoft.com/office/drawing/2014/main" id="{A80DD739-AB7D-7AF8-D3F9-AD3DF35C36FB}"/>
              </a:ext>
              <a:ext uri="{C183D7F6-B498-43B3-948B-1728B52AA6E4}">
                <adec:decorative xmlns:adec="http://schemas.microsoft.com/office/drawing/2017/decorative" val="0"/>
              </a:ext>
            </a:extLst>
          </p:cNvPr>
          <p:cNvCxnSpPr/>
          <p:nvPr/>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2">
            <a:extLst>
              <a:ext uri="{FF2B5EF4-FFF2-40B4-BE49-F238E27FC236}">
                <a16:creationId xmlns:a16="http://schemas.microsoft.com/office/drawing/2014/main" id="{990A2066-D145-4071-F7D5-AD10673D8373}"/>
              </a:ext>
            </a:extLst>
          </p:cNvPr>
          <p:cNvSpPr txBox="1">
            <a:spLocks/>
          </p:cNvSpPr>
          <p:nvPr/>
        </p:nvSpPr>
        <p:spPr>
          <a:xfrm>
            <a:off x="12757150" y="707887"/>
            <a:ext cx="4953000" cy="25412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altLang="en-US" kern="0" dirty="0">
                <a:cs typeface="Calibri" panose="020F0502020204030204" pitchFamily="34" charset="0"/>
              </a:rPr>
              <a:t>Records Matrices are </a:t>
            </a:r>
            <a:r>
              <a:rPr lang="en-US" altLang="en-US" b="1" kern="0" dirty="0">
                <a:cs typeface="Calibri" panose="020F0502020204030204" pitchFamily="34" charset="0"/>
              </a:rPr>
              <a:t>reviewed and approved</a:t>
            </a:r>
            <a:r>
              <a:rPr lang="en-US" altLang="en-US" kern="0" dirty="0">
                <a:cs typeface="Calibri" panose="020F0502020204030204" pitchFamily="34" charset="0"/>
              </a:rPr>
              <a:t> </a:t>
            </a:r>
            <a:r>
              <a:rPr lang="en-US" altLang="en-US" b="1" kern="0" dirty="0">
                <a:cs typeface="Calibri" panose="020F0502020204030204" pitchFamily="34" charset="0"/>
              </a:rPr>
              <a:t>Annually.</a:t>
            </a:r>
          </a:p>
          <a:p>
            <a:pPr marL="742950" lvl="1" indent="-285750">
              <a:buFont typeface="Wingdings" pitchFamily="2" charset="2"/>
              <a:buChar char="ü"/>
            </a:pPr>
            <a:r>
              <a:rPr lang="en-US" altLang="en-US" kern="0" dirty="0">
                <a:cs typeface="Calibri" panose="020F0502020204030204" pitchFamily="34" charset="0"/>
              </a:rPr>
              <a:t>Ensure listing is complete &amp; information are accurate</a:t>
            </a:r>
          </a:p>
        </p:txBody>
      </p:sp>
      <p:cxnSp>
        <p:nvCxnSpPr>
          <p:cNvPr id="8" name="Straight Connector 7" descr="Vertical column divider">
            <a:extLst>
              <a:ext uri="{FF2B5EF4-FFF2-40B4-BE49-F238E27FC236}">
                <a16:creationId xmlns:a16="http://schemas.microsoft.com/office/drawing/2014/main" id="{B25EF868-765A-BFB6-8F2E-05736833BE61}"/>
              </a:ext>
              <a:ext uri="{C183D7F6-B498-43B3-948B-1728B52AA6E4}">
                <adec:decorative xmlns:adec="http://schemas.microsoft.com/office/drawing/2017/decorative" val="0"/>
              </a:ext>
            </a:extLst>
          </p:cNvPr>
          <p:cNvCxnSpPr/>
          <p:nvPr/>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3">
            <a:extLst>
              <a:ext uri="{FF2B5EF4-FFF2-40B4-BE49-F238E27FC236}">
                <a16:creationId xmlns:a16="http://schemas.microsoft.com/office/drawing/2014/main" id="{404E8C50-1240-5B71-81CC-02656C3AE5A1}"/>
              </a:ext>
            </a:extLst>
          </p:cNvPr>
          <p:cNvSpPr txBox="1">
            <a:spLocks/>
          </p:cNvSpPr>
          <p:nvPr/>
        </p:nvSpPr>
        <p:spPr>
          <a:xfrm>
            <a:off x="18845403" y="728908"/>
            <a:ext cx="4959350" cy="2250255"/>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altLang="en-US" kern="0" dirty="0">
                <a:cs typeface="Calibri" panose="020F0502020204030204" pitchFamily="34" charset="0"/>
              </a:rPr>
              <a:t>Records Retention applies to both </a:t>
            </a:r>
            <a:r>
              <a:rPr lang="en-US" altLang="en-US" b="1" kern="0" dirty="0">
                <a:cs typeface="Calibri" panose="020F0502020204030204" pitchFamily="34" charset="0"/>
              </a:rPr>
              <a:t>hardcopies</a:t>
            </a:r>
            <a:r>
              <a:rPr lang="en-US" altLang="en-US" kern="0" dirty="0">
                <a:cs typeface="Calibri" panose="020F0502020204030204" pitchFamily="34" charset="0"/>
              </a:rPr>
              <a:t> and </a:t>
            </a:r>
            <a:r>
              <a:rPr lang="en-US" altLang="en-US" b="1" kern="0" dirty="0">
                <a:cs typeface="Calibri" panose="020F0502020204030204" pitchFamily="34" charset="0"/>
              </a:rPr>
              <a:t>electronic</a:t>
            </a:r>
            <a:r>
              <a:rPr lang="en-US" altLang="en-US" kern="0" dirty="0">
                <a:cs typeface="Calibri" panose="020F0502020204030204" pitchFamily="34" charset="0"/>
              </a:rPr>
              <a:t> copies.</a:t>
            </a:r>
            <a:endParaRPr lang="en-US" kern="0" dirty="0">
              <a:cs typeface="Calibri" panose="020F0502020204030204" pitchFamily="34" charset="0"/>
            </a:endParaRPr>
          </a:p>
        </p:txBody>
      </p:sp>
      <p:cxnSp>
        <p:nvCxnSpPr>
          <p:cNvPr id="10" name="Straight Connector 9" descr="Horizontal row divider">
            <a:extLst>
              <a:ext uri="{FF2B5EF4-FFF2-40B4-BE49-F238E27FC236}">
                <a16:creationId xmlns:a16="http://schemas.microsoft.com/office/drawing/2014/main" id="{42244AC9-A5CA-9B01-7B8C-BC746166264E}"/>
              </a:ext>
              <a:ext uri="{C183D7F6-B498-43B3-948B-1728B52AA6E4}">
                <adec:decorative xmlns:adec="http://schemas.microsoft.com/office/drawing/2017/decorative" val="0"/>
              </a:ext>
            </a:extLst>
          </p:cNvPr>
          <p:cNvCxnSpPr>
            <a:cxnSpLocks/>
          </p:cNvCxnSpPr>
          <p:nvPr/>
        </p:nvCxnSpPr>
        <p:spPr bwMode="auto">
          <a:xfrm>
            <a:off x="6669151" y="5355771"/>
            <a:ext cx="171528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7">
            <a:extLst>
              <a:ext uri="{FF2B5EF4-FFF2-40B4-BE49-F238E27FC236}">
                <a16:creationId xmlns:a16="http://schemas.microsoft.com/office/drawing/2014/main" id="{499D8CFD-7363-B3F3-CCFA-2CE561A14FCF}"/>
              </a:ext>
            </a:extLst>
          </p:cNvPr>
          <p:cNvSpPr txBox="1">
            <a:spLocks/>
          </p:cNvSpPr>
          <p:nvPr/>
        </p:nvSpPr>
        <p:spPr>
          <a:xfrm>
            <a:off x="18848578" y="5886520"/>
            <a:ext cx="4953000" cy="49530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altLang="en-US" kern="0" dirty="0">
                <a:cs typeface="Calibri" panose="020F0502020204030204" pitchFamily="34" charset="0"/>
              </a:rPr>
              <a:t>DTPs and Job Aids are </a:t>
            </a:r>
            <a:r>
              <a:rPr lang="en-US" altLang="en-US" b="1" kern="0" dirty="0">
                <a:cs typeface="Calibri" panose="020F0502020204030204" pitchFamily="34" charset="0"/>
              </a:rPr>
              <a:t>reference</a:t>
            </a:r>
            <a:r>
              <a:rPr lang="en-US" altLang="en-US" kern="0" dirty="0">
                <a:cs typeface="Calibri" panose="020F0502020204030204" pitchFamily="34" charset="0"/>
              </a:rPr>
              <a:t> records.</a:t>
            </a:r>
          </a:p>
          <a:p>
            <a:pPr marL="800100" lvl="1" indent="-342900">
              <a:buFont typeface="Wingdings" pitchFamily="2" charset="2"/>
              <a:buChar char="ü"/>
            </a:pPr>
            <a:r>
              <a:rPr lang="en-US" altLang="en-US" kern="0" dirty="0">
                <a:cs typeface="Calibri" panose="020F0502020204030204" pitchFamily="34" charset="0"/>
              </a:rPr>
              <a:t>Retention is </a:t>
            </a:r>
            <a:r>
              <a:rPr lang="en-US" altLang="en-US" b="1" kern="0" dirty="0">
                <a:cs typeface="Calibri" panose="020F0502020204030204" pitchFamily="34" charset="0"/>
              </a:rPr>
              <a:t>S+01</a:t>
            </a:r>
            <a:endParaRPr lang="en-US" altLang="en-US" kern="0" dirty="0">
              <a:cs typeface="Calibri" panose="020F0502020204030204" pitchFamily="34" charset="0"/>
            </a:endParaRPr>
          </a:p>
        </p:txBody>
      </p:sp>
      <p:sp>
        <p:nvSpPr>
          <p:cNvPr id="12" name="Text Placeholder 4">
            <a:extLst>
              <a:ext uri="{FF2B5EF4-FFF2-40B4-BE49-F238E27FC236}">
                <a16:creationId xmlns:a16="http://schemas.microsoft.com/office/drawing/2014/main" id="{FA6A1D37-EF4A-EE6F-DC1F-DA7E45918523}"/>
              </a:ext>
            </a:extLst>
          </p:cNvPr>
          <p:cNvSpPr txBox="1">
            <a:spLocks/>
          </p:cNvSpPr>
          <p:nvPr/>
        </p:nvSpPr>
        <p:spPr>
          <a:xfrm>
            <a:off x="12746355" y="5838326"/>
            <a:ext cx="4953000" cy="49530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Changes</a:t>
            </a:r>
            <a:r>
              <a:rPr lang="en-US" kern="0" dirty="0"/>
              <a:t> in the records matrix should be reflected </a:t>
            </a:r>
            <a:r>
              <a:rPr lang="en-US" b="1" kern="0" dirty="0"/>
              <a:t>timely</a:t>
            </a:r>
            <a:r>
              <a:rPr lang="en-US" kern="0" dirty="0"/>
              <a:t>.</a:t>
            </a:r>
          </a:p>
        </p:txBody>
      </p:sp>
      <p:sp>
        <p:nvSpPr>
          <p:cNvPr id="13" name="Text Placeholder 5">
            <a:extLst>
              <a:ext uri="{FF2B5EF4-FFF2-40B4-BE49-F238E27FC236}">
                <a16:creationId xmlns:a16="http://schemas.microsoft.com/office/drawing/2014/main" id="{12BEB05A-0134-C02F-6CA9-7FF28C46FEBF}"/>
              </a:ext>
            </a:extLst>
          </p:cNvPr>
          <p:cNvSpPr txBox="1">
            <a:spLocks/>
          </p:cNvSpPr>
          <p:nvPr/>
        </p:nvSpPr>
        <p:spPr>
          <a:xfrm>
            <a:off x="6684443" y="5833013"/>
            <a:ext cx="4953000" cy="49530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altLang="en-US" kern="0" dirty="0">
                <a:cs typeface="Calibri" panose="020F0502020204030204" pitchFamily="34" charset="0"/>
              </a:rPr>
              <a:t>Remember, </a:t>
            </a:r>
            <a:r>
              <a:rPr lang="en-US" altLang="en-US" b="1" kern="0" dirty="0">
                <a:cs typeface="Calibri" panose="020F0502020204030204" pitchFamily="34" charset="0"/>
              </a:rPr>
              <a:t>that ALL records are auditable.</a:t>
            </a:r>
          </a:p>
        </p:txBody>
      </p:sp>
      <p:sp>
        <p:nvSpPr>
          <p:cNvPr id="14" name="Slide Number Placeholder 2">
            <a:extLst>
              <a:ext uri="{FF2B5EF4-FFF2-40B4-BE49-F238E27FC236}">
                <a16:creationId xmlns:a16="http://schemas.microsoft.com/office/drawing/2014/main" id="{837DA8A2-6BB4-D0F7-CB70-A1559D55F683}"/>
              </a:ext>
            </a:extLst>
          </p:cNvPr>
          <p:cNvSpPr txBox="1">
            <a:spLocks/>
          </p:cNvSpPr>
          <p:nvPr/>
        </p:nvSpPr>
        <p:spPr>
          <a:xfrm>
            <a:off x="23555959" y="12926828"/>
            <a:ext cx="256541" cy="254001"/>
          </a:xfrm>
          <a:prstGeom prst="rect">
            <a:avLst/>
          </a:prstGeom>
        </p:spPr>
        <p:txBody>
          <a:bodyPr/>
          <a:ls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endParaRPr lang="en-US" dirty="0"/>
          </a:p>
        </p:txBody>
      </p:sp>
      <p:pic>
        <p:nvPicPr>
          <p:cNvPr id="15" name="Picture 14" descr="Innovate, Blue 60 pictogram">
            <a:extLst>
              <a:ext uri="{FF2B5EF4-FFF2-40B4-BE49-F238E27FC236}">
                <a16:creationId xmlns:a16="http://schemas.microsoft.com/office/drawing/2014/main" id="{D5E03AFE-5B13-BF50-38D1-8D893EF26CD6}"/>
              </a:ext>
            </a:extLst>
          </p:cNvPr>
          <p:cNvPicPr>
            <a:picLocks noChangeAspect="1"/>
          </p:cNvPicPr>
          <p:nvPr/>
        </p:nvPicPr>
        <p:blipFill>
          <a:blip r:embed="rId3"/>
          <a:srcRect/>
          <a:stretch/>
        </p:blipFill>
        <p:spPr>
          <a:xfrm>
            <a:off x="1354196" y="9144000"/>
            <a:ext cx="2553467" cy="2553467"/>
          </a:xfrm>
          <a:prstGeom prst="rect">
            <a:avLst/>
          </a:prstGeom>
        </p:spPr>
      </p:pic>
    </p:spTree>
    <p:extLst>
      <p:ext uri="{BB962C8B-B14F-4D97-AF65-F5344CB8AC3E}">
        <p14:creationId xmlns:p14="http://schemas.microsoft.com/office/powerpoint/2010/main" val="328662183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B5ABB-EBA0-B8EE-3A87-11318BAD2F4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5968BB7-216F-A9F0-DA39-7184C4FC7E9D}"/>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2150FFBE-9116-0804-63A4-6483EAD34261}"/>
              </a:ext>
            </a:extLst>
          </p:cNvPr>
          <p:cNvSpPr>
            <a:spLocks noGrp="1"/>
          </p:cNvSpPr>
          <p:nvPr>
            <p:ph type="title"/>
          </p:nvPr>
        </p:nvSpPr>
        <p:spPr>
          <a:xfrm>
            <a:off x="576000" y="384048"/>
            <a:ext cx="11036491" cy="2663825"/>
          </a:xfrm>
        </p:spPr>
        <p:txBody>
          <a:bodyPr/>
          <a:lstStyle/>
          <a:p>
            <a:r>
              <a:rPr lang="en-US" dirty="0"/>
              <a:t>Knowledge</a:t>
            </a:r>
            <a:br>
              <a:rPr lang="en-US" dirty="0"/>
            </a:br>
            <a:r>
              <a:rPr lang="en-US" dirty="0"/>
              <a:t>Check</a:t>
            </a:r>
          </a:p>
        </p:txBody>
      </p:sp>
    </p:spTree>
    <p:extLst>
      <p:ext uri="{BB962C8B-B14F-4D97-AF65-F5344CB8AC3E}">
        <p14:creationId xmlns:p14="http://schemas.microsoft.com/office/powerpoint/2010/main" val="10413087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048E4-F959-C18A-0362-A0AEECB6239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F15DA6E-D51A-A592-33C5-B4BA726A2186}"/>
              </a:ext>
            </a:extLst>
          </p:cNvPr>
          <p:cNvSpPr>
            <a:spLocks noGrp="1"/>
          </p:cNvSpPr>
          <p:nvPr>
            <p:ph type="sldNum" sz="quarter" idx="2"/>
          </p:nvPr>
        </p:nvSpPr>
        <p:spPr/>
        <p:txBody>
          <a:bodyPr/>
          <a:lstStyle/>
          <a:p>
            <a:pPr algn="l"/>
            <a:fld id="{86CB4B4D-7CA3-9044-876B-883B54F8677D}" type="slidenum">
              <a:rPr lang="en-US" smtClean="0"/>
              <a:pPr algn="l"/>
              <a:t>21</a:t>
            </a:fld>
            <a:endParaRPr lang="en-US" dirty="0"/>
          </a:p>
        </p:txBody>
      </p:sp>
      <p:sp>
        <p:nvSpPr>
          <p:cNvPr id="6" name="Footer Placeholder 5">
            <a:extLst>
              <a:ext uri="{FF2B5EF4-FFF2-40B4-BE49-F238E27FC236}">
                <a16:creationId xmlns:a16="http://schemas.microsoft.com/office/drawing/2014/main" id="{BEF97954-E1E5-B1B4-9C33-CA3DFFC4DDFD}"/>
              </a:ext>
            </a:extLst>
          </p:cNvPr>
          <p:cNvSpPr>
            <a:spLocks noGrp="1"/>
          </p:cNvSpPr>
          <p:nvPr>
            <p:ph type="ftr" sz="quarter" idx="3"/>
          </p:nvPr>
        </p:nvSpPr>
        <p:spPr>
          <a:xfrm>
            <a:off x="1381091" y="12782550"/>
            <a:ext cx="3385135" cy="421735"/>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14" name="Title 1">
            <a:extLst>
              <a:ext uri="{FF2B5EF4-FFF2-40B4-BE49-F238E27FC236}">
                <a16:creationId xmlns:a16="http://schemas.microsoft.com/office/drawing/2014/main" id="{DC06FAFE-7B62-72EC-A35D-D4B26AD73327}"/>
              </a:ext>
            </a:extLst>
          </p:cNvPr>
          <p:cNvSpPr txBox="1">
            <a:spLocks/>
          </p:cNvSpPr>
          <p:nvPr/>
        </p:nvSpPr>
        <p:spPr>
          <a:xfrm>
            <a:off x="588442" y="927280"/>
            <a:ext cx="7669405" cy="1084400"/>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800" kern="0" dirty="0">
                <a:solidFill>
                  <a:schemeClr val="accent1"/>
                </a:solidFill>
              </a:rPr>
              <a:t>Question 1</a:t>
            </a:r>
          </a:p>
        </p:txBody>
      </p:sp>
      <p:cxnSp>
        <p:nvCxnSpPr>
          <p:cNvPr id="8" name="Straight Connector 7" descr="Vertical column divider">
            <a:extLst>
              <a:ext uri="{FF2B5EF4-FFF2-40B4-BE49-F238E27FC236}">
                <a16:creationId xmlns:a16="http://schemas.microsoft.com/office/drawing/2014/main" id="{02F00CBD-41D4-C04E-8EF6-327EA8AE07C8}"/>
              </a:ext>
            </a:extLst>
          </p:cNvPr>
          <p:cNvCxnSpPr/>
          <p:nvPr/>
        </p:nvCxnSpPr>
        <p:spPr bwMode="auto">
          <a:xfrm>
            <a:off x="12190539" y="1429312"/>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5924119A-78D8-C152-EA9B-A5268822DEEF}"/>
              </a:ext>
            </a:extLst>
          </p:cNvPr>
          <p:cNvSpPr txBox="1">
            <a:spLocks/>
          </p:cNvSpPr>
          <p:nvPr/>
        </p:nvSpPr>
        <p:spPr>
          <a:xfrm>
            <a:off x="1060377" y="3429000"/>
            <a:ext cx="10558612" cy="2029968"/>
          </a:xfrm>
          <a:prstGeom prst="rect">
            <a:avLst/>
          </a:prstGeom>
        </p:spPr>
        <p:txBody>
          <a:bodyPr>
            <a:no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b="1" i="1" dirty="0"/>
              <a:t>Which of the following is the role and responsibility of a Records Owner?</a:t>
            </a:r>
            <a:endParaRPr lang="en-US" b="1" i="1" dirty="0"/>
          </a:p>
        </p:txBody>
      </p:sp>
      <p:sp>
        <p:nvSpPr>
          <p:cNvPr id="11" name="Text Placeholder 2">
            <a:extLst>
              <a:ext uri="{FF2B5EF4-FFF2-40B4-BE49-F238E27FC236}">
                <a16:creationId xmlns:a16="http://schemas.microsoft.com/office/drawing/2014/main" id="{1234BCBA-965C-002B-077C-123EB5F58530}"/>
              </a:ext>
            </a:extLst>
          </p:cNvPr>
          <p:cNvSpPr txBox="1">
            <a:spLocks/>
          </p:cNvSpPr>
          <p:nvPr/>
        </p:nvSpPr>
        <p:spPr>
          <a:xfrm>
            <a:off x="1055869" y="5774437"/>
            <a:ext cx="10558612" cy="49651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Arial"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742950" indent="-742950">
              <a:buFont typeface="+mj-lt"/>
              <a:buAutoNum type="alphaLcPeriod"/>
            </a:pPr>
            <a:r>
              <a:rPr lang="en-US" sz="3600" kern="0" dirty="0">
                <a:latin typeface="+mj-lt"/>
              </a:rPr>
              <a:t>Assign Records SPOC (Records Custodian) for the team</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Archive Listing and Disposal Authorization</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Identify records to be retained</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All of the above</a:t>
            </a:r>
          </a:p>
        </p:txBody>
      </p:sp>
      <p:pic>
        <p:nvPicPr>
          <p:cNvPr id="12" name="Picture 11" descr="Dialogue, Blue 60 pictogram">
            <a:extLst>
              <a:ext uri="{FF2B5EF4-FFF2-40B4-BE49-F238E27FC236}">
                <a16:creationId xmlns:a16="http://schemas.microsoft.com/office/drawing/2014/main" id="{01878836-E2A1-E9A0-AA2F-128EC6BF9312}"/>
              </a:ext>
            </a:extLst>
          </p:cNvPr>
          <p:cNvPicPr>
            <a:picLocks noChangeAspect="1"/>
          </p:cNvPicPr>
          <p:nvPr/>
        </p:nvPicPr>
        <p:blipFill>
          <a:blip r:embed="rId5"/>
          <a:srcRect/>
          <a:stretch/>
        </p:blipFill>
        <p:spPr>
          <a:xfrm>
            <a:off x="21516975" y="518065"/>
            <a:ext cx="2006863" cy="2006863"/>
          </a:xfrm>
          <a:prstGeom prst="rect">
            <a:avLst/>
          </a:prstGeom>
        </p:spPr>
      </p:pic>
      <p:sp>
        <p:nvSpPr>
          <p:cNvPr id="13" name="Text Placeholder 3">
            <a:extLst>
              <a:ext uri="{FF2B5EF4-FFF2-40B4-BE49-F238E27FC236}">
                <a16:creationId xmlns:a16="http://schemas.microsoft.com/office/drawing/2014/main" id="{418D33DC-D840-ADBC-0C17-7C3417EF58F6}"/>
              </a:ext>
            </a:extLst>
          </p:cNvPr>
          <p:cNvSpPr txBox="1">
            <a:spLocks/>
          </p:cNvSpPr>
          <p:nvPr/>
        </p:nvSpPr>
        <p:spPr>
          <a:xfrm>
            <a:off x="12763426" y="3429000"/>
            <a:ext cx="10095186" cy="923544"/>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d.</a:t>
            </a:r>
            <a:endParaRPr lang="en-US" kern="0" dirty="0"/>
          </a:p>
        </p:txBody>
      </p:sp>
      <p:sp>
        <p:nvSpPr>
          <p:cNvPr id="15" name="TextBox 14">
            <a:extLst>
              <a:ext uri="{FF2B5EF4-FFF2-40B4-BE49-F238E27FC236}">
                <a16:creationId xmlns:a16="http://schemas.microsoft.com/office/drawing/2014/main" id="{97A301D9-2589-617A-D0E9-F7464D6C2765}"/>
              </a:ext>
            </a:extLst>
          </p:cNvPr>
          <p:cNvSpPr txBox="1"/>
          <p:nvPr/>
        </p:nvSpPr>
        <p:spPr>
          <a:xfrm>
            <a:off x="12659524" y="5725010"/>
            <a:ext cx="10923832" cy="4524315"/>
          </a:xfrm>
          <a:prstGeom prst="rect">
            <a:avLst/>
          </a:prstGeom>
          <a:noFill/>
        </p:spPr>
        <p:txBody>
          <a:bodyPr wrap="square" rtlCol="0">
            <a:spAutoFit/>
          </a:bodyPr>
          <a:lstStyle/>
          <a:p>
            <a:r>
              <a:rPr lang="en-US" dirty="0">
                <a:latin typeface="+mj-lt"/>
                <a:cs typeface="Arial" panose="020B0604020202020204" pitchFamily="34" charset="0"/>
              </a:rPr>
              <a:t>The answer is all the above. Typically assigned to HR Delivery Manager/Operations Leads (or its equivalent), Records Owner has the responsibility to identify all records to be retained in accordance with IBM/client requirements, assign the Records Custodian for the team, and provide review and approval of the Records Matrix and disposal of records.</a:t>
            </a:r>
          </a:p>
        </p:txBody>
      </p:sp>
      <p:pic>
        <p:nvPicPr>
          <p:cNvPr id="4" name="IM_FNC_Slide 20">
            <a:hlinkClick r:id="" action="ppaction://media"/>
            <a:extLst>
              <a:ext uri="{FF2B5EF4-FFF2-40B4-BE49-F238E27FC236}">
                <a16:creationId xmlns:a16="http://schemas.microsoft.com/office/drawing/2014/main" id="{0D5BCAFE-6BE0-0A28-3F49-752824D72FAB}"/>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3442166" y="518065"/>
            <a:ext cx="609600" cy="609600"/>
          </a:xfrm>
          <a:prstGeom prst="rect">
            <a:avLst/>
          </a:prstGeom>
        </p:spPr>
      </p:pic>
    </p:spTree>
    <p:extLst>
      <p:ext uri="{BB962C8B-B14F-4D97-AF65-F5344CB8AC3E}">
        <p14:creationId xmlns:p14="http://schemas.microsoft.com/office/powerpoint/2010/main" val="1203369804"/>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4"/>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B4D5B-2047-DBED-79EA-B115BC83D8B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A750FA-2CCA-C6EC-F230-311C8EBDDE0F}"/>
              </a:ext>
            </a:extLst>
          </p:cNvPr>
          <p:cNvSpPr>
            <a:spLocks noGrp="1"/>
          </p:cNvSpPr>
          <p:nvPr>
            <p:ph type="sldNum" sz="quarter" idx="2"/>
          </p:nvPr>
        </p:nvSpPr>
        <p:spPr/>
        <p:txBody>
          <a:bodyPr/>
          <a:lstStyle/>
          <a:p>
            <a:pPr algn="l"/>
            <a:fld id="{86CB4B4D-7CA3-9044-876B-883B54F8677D}" type="slidenum">
              <a:rPr lang="en-US" smtClean="0"/>
              <a:pPr algn="l"/>
              <a:t>22</a:t>
            </a:fld>
            <a:endParaRPr lang="en-US" dirty="0"/>
          </a:p>
        </p:txBody>
      </p:sp>
      <p:sp>
        <p:nvSpPr>
          <p:cNvPr id="6" name="Footer Placeholder 5">
            <a:extLst>
              <a:ext uri="{FF2B5EF4-FFF2-40B4-BE49-F238E27FC236}">
                <a16:creationId xmlns:a16="http://schemas.microsoft.com/office/drawing/2014/main" id="{751A1E83-09C6-279E-C16A-6932B0D81F18}"/>
              </a:ext>
            </a:extLst>
          </p:cNvPr>
          <p:cNvSpPr>
            <a:spLocks noGrp="1"/>
          </p:cNvSpPr>
          <p:nvPr>
            <p:ph type="ftr" sz="quarter" idx="3"/>
          </p:nvPr>
        </p:nvSpPr>
        <p:spPr>
          <a:xfrm>
            <a:off x="1381091" y="12782550"/>
            <a:ext cx="3385135" cy="421735"/>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14" name="Title 1">
            <a:extLst>
              <a:ext uri="{FF2B5EF4-FFF2-40B4-BE49-F238E27FC236}">
                <a16:creationId xmlns:a16="http://schemas.microsoft.com/office/drawing/2014/main" id="{6243BCC8-DBF1-03BA-C052-CA83B65C48B4}"/>
              </a:ext>
            </a:extLst>
          </p:cNvPr>
          <p:cNvSpPr txBox="1">
            <a:spLocks/>
          </p:cNvSpPr>
          <p:nvPr/>
        </p:nvSpPr>
        <p:spPr>
          <a:xfrm>
            <a:off x="588442" y="927280"/>
            <a:ext cx="7669405" cy="1084400"/>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800" kern="0" dirty="0">
                <a:solidFill>
                  <a:schemeClr val="accent1"/>
                </a:solidFill>
              </a:rPr>
              <a:t>Question 2</a:t>
            </a:r>
          </a:p>
        </p:txBody>
      </p:sp>
      <p:cxnSp>
        <p:nvCxnSpPr>
          <p:cNvPr id="8" name="Straight Connector 7" descr="Vertical column divider">
            <a:extLst>
              <a:ext uri="{FF2B5EF4-FFF2-40B4-BE49-F238E27FC236}">
                <a16:creationId xmlns:a16="http://schemas.microsoft.com/office/drawing/2014/main" id="{D409E26B-71C8-AC4A-B9CD-FDF8413D6CB2}"/>
              </a:ext>
            </a:extLst>
          </p:cNvPr>
          <p:cNvCxnSpPr/>
          <p:nvPr/>
        </p:nvCxnSpPr>
        <p:spPr bwMode="auto">
          <a:xfrm>
            <a:off x="12190539" y="1429312"/>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2" name="Picture 11" descr="Dialogue, Blue 60 pictogram">
            <a:extLst>
              <a:ext uri="{FF2B5EF4-FFF2-40B4-BE49-F238E27FC236}">
                <a16:creationId xmlns:a16="http://schemas.microsoft.com/office/drawing/2014/main" id="{B4CBB72D-4A28-0305-970D-A2FA00495C83}"/>
              </a:ext>
            </a:extLst>
          </p:cNvPr>
          <p:cNvPicPr>
            <a:picLocks noChangeAspect="1"/>
          </p:cNvPicPr>
          <p:nvPr/>
        </p:nvPicPr>
        <p:blipFill>
          <a:blip r:embed="rId5"/>
          <a:srcRect/>
          <a:stretch/>
        </p:blipFill>
        <p:spPr>
          <a:xfrm>
            <a:off x="21516975" y="518065"/>
            <a:ext cx="2006863" cy="2006863"/>
          </a:xfrm>
          <a:prstGeom prst="rect">
            <a:avLst/>
          </a:prstGeom>
        </p:spPr>
      </p:pic>
      <p:sp>
        <p:nvSpPr>
          <p:cNvPr id="2" name="Text Placeholder 2">
            <a:extLst>
              <a:ext uri="{FF2B5EF4-FFF2-40B4-BE49-F238E27FC236}">
                <a16:creationId xmlns:a16="http://schemas.microsoft.com/office/drawing/2014/main" id="{A5D255BA-3CBF-18BB-EF65-56A3AD2BAF85}"/>
              </a:ext>
            </a:extLst>
          </p:cNvPr>
          <p:cNvSpPr txBox="1">
            <a:spLocks/>
          </p:cNvSpPr>
          <p:nvPr/>
        </p:nvSpPr>
        <p:spPr>
          <a:xfrm>
            <a:off x="1060377" y="3429000"/>
            <a:ext cx="10558612" cy="1874520"/>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b="1" i="1" dirty="0"/>
              <a:t>Which of the following is true when we are talking about the roles and responsibility of a Records Custodian?</a:t>
            </a:r>
          </a:p>
        </p:txBody>
      </p:sp>
      <p:sp>
        <p:nvSpPr>
          <p:cNvPr id="4" name="Text Placeholder 2">
            <a:extLst>
              <a:ext uri="{FF2B5EF4-FFF2-40B4-BE49-F238E27FC236}">
                <a16:creationId xmlns:a16="http://schemas.microsoft.com/office/drawing/2014/main" id="{2520E9C9-26E8-A614-34EC-60D905F16DAA}"/>
              </a:ext>
            </a:extLst>
          </p:cNvPr>
          <p:cNvSpPr txBox="1">
            <a:spLocks/>
          </p:cNvSpPr>
          <p:nvPr/>
        </p:nvSpPr>
        <p:spPr>
          <a:xfrm>
            <a:off x="1055869" y="5774437"/>
            <a:ext cx="10558612" cy="49651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Arial"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742950" indent="-742950">
              <a:buFont typeface="+mj-lt"/>
              <a:buAutoNum type="alphaLcPeriod"/>
            </a:pPr>
            <a:r>
              <a:rPr lang="en-US" sz="3600" kern="0" dirty="0">
                <a:latin typeface="+mj-lt"/>
              </a:rPr>
              <a:t>Responsible for aiding on communicating request to offsite/archiving vendors to support archiving activities of Records Owner.</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Does most of the legwork</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Identify, classify and maintains records</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None of the above</a:t>
            </a:r>
          </a:p>
        </p:txBody>
      </p:sp>
      <p:sp>
        <p:nvSpPr>
          <p:cNvPr id="7" name="Text Placeholder 3">
            <a:extLst>
              <a:ext uri="{FF2B5EF4-FFF2-40B4-BE49-F238E27FC236}">
                <a16:creationId xmlns:a16="http://schemas.microsoft.com/office/drawing/2014/main" id="{7A3B58BD-FCBA-2146-8885-78942AAEFDBA}"/>
              </a:ext>
            </a:extLst>
          </p:cNvPr>
          <p:cNvSpPr txBox="1">
            <a:spLocks/>
          </p:cNvSpPr>
          <p:nvPr/>
        </p:nvSpPr>
        <p:spPr>
          <a:xfrm>
            <a:off x="12763426" y="3429000"/>
            <a:ext cx="10095186" cy="813816"/>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b. </a:t>
            </a:r>
            <a:endParaRPr lang="en-US" kern="0" dirty="0"/>
          </a:p>
        </p:txBody>
      </p:sp>
      <p:sp>
        <p:nvSpPr>
          <p:cNvPr id="9" name="TextBox 8">
            <a:extLst>
              <a:ext uri="{FF2B5EF4-FFF2-40B4-BE49-F238E27FC236}">
                <a16:creationId xmlns:a16="http://schemas.microsoft.com/office/drawing/2014/main" id="{8E484B19-35F3-A51A-76F6-1C2D1528284B}"/>
              </a:ext>
            </a:extLst>
          </p:cNvPr>
          <p:cNvSpPr txBox="1"/>
          <p:nvPr/>
        </p:nvSpPr>
        <p:spPr>
          <a:xfrm>
            <a:off x="12659524" y="5774437"/>
            <a:ext cx="10923832" cy="3970318"/>
          </a:xfrm>
          <a:prstGeom prst="rect">
            <a:avLst/>
          </a:prstGeom>
          <a:noFill/>
        </p:spPr>
        <p:txBody>
          <a:bodyPr wrap="square" rtlCol="0">
            <a:spAutoFit/>
          </a:bodyPr>
          <a:lstStyle/>
          <a:p>
            <a:r>
              <a:rPr lang="en-US" dirty="0">
                <a:latin typeface="+mj-lt"/>
                <a:cs typeface="Arial" panose="020B0604020202020204" pitchFamily="34" charset="0"/>
              </a:rPr>
              <a:t>The answer is: b, does most of the legwork.</a:t>
            </a:r>
          </a:p>
          <a:p>
            <a:r>
              <a:rPr lang="en-US" dirty="0">
                <a:latin typeface="+mj-lt"/>
                <a:cs typeface="Arial" panose="020B0604020202020204" pitchFamily="34" charset="0"/>
              </a:rPr>
              <a:t>Typically assigned to HR Process Owners/Team Leads (or its equivalent), the Records Custodian is primarily responsible for organizing, labeling/indexing, storage, retrieval, and disposal of records. The Records Custodian may also be assigned to maintain the Records Matrix.</a:t>
            </a:r>
          </a:p>
        </p:txBody>
      </p:sp>
      <p:pic>
        <p:nvPicPr>
          <p:cNvPr id="3" name="IM_FNC_Slide 21">
            <a:hlinkClick r:id="" action="ppaction://media"/>
            <a:extLst>
              <a:ext uri="{FF2B5EF4-FFF2-40B4-BE49-F238E27FC236}">
                <a16:creationId xmlns:a16="http://schemas.microsoft.com/office/drawing/2014/main" id="{9B7EF034-D882-F7E7-4B69-89B5F516D855}"/>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3278556" y="518065"/>
            <a:ext cx="609600" cy="609600"/>
          </a:xfrm>
          <a:prstGeom prst="rect">
            <a:avLst/>
          </a:prstGeom>
        </p:spPr>
      </p:pic>
    </p:spTree>
    <p:extLst>
      <p:ext uri="{BB962C8B-B14F-4D97-AF65-F5344CB8AC3E}">
        <p14:creationId xmlns:p14="http://schemas.microsoft.com/office/powerpoint/2010/main" val="2766840462"/>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68393-71E5-0802-BC65-D29119DA744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E80E775-E9DA-87DD-81B4-B1D14D76A80C}"/>
              </a:ext>
            </a:extLst>
          </p:cNvPr>
          <p:cNvSpPr>
            <a:spLocks noGrp="1"/>
          </p:cNvSpPr>
          <p:nvPr>
            <p:ph type="sldNum" sz="quarter" idx="2"/>
          </p:nvPr>
        </p:nvSpPr>
        <p:spPr/>
        <p:txBody>
          <a:bodyPr/>
          <a:lstStyle/>
          <a:p>
            <a:pPr algn="l"/>
            <a:fld id="{86CB4B4D-7CA3-9044-876B-883B54F8677D}" type="slidenum">
              <a:rPr lang="en-US" smtClean="0"/>
              <a:pPr algn="l"/>
              <a:t>23</a:t>
            </a:fld>
            <a:endParaRPr lang="en-US" dirty="0"/>
          </a:p>
        </p:txBody>
      </p:sp>
      <p:sp>
        <p:nvSpPr>
          <p:cNvPr id="6" name="Footer Placeholder 5">
            <a:extLst>
              <a:ext uri="{FF2B5EF4-FFF2-40B4-BE49-F238E27FC236}">
                <a16:creationId xmlns:a16="http://schemas.microsoft.com/office/drawing/2014/main" id="{1B5B868F-4364-A800-EDC4-3D2CCEFF1F50}"/>
              </a:ext>
            </a:extLst>
          </p:cNvPr>
          <p:cNvSpPr>
            <a:spLocks noGrp="1"/>
          </p:cNvSpPr>
          <p:nvPr>
            <p:ph type="ftr" sz="quarter" idx="3"/>
          </p:nvPr>
        </p:nvSpPr>
        <p:spPr>
          <a:xfrm>
            <a:off x="1381091" y="12782550"/>
            <a:ext cx="3385135" cy="421735"/>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14" name="Title 1">
            <a:extLst>
              <a:ext uri="{FF2B5EF4-FFF2-40B4-BE49-F238E27FC236}">
                <a16:creationId xmlns:a16="http://schemas.microsoft.com/office/drawing/2014/main" id="{93C8BBFA-C9F6-D71A-F61D-A2833DD51D0D}"/>
              </a:ext>
            </a:extLst>
          </p:cNvPr>
          <p:cNvSpPr txBox="1">
            <a:spLocks/>
          </p:cNvSpPr>
          <p:nvPr/>
        </p:nvSpPr>
        <p:spPr>
          <a:xfrm>
            <a:off x="588442" y="927280"/>
            <a:ext cx="7669405" cy="1084400"/>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800" kern="0" dirty="0">
                <a:solidFill>
                  <a:schemeClr val="accent1"/>
                </a:solidFill>
              </a:rPr>
              <a:t>Question 3</a:t>
            </a:r>
          </a:p>
        </p:txBody>
      </p:sp>
      <p:cxnSp>
        <p:nvCxnSpPr>
          <p:cNvPr id="8" name="Straight Connector 7" descr="Vertical column divider">
            <a:extLst>
              <a:ext uri="{FF2B5EF4-FFF2-40B4-BE49-F238E27FC236}">
                <a16:creationId xmlns:a16="http://schemas.microsoft.com/office/drawing/2014/main" id="{1115491E-E7C1-5DE7-F857-6055E5720E5B}"/>
              </a:ext>
            </a:extLst>
          </p:cNvPr>
          <p:cNvCxnSpPr/>
          <p:nvPr/>
        </p:nvCxnSpPr>
        <p:spPr bwMode="auto">
          <a:xfrm>
            <a:off x="12190539" y="1429312"/>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2" name="Picture 11" descr="Dialogue, Blue 60 pictogram">
            <a:extLst>
              <a:ext uri="{FF2B5EF4-FFF2-40B4-BE49-F238E27FC236}">
                <a16:creationId xmlns:a16="http://schemas.microsoft.com/office/drawing/2014/main" id="{76FDC562-8101-338E-A0C7-AA32A8DE16B5}"/>
              </a:ext>
            </a:extLst>
          </p:cNvPr>
          <p:cNvPicPr>
            <a:picLocks noChangeAspect="1"/>
          </p:cNvPicPr>
          <p:nvPr/>
        </p:nvPicPr>
        <p:blipFill>
          <a:blip r:embed="rId5"/>
          <a:srcRect/>
          <a:stretch/>
        </p:blipFill>
        <p:spPr>
          <a:xfrm>
            <a:off x="21516975" y="518065"/>
            <a:ext cx="2006863" cy="2006863"/>
          </a:xfrm>
          <a:prstGeom prst="rect">
            <a:avLst/>
          </a:prstGeom>
        </p:spPr>
      </p:pic>
      <p:sp>
        <p:nvSpPr>
          <p:cNvPr id="2" name="Text Placeholder 2">
            <a:extLst>
              <a:ext uri="{FF2B5EF4-FFF2-40B4-BE49-F238E27FC236}">
                <a16:creationId xmlns:a16="http://schemas.microsoft.com/office/drawing/2014/main" id="{FBB6A452-896B-EA92-9197-918E6EF68FE3}"/>
              </a:ext>
            </a:extLst>
          </p:cNvPr>
          <p:cNvSpPr txBox="1">
            <a:spLocks/>
          </p:cNvSpPr>
          <p:nvPr/>
        </p:nvSpPr>
        <p:spPr>
          <a:xfrm>
            <a:off x="803819" y="3348841"/>
            <a:ext cx="10558612" cy="1506188"/>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b="1" i="1" dirty="0"/>
              <a:t>Which of the following shows the contents of an accurate label?</a:t>
            </a:r>
          </a:p>
        </p:txBody>
      </p:sp>
      <p:sp>
        <p:nvSpPr>
          <p:cNvPr id="3" name="Text Placeholder 2">
            <a:extLst>
              <a:ext uri="{FF2B5EF4-FFF2-40B4-BE49-F238E27FC236}">
                <a16:creationId xmlns:a16="http://schemas.microsoft.com/office/drawing/2014/main" id="{2F55581C-191B-3909-D0A0-1CFE438606CC}"/>
              </a:ext>
            </a:extLst>
          </p:cNvPr>
          <p:cNvSpPr txBox="1">
            <a:spLocks/>
          </p:cNvSpPr>
          <p:nvPr/>
        </p:nvSpPr>
        <p:spPr>
          <a:xfrm>
            <a:off x="859350" y="5558493"/>
            <a:ext cx="10558612" cy="406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Arial"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742950" indent="-742950">
              <a:buAutoNum type="alphaLcPeriod"/>
            </a:pPr>
            <a:r>
              <a:rPr lang="en-US" sz="3600" kern="0" dirty="0">
                <a:latin typeface="+mj-lt"/>
              </a:rPr>
              <a:t>Record code – Filename – Coverage date – Computed end of retention periods – Data Classification</a:t>
            </a:r>
          </a:p>
          <a:p>
            <a:pPr marL="742950" indent="-742950">
              <a:buAutoNum type="alphaLcPeriod"/>
            </a:pPr>
            <a:endParaRPr lang="en-US" sz="3600" kern="0" dirty="0">
              <a:latin typeface="+mj-lt"/>
            </a:endParaRPr>
          </a:p>
          <a:p>
            <a:pPr marL="742950" indent="-742950">
              <a:buAutoNum type="alphaLcPeriod"/>
            </a:pPr>
            <a:r>
              <a:rPr lang="en-US" sz="3600" kern="0" dirty="0">
                <a:latin typeface="+mj-lt"/>
              </a:rPr>
              <a:t>Record code – Filename – Computed end of retention periods – Data Classification</a:t>
            </a:r>
          </a:p>
        </p:txBody>
      </p:sp>
      <p:sp>
        <p:nvSpPr>
          <p:cNvPr id="4" name="Text Placeholder 3">
            <a:extLst>
              <a:ext uri="{FF2B5EF4-FFF2-40B4-BE49-F238E27FC236}">
                <a16:creationId xmlns:a16="http://schemas.microsoft.com/office/drawing/2014/main" id="{9C47A05C-125A-05FF-5361-4328AAEB6F91}"/>
              </a:ext>
            </a:extLst>
          </p:cNvPr>
          <p:cNvSpPr txBox="1">
            <a:spLocks/>
          </p:cNvSpPr>
          <p:nvPr/>
        </p:nvSpPr>
        <p:spPr>
          <a:xfrm>
            <a:off x="12763426" y="3429000"/>
            <a:ext cx="10095186" cy="813816"/>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a.</a:t>
            </a:r>
            <a:endParaRPr lang="en-US" kern="0" dirty="0"/>
          </a:p>
        </p:txBody>
      </p:sp>
      <p:sp>
        <p:nvSpPr>
          <p:cNvPr id="7" name="TextBox 6">
            <a:extLst>
              <a:ext uri="{FF2B5EF4-FFF2-40B4-BE49-F238E27FC236}">
                <a16:creationId xmlns:a16="http://schemas.microsoft.com/office/drawing/2014/main" id="{FA55062F-760E-F90F-17FA-F56844A4C83F}"/>
              </a:ext>
            </a:extLst>
          </p:cNvPr>
          <p:cNvSpPr txBox="1"/>
          <p:nvPr/>
        </p:nvSpPr>
        <p:spPr>
          <a:xfrm>
            <a:off x="12659524" y="5558493"/>
            <a:ext cx="10923832" cy="3416320"/>
          </a:xfrm>
          <a:prstGeom prst="rect">
            <a:avLst/>
          </a:prstGeom>
          <a:noFill/>
        </p:spPr>
        <p:txBody>
          <a:bodyPr wrap="square" rtlCol="0">
            <a:spAutoFit/>
          </a:bodyPr>
          <a:lstStyle/>
          <a:p>
            <a:r>
              <a:rPr lang="en-US" dirty="0">
                <a:latin typeface="+mj-lt"/>
                <a:cs typeface="Arial" panose="020B0604020202020204" pitchFamily="34" charset="0"/>
              </a:rPr>
              <a:t>The answer is A: Record code – Filename – Coverage date – Computed end of retention periods – Data Classification</a:t>
            </a:r>
          </a:p>
          <a:p>
            <a:endParaRPr lang="en-US" dirty="0">
              <a:latin typeface="+mj-lt"/>
              <a:cs typeface="Arial" panose="020B0604020202020204" pitchFamily="34" charset="0"/>
            </a:endParaRPr>
          </a:p>
          <a:p>
            <a:r>
              <a:rPr lang="en-US" dirty="0">
                <a:latin typeface="+mj-lt"/>
                <a:cs typeface="Arial" panose="020B0604020202020204" pitchFamily="34" charset="0"/>
              </a:rPr>
              <a:t>A label is considered accurate if it has these basic information.</a:t>
            </a:r>
          </a:p>
        </p:txBody>
      </p:sp>
      <p:pic>
        <p:nvPicPr>
          <p:cNvPr id="10" name="IM_FNC_Slide 22">
            <a:hlinkClick r:id="" action="ppaction://media"/>
            <a:extLst>
              <a:ext uri="{FF2B5EF4-FFF2-40B4-BE49-F238E27FC236}">
                <a16:creationId xmlns:a16="http://schemas.microsoft.com/office/drawing/2014/main" id="{B094A3EF-FD7F-B1BB-D23E-95869658F08A}"/>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3493933" y="494002"/>
            <a:ext cx="609600" cy="609600"/>
          </a:xfrm>
          <a:prstGeom prst="rect">
            <a:avLst/>
          </a:prstGeom>
        </p:spPr>
      </p:pic>
    </p:spTree>
    <p:extLst>
      <p:ext uri="{BB962C8B-B14F-4D97-AF65-F5344CB8AC3E}">
        <p14:creationId xmlns:p14="http://schemas.microsoft.com/office/powerpoint/2010/main" val="1212107452"/>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0"/>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523B6-E8BA-DDEA-A3A5-8747ED10A81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67D752B-17D3-9653-1F69-5687A362955F}"/>
              </a:ext>
            </a:extLst>
          </p:cNvPr>
          <p:cNvSpPr>
            <a:spLocks noGrp="1"/>
          </p:cNvSpPr>
          <p:nvPr>
            <p:ph type="sldNum" sz="quarter" idx="2"/>
          </p:nvPr>
        </p:nvSpPr>
        <p:spPr/>
        <p:txBody>
          <a:bodyPr/>
          <a:lstStyle/>
          <a:p>
            <a:pPr algn="l"/>
            <a:fld id="{86CB4B4D-7CA3-9044-876B-883B54F8677D}" type="slidenum">
              <a:rPr lang="en-US" smtClean="0"/>
              <a:pPr algn="l"/>
              <a:t>24</a:t>
            </a:fld>
            <a:endParaRPr lang="en-US" dirty="0"/>
          </a:p>
        </p:txBody>
      </p:sp>
      <p:sp>
        <p:nvSpPr>
          <p:cNvPr id="6" name="Footer Placeholder 5">
            <a:extLst>
              <a:ext uri="{FF2B5EF4-FFF2-40B4-BE49-F238E27FC236}">
                <a16:creationId xmlns:a16="http://schemas.microsoft.com/office/drawing/2014/main" id="{5302BCEF-494E-C6DE-CBBE-F5A19B6DBAD9}"/>
              </a:ext>
            </a:extLst>
          </p:cNvPr>
          <p:cNvSpPr>
            <a:spLocks noGrp="1"/>
          </p:cNvSpPr>
          <p:nvPr>
            <p:ph type="ftr" sz="quarter" idx="3"/>
          </p:nvPr>
        </p:nvSpPr>
        <p:spPr>
          <a:xfrm>
            <a:off x="1381091" y="12782550"/>
            <a:ext cx="3385135" cy="421735"/>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14" name="Title 1">
            <a:extLst>
              <a:ext uri="{FF2B5EF4-FFF2-40B4-BE49-F238E27FC236}">
                <a16:creationId xmlns:a16="http://schemas.microsoft.com/office/drawing/2014/main" id="{A51B0FD3-98C9-6BCB-99BF-C8481EC2C3DF}"/>
              </a:ext>
            </a:extLst>
          </p:cNvPr>
          <p:cNvSpPr txBox="1">
            <a:spLocks/>
          </p:cNvSpPr>
          <p:nvPr/>
        </p:nvSpPr>
        <p:spPr>
          <a:xfrm>
            <a:off x="588442" y="927280"/>
            <a:ext cx="7669405" cy="1084400"/>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800" kern="0" dirty="0">
                <a:solidFill>
                  <a:schemeClr val="accent1"/>
                </a:solidFill>
              </a:rPr>
              <a:t>Question 4</a:t>
            </a:r>
          </a:p>
        </p:txBody>
      </p:sp>
      <p:cxnSp>
        <p:nvCxnSpPr>
          <p:cNvPr id="8" name="Straight Connector 7" descr="Vertical column divider">
            <a:extLst>
              <a:ext uri="{FF2B5EF4-FFF2-40B4-BE49-F238E27FC236}">
                <a16:creationId xmlns:a16="http://schemas.microsoft.com/office/drawing/2014/main" id="{A9A780F4-3F58-399D-79DA-F95C924BF443}"/>
              </a:ext>
            </a:extLst>
          </p:cNvPr>
          <p:cNvCxnSpPr/>
          <p:nvPr/>
        </p:nvCxnSpPr>
        <p:spPr bwMode="auto">
          <a:xfrm>
            <a:off x="12190539" y="1429312"/>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2" name="Picture 11" descr="Dialogue, Blue 60 pictogram">
            <a:extLst>
              <a:ext uri="{FF2B5EF4-FFF2-40B4-BE49-F238E27FC236}">
                <a16:creationId xmlns:a16="http://schemas.microsoft.com/office/drawing/2014/main" id="{0B954C38-FE59-E3DA-A363-3054C66C5DC9}"/>
              </a:ext>
            </a:extLst>
          </p:cNvPr>
          <p:cNvPicPr>
            <a:picLocks noChangeAspect="1"/>
          </p:cNvPicPr>
          <p:nvPr/>
        </p:nvPicPr>
        <p:blipFill>
          <a:blip r:embed="rId5"/>
          <a:srcRect/>
          <a:stretch/>
        </p:blipFill>
        <p:spPr>
          <a:xfrm>
            <a:off x="21516975" y="518065"/>
            <a:ext cx="2006863" cy="2006863"/>
          </a:xfrm>
          <a:prstGeom prst="rect">
            <a:avLst/>
          </a:prstGeom>
        </p:spPr>
      </p:pic>
      <p:sp>
        <p:nvSpPr>
          <p:cNvPr id="9" name="Text Placeholder 2">
            <a:extLst>
              <a:ext uri="{FF2B5EF4-FFF2-40B4-BE49-F238E27FC236}">
                <a16:creationId xmlns:a16="http://schemas.microsoft.com/office/drawing/2014/main" id="{0D07EB13-5007-D2E9-6A59-A9046B357E5D}"/>
              </a:ext>
            </a:extLst>
          </p:cNvPr>
          <p:cNvSpPr txBox="1">
            <a:spLocks/>
          </p:cNvSpPr>
          <p:nvPr/>
        </p:nvSpPr>
        <p:spPr>
          <a:xfrm>
            <a:off x="588442" y="3429000"/>
            <a:ext cx="10558612" cy="1536192"/>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b="1" i="1" dirty="0"/>
              <a:t>What is the meaning of the retention code S+01?</a:t>
            </a:r>
          </a:p>
        </p:txBody>
      </p:sp>
      <p:sp>
        <p:nvSpPr>
          <p:cNvPr id="10" name="Text Placeholder 2">
            <a:extLst>
              <a:ext uri="{FF2B5EF4-FFF2-40B4-BE49-F238E27FC236}">
                <a16:creationId xmlns:a16="http://schemas.microsoft.com/office/drawing/2014/main" id="{30EA4B23-64D9-BAB2-10E0-DBC383786C85}"/>
              </a:ext>
            </a:extLst>
          </p:cNvPr>
          <p:cNvSpPr txBox="1">
            <a:spLocks/>
          </p:cNvSpPr>
          <p:nvPr/>
        </p:nvSpPr>
        <p:spPr>
          <a:xfrm>
            <a:off x="588442" y="5266944"/>
            <a:ext cx="10558612" cy="57424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Arial"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742950" indent="-742950">
              <a:buFont typeface="+mj-lt"/>
              <a:buAutoNum type="alphaLcPeriod"/>
            </a:pPr>
            <a:r>
              <a:rPr lang="en-US" sz="3600" kern="0" dirty="0">
                <a:latin typeface="+mj-lt"/>
              </a:rPr>
              <a:t>Special for 1 year</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Suspend + 1 year</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Superseded + 1 year</a:t>
            </a:r>
          </a:p>
          <a:p>
            <a:pPr marL="742950" indent="-742950">
              <a:buFont typeface="+mj-lt"/>
              <a:buAutoNum type="alphaLcPeriod"/>
            </a:pPr>
            <a:endParaRPr lang="en-US" sz="3600" kern="0" dirty="0">
              <a:latin typeface="+mj-lt"/>
            </a:endParaRPr>
          </a:p>
          <a:p>
            <a:pPr marL="742950" indent="-742950">
              <a:buFont typeface="+mj-lt"/>
              <a:buAutoNum type="alphaLcPeriod"/>
            </a:pPr>
            <a:r>
              <a:rPr lang="en-US" sz="3600" kern="0" dirty="0">
                <a:latin typeface="+mj-lt"/>
              </a:rPr>
              <a:t>None of the above</a:t>
            </a:r>
          </a:p>
          <a:p>
            <a:pPr marL="742950" indent="-742950">
              <a:buFont typeface="+mj-lt"/>
              <a:buAutoNum type="alphaLcPeriod"/>
            </a:pPr>
            <a:endParaRPr lang="en-PH" sz="3600" kern="0" dirty="0">
              <a:latin typeface="+mj-lt"/>
            </a:endParaRPr>
          </a:p>
        </p:txBody>
      </p:sp>
      <p:sp>
        <p:nvSpPr>
          <p:cNvPr id="11" name="Text Placeholder 3">
            <a:extLst>
              <a:ext uri="{FF2B5EF4-FFF2-40B4-BE49-F238E27FC236}">
                <a16:creationId xmlns:a16="http://schemas.microsoft.com/office/drawing/2014/main" id="{ED298CE2-00E7-6FDB-E6C9-138F767F9FDF}"/>
              </a:ext>
            </a:extLst>
          </p:cNvPr>
          <p:cNvSpPr txBox="1">
            <a:spLocks/>
          </p:cNvSpPr>
          <p:nvPr/>
        </p:nvSpPr>
        <p:spPr>
          <a:xfrm>
            <a:off x="12763426" y="3538728"/>
            <a:ext cx="10095186" cy="813816"/>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c.</a:t>
            </a:r>
            <a:endParaRPr lang="en-US" kern="0" dirty="0"/>
          </a:p>
        </p:txBody>
      </p:sp>
      <p:sp>
        <p:nvSpPr>
          <p:cNvPr id="13" name="TextBox 12">
            <a:extLst>
              <a:ext uri="{FF2B5EF4-FFF2-40B4-BE49-F238E27FC236}">
                <a16:creationId xmlns:a16="http://schemas.microsoft.com/office/drawing/2014/main" id="{22238BB6-342C-A450-152B-AF9842BE3666}"/>
              </a:ext>
            </a:extLst>
          </p:cNvPr>
          <p:cNvSpPr txBox="1"/>
          <p:nvPr/>
        </p:nvSpPr>
        <p:spPr>
          <a:xfrm>
            <a:off x="12600006" y="4965192"/>
            <a:ext cx="10923832" cy="4524315"/>
          </a:xfrm>
          <a:prstGeom prst="rect">
            <a:avLst/>
          </a:prstGeom>
          <a:noFill/>
        </p:spPr>
        <p:txBody>
          <a:bodyPr wrap="square" rtlCol="0">
            <a:spAutoFit/>
          </a:bodyPr>
          <a:lstStyle/>
          <a:p>
            <a:r>
              <a:rPr lang="en-US" dirty="0">
                <a:latin typeface="+mj-lt"/>
                <a:cs typeface="Arial" panose="020B0604020202020204" pitchFamily="34" charset="0"/>
              </a:rPr>
              <a:t>The answer is C. Superseded + 1 year</a:t>
            </a:r>
          </a:p>
          <a:p>
            <a:r>
              <a:rPr lang="en-US" dirty="0">
                <a:latin typeface="+mj-lt"/>
                <a:cs typeface="Arial" panose="020B0604020202020204" pitchFamily="34" charset="0"/>
              </a:rPr>
              <a:t>This means that only the newest version of the record is essential; any previous versions are considered disposable.</a:t>
            </a:r>
          </a:p>
          <a:p>
            <a:endParaRPr lang="en-US" dirty="0">
              <a:latin typeface="+mj-lt"/>
              <a:cs typeface="Arial" panose="020B0604020202020204" pitchFamily="34" charset="0"/>
            </a:endParaRPr>
          </a:p>
          <a:p>
            <a:r>
              <a:rPr lang="en-US" dirty="0">
                <a:latin typeface="+mj-lt"/>
                <a:cs typeface="Arial" panose="020B0604020202020204" pitchFamily="34" charset="0"/>
              </a:rPr>
              <a:t>This is the retention code assigned to process documents and job-aids, which are required to be reviewed within 365 days from its last approval date.</a:t>
            </a:r>
          </a:p>
        </p:txBody>
      </p:sp>
      <p:pic>
        <p:nvPicPr>
          <p:cNvPr id="2" name="IM_FNC_Slide 23">
            <a:hlinkClick r:id="" action="ppaction://media"/>
            <a:extLst>
              <a:ext uri="{FF2B5EF4-FFF2-40B4-BE49-F238E27FC236}">
                <a16:creationId xmlns:a16="http://schemas.microsoft.com/office/drawing/2014/main" id="{9AB142DE-BD65-E1B8-81B2-22FD0EEB6D44}"/>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3493933" y="518065"/>
            <a:ext cx="609600" cy="609600"/>
          </a:xfrm>
          <a:prstGeom prst="rect">
            <a:avLst/>
          </a:prstGeom>
        </p:spPr>
      </p:pic>
    </p:spTree>
    <p:extLst>
      <p:ext uri="{BB962C8B-B14F-4D97-AF65-F5344CB8AC3E}">
        <p14:creationId xmlns:p14="http://schemas.microsoft.com/office/powerpoint/2010/main" val="591034826"/>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F44C-8ECA-6BB5-EEB4-E50B64326E8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00005C0-5B43-A963-6F3C-90ADFF436390}"/>
              </a:ext>
            </a:extLst>
          </p:cNvPr>
          <p:cNvSpPr>
            <a:spLocks noGrp="1"/>
          </p:cNvSpPr>
          <p:nvPr>
            <p:ph type="sldNum" sz="quarter" idx="2"/>
          </p:nvPr>
        </p:nvSpPr>
        <p:spPr/>
        <p:txBody>
          <a:bodyPr/>
          <a:lstStyle/>
          <a:p>
            <a:pPr algn="l"/>
            <a:fld id="{86CB4B4D-7CA3-9044-876B-883B54F8677D}" type="slidenum">
              <a:rPr lang="en-US" smtClean="0"/>
              <a:pPr algn="l"/>
              <a:t>25</a:t>
            </a:fld>
            <a:endParaRPr lang="en-US" dirty="0"/>
          </a:p>
        </p:txBody>
      </p:sp>
      <p:sp>
        <p:nvSpPr>
          <p:cNvPr id="6" name="Footer Placeholder 5">
            <a:extLst>
              <a:ext uri="{FF2B5EF4-FFF2-40B4-BE49-F238E27FC236}">
                <a16:creationId xmlns:a16="http://schemas.microsoft.com/office/drawing/2014/main" id="{20B7C7A0-D282-0895-872F-2022D1FB7B10}"/>
              </a:ext>
            </a:extLst>
          </p:cNvPr>
          <p:cNvSpPr>
            <a:spLocks noGrp="1"/>
          </p:cNvSpPr>
          <p:nvPr>
            <p:ph type="ftr" sz="quarter" idx="3"/>
          </p:nvPr>
        </p:nvSpPr>
        <p:spPr>
          <a:xfrm>
            <a:off x="1381091" y="12782550"/>
            <a:ext cx="3385135" cy="421735"/>
          </a:xfrm>
        </p:spPr>
        <p:txBody>
          <a:bodyPr/>
          <a:lstStyle/>
          <a:p>
            <a:pPr>
              <a:defRPr/>
            </a:pPr>
            <a:r>
              <a:rPr lang="en-US" dirty="0">
                <a:solidFill>
                  <a:srgbClr val="001141"/>
                </a:solidFill>
                <a:latin typeface="IBM Plex Sans" charset="0"/>
                <a:ea typeface="IBM Plex Sans" charset="0"/>
                <a:cs typeface="IBM Plex Sans" charset="0"/>
              </a:rPr>
              <a:t> IBM </a:t>
            </a:r>
            <a:r>
              <a:rPr lang="en-US" b="1" dirty="0">
                <a:solidFill>
                  <a:srgbClr val="001141"/>
                </a:solidFill>
                <a:ea typeface="IBM Plex Sans" charset="0"/>
                <a:cs typeface="IBM Plex Sans" charset="0"/>
              </a:rPr>
              <a:t>Consulting</a:t>
            </a:r>
            <a:r>
              <a:rPr lang="en-US" dirty="0">
                <a:solidFill>
                  <a:srgbClr val="001141"/>
                </a:solidFill>
                <a:latin typeface="IBM Plex Sans" charset="0"/>
                <a:ea typeface="IBM Plex Sans" charset="0"/>
                <a:cs typeface="IBM Plex Sans" charset="0"/>
              </a:rPr>
              <a:t> FutureNow</a:t>
            </a:r>
            <a:endParaRPr lang="en-US" sz="1400" dirty="0">
              <a:solidFill>
                <a:srgbClr val="001141"/>
              </a:solidFill>
              <a:latin typeface="IBM Plex Sans" charset="0"/>
              <a:ea typeface="IBM Plex Sans" charset="0"/>
              <a:cs typeface="IBM Plex Sans" charset="0"/>
            </a:endParaRPr>
          </a:p>
        </p:txBody>
      </p:sp>
      <p:sp>
        <p:nvSpPr>
          <p:cNvPr id="14" name="Title 1">
            <a:extLst>
              <a:ext uri="{FF2B5EF4-FFF2-40B4-BE49-F238E27FC236}">
                <a16:creationId xmlns:a16="http://schemas.microsoft.com/office/drawing/2014/main" id="{408AB19D-6C33-F45A-B3BA-5B94141BE145}"/>
              </a:ext>
            </a:extLst>
          </p:cNvPr>
          <p:cNvSpPr txBox="1">
            <a:spLocks/>
          </p:cNvSpPr>
          <p:nvPr/>
        </p:nvSpPr>
        <p:spPr>
          <a:xfrm>
            <a:off x="588442" y="927280"/>
            <a:ext cx="7669405" cy="1084400"/>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800" kern="0" dirty="0">
                <a:solidFill>
                  <a:schemeClr val="accent1"/>
                </a:solidFill>
              </a:rPr>
              <a:t>Question 5</a:t>
            </a:r>
          </a:p>
        </p:txBody>
      </p:sp>
      <p:cxnSp>
        <p:nvCxnSpPr>
          <p:cNvPr id="8" name="Straight Connector 7" descr="Vertical column divider">
            <a:extLst>
              <a:ext uri="{FF2B5EF4-FFF2-40B4-BE49-F238E27FC236}">
                <a16:creationId xmlns:a16="http://schemas.microsoft.com/office/drawing/2014/main" id="{B54B74DF-D20D-36AC-A61F-3FE68393C600}"/>
              </a:ext>
            </a:extLst>
          </p:cNvPr>
          <p:cNvCxnSpPr/>
          <p:nvPr/>
        </p:nvCxnSpPr>
        <p:spPr bwMode="auto">
          <a:xfrm>
            <a:off x="12190539" y="1429312"/>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pic>
        <p:nvPicPr>
          <p:cNvPr id="12" name="Picture 11" descr="Dialogue, Blue 60 pictogram">
            <a:extLst>
              <a:ext uri="{FF2B5EF4-FFF2-40B4-BE49-F238E27FC236}">
                <a16:creationId xmlns:a16="http://schemas.microsoft.com/office/drawing/2014/main" id="{D06B2259-EBF4-AD92-77FC-AC6AE5788B95}"/>
              </a:ext>
            </a:extLst>
          </p:cNvPr>
          <p:cNvPicPr>
            <a:picLocks noChangeAspect="1"/>
          </p:cNvPicPr>
          <p:nvPr/>
        </p:nvPicPr>
        <p:blipFill>
          <a:blip r:embed="rId5"/>
          <a:srcRect/>
          <a:stretch/>
        </p:blipFill>
        <p:spPr>
          <a:xfrm>
            <a:off x="21516975" y="518065"/>
            <a:ext cx="2006863" cy="2006863"/>
          </a:xfrm>
          <a:prstGeom prst="rect">
            <a:avLst/>
          </a:prstGeom>
        </p:spPr>
      </p:pic>
      <p:sp>
        <p:nvSpPr>
          <p:cNvPr id="2" name="Text Placeholder 2">
            <a:extLst>
              <a:ext uri="{FF2B5EF4-FFF2-40B4-BE49-F238E27FC236}">
                <a16:creationId xmlns:a16="http://schemas.microsoft.com/office/drawing/2014/main" id="{0F676C5C-6278-E4E8-F62A-46C7B0EB58D8}"/>
              </a:ext>
            </a:extLst>
          </p:cNvPr>
          <p:cNvSpPr txBox="1">
            <a:spLocks/>
          </p:cNvSpPr>
          <p:nvPr/>
        </p:nvSpPr>
        <p:spPr>
          <a:xfrm>
            <a:off x="588442" y="3429000"/>
            <a:ext cx="10558612" cy="1536192"/>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b="1" i="1" dirty="0"/>
              <a:t>You should only review and update your Records Matrix every March.</a:t>
            </a:r>
          </a:p>
        </p:txBody>
      </p:sp>
      <p:sp>
        <p:nvSpPr>
          <p:cNvPr id="3" name="Text Placeholder 2">
            <a:extLst>
              <a:ext uri="{FF2B5EF4-FFF2-40B4-BE49-F238E27FC236}">
                <a16:creationId xmlns:a16="http://schemas.microsoft.com/office/drawing/2014/main" id="{1BDC1FEE-C39F-7E79-B6B4-6BFBA4E71E7E}"/>
              </a:ext>
            </a:extLst>
          </p:cNvPr>
          <p:cNvSpPr txBox="1">
            <a:spLocks/>
          </p:cNvSpPr>
          <p:nvPr/>
        </p:nvSpPr>
        <p:spPr>
          <a:xfrm>
            <a:off x="588442" y="5266944"/>
            <a:ext cx="10558612" cy="5742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Arial" panose="020B0403050203000203" pitchFamily="34" charset="0"/>
                <a:ea typeface="+mj-ea"/>
                <a:cs typeface="Arial" panose="020B0604020202020204" pitchFamily="34" charset="0"/>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Arial"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PH" sz="3600" kern="0" dirty="0">
                <a:latin typeface="+mj-lt"/>
              </a:rPr>
              <a:t>True or False?</a:t>
            </a:r>
          </a:p>
        </p:txBody>
      </p:sp>
      <p:sp>
        <p:nvSpPr>
          <p:cNvPr id="4" name="Text Placeholder 3">
            <a:extLst>
              <a:ext uri="{FF2B5EF4-FFF2-40B4-BE49-F238E27FC236}">
                <a16:creationId xmlns:a16="http://schemas.microsoft.com/office/drawing/2014/main" id="{C642B65A-3041-32AE-1C33-2C1A7F9CCE3E}"/>
              </a:ext>
            </a:extLst>
          </p:cNvPr>
          <p:cNvSpPr txBox="1">
            <a:spLocks/>
          </p:cNvSpPr>
          <p:nvPr/>
        </p:nvSpPr>
        <p:spPr>
          <a:xfrm>
            <a:off x="12763426" y="3538728"/>
            <a:ext cx="10095186" cy="813816"/>
          </a:xfrm>
          <a:prstGeom prst="rect">
            <a:avLst/>
          </a:prstGeom>
        </p:spPr>
        <p:txBody>
          <a:bodyPr>
            <a:norm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b="1" kern="0" dirty="0"/>
              <a:t>False.</a:t>
            </a:r>
            <a:endParaRPr lang="en-US" kern="0" dirty="0"/>
          </a:p>
        </p:txBody>
      </p:sp>
      <p:sp>
        <p:nvSpPr>
          <p:cNvPr id="7" name="TextBox 6">
            <a:extLst>
              <a:ext uri="{FF2B5EF4-FFF2-40B4-BE49-F238E27FC236}">
                <a16:creationId xmlns:a16="http://schemas.microsoft.com/office/drawing/2014/main" id="{F333846A-5CF4-C96F-A720-8D4F015DAFFC}"/>
              </a:ext>
            </a:extLst>
          </p:cNvPr>
          <p:cNvSpPr txBox="1"/>
          <p:nvPr/>
        </p:nvSpPr>
        <p:spPr>
          <a:xfrm>
            <a:off x="12600006" y="4965192"/>
            <a:ext cx="10923832" cy="1754326"/>
          </a:xfrm>
          <a:prstGeom prst="rect">
            <a:avLst/>
          </a:prstGeom>
          <a:noFill/>
        </p:spPr>
        <p:txBody>
          <a:bodyPr wrap="square" rtlCol="0">
            <a:spAutoFit/>
          </a:bodyPr>
          <a:lstStyle/>
          <a:p>
            <a:pPr lvl="0" defTabSz="914400">
              <a:defRPr/>
            </a:pPr>
            <a:r>
              <a:rPr lang="en-US" dirty="0"/>
              <a:t>While Records Matrices have an annual review requirement every March, you may edit/update your Records Matrix in Cobee Lite anytime as needed.</a:t>
            </a:r>
          </a:p>
        </p:txBody>
      </p:sp>
      <p:pic>
        <p:nvPicPr>
          <p:cNvPr id="9" name="IM_FNC_Slide 24">
            <a:hlinkClick r:id="" action="ppaction://media"/>
            <a:extLst>
              <a:ext uri="{FF2B5EF4-FFF2-40B4-BE49-F238E27FC236}">
                <a16:creationId xmlns:a16="http://schemas.microsoft.com/office/drawing/2014/main" id="{2ECA5ADB-587A-205A-DF86-9D675EB84BEE}"/>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3278556" y="518065"/>
            <a:ext cx="609600" cy="609600"/>
          </a:xfrm>
          <a:prstGeom prst="rect">
            <a:avLst/>
          </a:prstGeom>
        </p:spPr>
      </p:pic>
    </p:spTree>
    <p:extLst>
      <p:ext uri="{BB962C8B-B14F-4D97-AF65-F5344CB8AC3E}">
        <p14:creationId xmlns:p14="http://schemas.microsoft.com/office/powerpoint/2010/main" val="3930627339"/>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9"/>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75850-2076-BFE5-ABF1-2E0A90DD830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744EF8-9146-C4A5-0410-25759368446E}"/>
              </a:ext>
            </a:extLst>
          </p:cNvPr>
          <p:cNvPicPr>
            <a:picLocks noChangeAspect="1"/>
          </p:cNvPicPr>
          <p:nvPr/>
        </p:nvPicPr>
        <p:blipFill>
          <a:blip r:embed="rId3"/>
          <a:stretch>
            <a:fillRect/>
          </a:stretch>
        </p:blipFill>
        <p:spPr>
          <a:xfrm>
            <a:off x="1587" y="0"/>
            <a:ext cx="24384000" cy="13716000"/>
          </a:xfrm>
          <a:prstGeom prst="rect">
            <a:avLst/>
          </a:prstGeom>
        </p:spPr>
      </p:pic>
      <p:sp>
        <p:nvSpPr>
          <p:cNvPr id="5" name="Title 1">
            <a:extLst>
              <a:ext uri="{FF2B5EF4-FFF2-40B4-BE49-F238E27FC236}">
                <a16:creationId xmlns:a16="http://schemas.microsoft.com/office/drawing/2014/main" id="{6F438A1C-7AA0-FDFA-18D4-DC8F584287D9}"/>
              </a:ext>
            </a:extLst>
          </p:cNvPr>
          <p:cNvSpPr>
            <a:spLocks noGrp="1"/>
          </p:cNvSpPr>
          <p:nvPr>
            <p:ph type="title"/>
          </p:nvPr>
        </p:nvSpPr>
        <p:spPr>
          <a:xfrm>
            <a:off x="576000" y="384048"/>
            <a:ext cx="11036491" cy="2663825"/>
          </a:xfrm>
        </p:spPr>
        <p:txBody>
          <a:bodyPr/>
          <a:lstStyle/>
          <a:p>
            <a:r>
              <a:rPr lang="en-US" dirty="0"/>
              <a:t>Appendix</a:t>
            </a:r>
          </a:p>
        </p:txBody>
      </p:sp>
    </p:spTree>
    <p:extLst>
      <p:ext uri="{BB962C8B-B14F-4D97-AF65-F5344CB8AC3E}">
        <p14:creationId xmlns:p14="http://schemas.microsoft.com/office/powerpoint/2010/main" val="270700297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67B2-99DE-061C-F49E-561F318C74D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E46F3F-8A0F-1443-11A4-E42736EA9579}"/>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27</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5EAA1F49-167E-F280-980A-39CC95104567}"/>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sp>
        <p:nvSpPr>
          <p:cNvPr id="2" name="Rectangle 1" descr="Blue 10 half slide background">
            <a:extLst>
              <a:ext uri="{FF2B5EF4-FFF2-40B4-BE49-F238E27FC236}">
                <a16:creationId xmlns:a16="http://schemas.microsoft.com/office/drawing/2014/main" id="{FB2713CD-863B-B57A-1D25-04446C4A151B}"/>
              </a:ext>
            </a:extLst>
          </p:cNvPr>
          <p:cNvSpPr/>
          <p:nvPr/>
        </p:nvSpPr>
        <p:spPr bwMode="auto">
          <a:xfrm>
            <a:off x="-21486" y="-15323"/>
            <a:ext cx="24387175" cy="2509141"/>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 name="Title 1">
            <a:extLst>
              <a:ext uri="{FF2B5EF4-FFF2-40B4-BE49-F238E27FC236}">
                <a16:creationId xmlns:a16="http://schemas.microsoft.com/office/drawing/2014/main" id="{CBD3E669-3153-B3CE-0373-8F76C2CC96C3}"/>
              </a:ext>
            </a:extLst>
          </p:cNvPr>
          <p:cNvSpPr>
            <a:spLocks noGrp="1"/>
          </p:cNvSpPr>
          <p:nvPr>
            <p:ph type="title"/>
          </p:nvPr>
        </p:nvSpPr>
        <p:spPr>
          <a:xfrm>
            <a:off x="576071" y="576072"/>
            <a:ext cx="15055815" cy="4573587"/>
          </a:xfrm>
        </p:spPr>
        <p:txBody>
          <a:bodyPr/>
          <a:lstStyle/>
          <a:p>
            <a:r>
              <a:rPr lang="en-US" sz="6400" dirty="0">
                <a:solidFill>
                  <a:schemeClr val="accent1"/>
                </a:solidFill>
              </a:rPr>
              <a:t>Roles and Responsibilities - Summary</a:t>
            </a:r>
          </a:p>
        </p:txBody>
      </p:sp>
      <p:pic>
        <p:nvPicPr>
          <p:cNvPr id="4" name="Picture 3">
            <a:extLst>
              <a:ext uri="{FF2B5EF4-FFF2-40B4-BE49-F238E27FC236}">
                <a16:creationId xmlns:a16="http://schemas.microsoft.com/office/drawing/2014/main" id="{BD1D3223-8CBA-E5BE-FB08-2C2B6922CBD0}"/>
              </a:ext>
            </a:extLst>
          </p:cNvPr>
          <p:cNvPicPr>
            <a:picLocks noChangeAspect="1"/>
          </p:cNvPicPr>
          <p:nvPr/>
        </p:nvPicPr>
        <p:blipFill>
          <a:blip r:embed="rId3"/>
          <a:stretch>
            <a:fillRect/>
          </a:stretch>
        </p:blipFill>
        <p:spPr>
          <a:xfrm>
            <a:off x="2569858" y="3987800"/>
            <a:ext cx="19281531" cy="6553200"/>
          </a:xfrm>
          <a:prstGeom prst="rect">
            <a:avLst/>
          </a:prstGeom>
        </p:spPr>
      </p:pic>
    </p:spTree>
    <p:extLst>
      <p:ext uri="{BB962C8B-B14F-4D97-AF65-F5344CB8AC3E}">
        <p14:creationId xmlns:p14="http://schemas.microsoft.com/office/powerpoint/2010/main" val="210263799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470C-DB24-A4B6-A490-973D071CB2F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030BB99-EAC4-89D1-41E8-BE2263066B6B}"/>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28</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63F61C84-61B3-38C0-FA59-6E0DA2522889}"/>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pic>
        <p:nvPicPr>
          <p:cNvPr id="3" name="Picture 2" descr="j0314186">
            <a:extLst>
              <a:ext uri="{FF2B5EF4-FFF2-40B4-BE49-F238E27FC236}">
                <a16:creationId xmlns:a16="http://schemas.microsoft.com/office/drawing/2014/main" id="{8E2E3FD0-BB2B-BAEB-E3D4-51A240598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58716" y="2523259"/>
            <a:ext cx="5234191" cy="803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headEnd/>
                <a:tailEnd/>
              </a14:hiddenLine>
            </a:ext>
          </a:extLst>
        </p:spPr>
      </p:pic>
      <p:pic>
        <p:nvPicPr>
          <p:cNvPr id="4" name="Picture 50">
            <a:extLst>
              <a:ext uri="{FF2B5EF4-FFF2-40B4-BE49-F238E27FC236}">
                <a16:creationId xmlns:a16="http://schemas.microsoft.com/office/drawing/2014/main" id="{546E89F5-39DD-AEE3-5F17-00770BE6A300}"/>
              </a:ext>
            </a:extLst>
          </p:cNvPr>
          <p:cNvPicPr>
            <a:picLocks noChangeAspect="1" noChangeArrowheads="1"/>
          </p:cNvPicPr>
          <p:nvPr/>
        </p:nvPicPr>
        <p:blipFill>
          <a:blip r:embed="rId4"/>
          <a:srcRect/>
          <a:stretch>
            <a:fillRect/>
          </a:stretch>
        </p:blipFill>
        <p:spPr bwMode="auto">
          <a:xfrm>
            <a:off x="1353940" y="5183332"/>
            <a:ext cx="10209739" cy="2630632"/>
          </a:xfrm>
          <a:prstGeom prst="rect">
            <a:avLst/>
          </a:prstGeom>
          <a:noFill/>
          <a:ln>
            <a:noFill/>
          </a:ln>
          <a:effectLst>
            <a:prstShdw prst="shdw17" dist="17961" dir="2700000">
              <a:schemeClr val="accent1">
                <a:gamma/>
                <a:shade val="60000"/>
                <a:invGamma/>
              </a:schemeClr>
            </a:prstShdw>
          </a:effectLst>
        </p:spPr>
      </p:pic>
      <p:sp>
        <p:nvSpPr>
          <p:cNvPr id="7" name="Right Arrow 4">
            <a:extLst>
              <a:ext uri="{FF2B5EF4-FFF2-40B4-BE49-F238E27FC236}">
                <a16:creationId xmlns:a16="http://schemas.microsoft.com/office/drawing/2014/main" id="{3DBB6FB9-DA46-43E7-9A91-238ADD716ABE}"/>
              </a:ext>
            </a:extLst>
          </p:cNvPr>
          <p:cNvSpPr/>
          <p:nvPr/>
        </p:nvSpPr>
        <p:spPr bwMode="auto">
          <a:xfrm>
            <a:off x="12401407" y="5438775"/>
            <a:ext cx="4581807" cy="2119746"/>
          </a:xfrm>
          <a:prstGeom prst="rightArrow">
            <a:avLst/>
          </a:prstGeom>
          <a:solidFill>
            <a:schemeClr val="accent1">
              <a:lumMod val="40000"/>
              <a:lumOff val="60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aphicFrame>
        <p:nvGraphicFramePr>
          <p:cNvPr id="8" name="Table 7">
            <a:extLst>
              <a:ext uri="{FF2B5EF4-FFF2-40B4-BE49-F238E27FC236}">
                <a16:creationId xmlns:a16="http://schemas.microsoft.com/office/drawing/2014/main" id="{FDAC8278-7B53-1271-A504-CFD86E0B5FE6}"/>
              </a:ext>
            </a:extLst>
          </p:cNvPr>
          <p:cNvGraphicFramePr>
            <a:graphicFrameLocks noGrp="1"/>
          </p:cNvGraphicFramePr>
          <p:nvPr>
            <p:extLst>
              <p:ext uri="{D42A27DB-BD31-4B8C-83A1-F6EECF244321}">
                <p14:modId xmlns:p14="http://schemas.microsoft.com/office/powerpoint/2010/main" val="3300990689"/>
              </p:ext>
            </p:extLst>
          </p:nvPr>
        </p:nvGraphicFramePr>
        <p:xfrm>
          <a:off x="18419085" y="5907288"/>
          <a:ext cx="2913452" cy="1182720"/>
        </p:xfrm>
        <a:graphic>
          <a:graphicData uri="http://schemas.openxmlformats.org/drawingml/2006/table">
            <a:tbl>
              <a:tblPr/>
              <a:tblGrid>
                <a:gridCol w="2913452">
                  <a:extLst>
                    <a:ext uri="{9D8B030D-6E8A-4147-A177-3AD203B41FA5}">
                      <a16:colId xmlns:a16="http://schemas.microsoft.com/office/drawing/2014/main" val="20000"/>
                    </a:ext>
                  </a:extLst>
                </a:gridCol>
              </a:tblGrid>
              <a:tr h="1182720">
                <a:tc>
                  <a:txBody>
                    <a:bodyPr/>
                    <a:lstStyle/>
                    <a:p>
                      <a:pPr marL="0" marR="0" lvl="0" indent="0" algn="ctr" defTabSz="914400" rtl="0" eaLnBrk="0" fontAlgn="ctr" latinLnBrk="0" hangingPunct="0">
                        <a:lnSpc>
                          <a:spcPct val="100000"/>
                        </a:lnSpc>
                        <a:spcBef>
                          <a:spcPct val="0"/>
                        </a:spcBef>
                        <a:spcAft>
                          <a:spcPct val="15000"/>
                        </a:spcAft>
                        <a:buClrTx/>
                        <a:buSzPct val="65000"/>
                        <a:buFontTx/>
                        <a:buNone/>
                        <a:tabLst/>
                      </a:pPr>
                      <a:r>
                        <a:rPr kumimoji="0" lang="en-US" sz="2000" b="1" i="0" u="none" strike="noStrike" cap="none" normalizeH="0" baseline="0" dirty="0">
                          <a:ln>
                            <a:noFill/>
                          </a:ln>
                          <a:solidFill>
                            <a:srgbClr val="000000"/>
                          </a:solidFill>
                          <a:effectLst/>
                          <a:latin typeface="+mj-lt"/>
                          <a:cs typeface="Arial" charset="0"/>
                        </a:rPr>
                        <a:t>PNG-PH-TEA-07001-0117</a:t>
                      </a:r>
                    </a:p>
                  </a:txBody>
                  <a:tcPr marL="5664" marR="5664" marT="5657"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
        <p:nvSpPr>
          <p:cNvPr id="9" name="Text Placeholder 2">
            <a:extLst>
              <a:ext uri="{FF2B5EF4-FFF2-40B4-BE49-F238E27FC236}">
                <a16:creationId xmlns:a16="http://schemas.microsoft.com/office/drawing/2014/main" id="{B6F15F4B-A5A6-609D-A41E-7660BFB44203}"/>
              </a:ext>
            </a:extLst>
          </p:cNvPr>
          <p:cNvSpPr txBox="1">
            <a:spLocks/>
          </p:cNvSpPr>
          <p:nvPr/>
        </p:nvSpPr>
        <p:spPr>
          <a:xfrm>
            <a:off x="4732436" y="9333531"/>
            <a:ext cx="10732006" cy="166420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eaLnBrk="1" hangingPunct="1">
              <a:spcBef>
                <a:spcPct val="0"/>
              </a:spcBef>
              <a:spcAft>
                <a:spcPct val="0"/>
              </a:spcAft>
              <a:buClrTx/>
              <a:buSzPct val="100000"/>
              <a:buFontTx/>
              <a:buNone/>
            </a:pPr>
            <a:r>
              <a:rPr lang="en-US" altLang="en-US" sz="2800" b="0" dirty="0"/>
              <a:t>Arrange files in alphabetical order; files will be listed the same order as they are arranged in the box.</a:t>
            </a:r>
          </a:p>
        </p:txBody>
      </p:sp>
      <p:sp>
        <p:nvSpPr>
          <p:cNvPr id="13" name="Rectangle 12" descr="Blue 10 half slide background">
            <a:extLst>
              <a:ext uri="{FF2B5EF4-FFF2-40B4-BE49-F238E27FC236}">
                <a16:creationId xmlns:a16="http://schemas.microsoft.com/office/drawing/2014/main" id="{01689F40-4736-3B14-D72A-18887F254018}"/>
              </a:ext>
            </a:extLst>
          </p:cNvPr>
          <p:cNvSpPr/>
          <p:nvPr/>
        </p:nvSpPr>
        <p:spPr bwMode="auto">
          <a:xfrm>
            <a:off x="-1" y="-2244"/>
            <a:ext cx="24387175" cy="2509141"/>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14" name="Title 1">
            <a:extLst>
              <a:ext uri="{FF2B5EF4-FFF2-40B4-BE49-F238E27FC236}">
                <a16:creationId xmlns:a16="http://schemas.microsoft.com/office/drawing/2014/main" id="{21666C0F-6C10-649C-C400-89FAD8C50A7E}"/>
              </a:ext>
            </a:extLst>
          </p:cNvPr>
          <p:cNvSpPr txBox="1">
            <a:spLocks/>
          </p:cNvSpPr>
          <p:nvPr/>
        </p:nvSpPr>
        <p:spPr>
          <a:xfrm>
            <a:off x="859350" y="659410"/>
            <a:ext cx="15055815" cy="4573587"/>
          </a:xfrm>
          <a:prstGeom prst="rect">
            <a:avLst/>
          </a:prstGeom>
        </p:spPr>
        <p:txBody>
          <a:bodyPr rIns="457200"/>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Box Label</a:t>
            </a:r>
          </a:p>
        </p:txBody>
      </p:sp>
    </p:spTree>
    <p:extLst>
      <p:ext uri="{BB962C8B-B14F-4D97-AF65-F5344CB8AC3E}">
        <p14:creationId xmlns:p14="http://schemas.microsoft.com/office/powerpoint/2010/main" val="115509036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BFB85-729C-5763-A845-82BC0FA7D4F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46BF4D2-E25A-F95E-FD94-FC8FACF882C4}"/>
              </a:ext>
            </a:extLst>
          </p:cNvPr>
          <p:cNvSpPr>
            <a:spLocks noGrp="1"/>
          </p:cNvSpPr>
          <p:nvPr>
            <p:ph type="sldNum" sz="quarter" idx="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29</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6" name="Footer Placeholder 5">
            <a:extLst>
              <a:ext uri="{FF2B5EF4-FFF2-40B4-BE49-F238E27FC236}">
                <a16:creationId xmlns:a16="http://schemas.microsoft.com/office/drawing/2014/main" id="{D9991D2B-3A6B-8F90-859F-C2236778D17A}"/>
              </a:ext>
            </a:extLst>
          </p:cNvPr>
          <p:cNvSpPr>
            <a:spLocks noGrp="1"/>
          </p:cNvSpPr>
          <p:nvPr>
            <p:ph type="ftr" sz="quarter" idx="3"/>
          </p:nvPr>
        </p:nvSpPr>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pic>
        <p:nvPicPr>
          <p:cNvPr id="2" name="Picture 1">
            <a:extLst>
              <a:ext uri="{FF2B5EF4-FFF2-40B4-BE49-F238E27FC236}">
                <a16:creationId xmlns:a16="http://schemas.microsoft.com/office/drawing/2014/main" id="{2E9301D3-1967-862D-9C42-18BAA9995639}"/>
              </a:ext>
            </a:extLst>
          </p:cNvPr>
          <p:cNvPicPr>
            <a:picLocks noChangeAspect="1"/>
          </p:cNvPicPr>
          <p:nvPr/>
        </p:nvPicPr>
        <p:blipFill>
          <a:blip r:embed="rId3"/>
          <a:stretch>
            <a:fillRect/>
          </a:stretch>
        </p:blipFill>
        <p:spPr>
          <a:xfrm>
            <a:off x="2115904" y="2938330"/>
            <a:ext cx="17735241" cy="3204904"/>
          </a:xfrm>
          <a:prstGeom prst="rect">
            <a:avLst/>
          </a:prstGeom>
        </p:spPr>
      </p:pic>
      <p:sp>
        <p:nvSpPr>
          <p:cNvPr id="4" name="TextBox 3">
            <a:extLst>
              <a:ext uri="{FF2B5EF4-FFF2-40B4-BE49-F238E27FC236}">
                <a16:creationId xmlns:a16="http://schemas.microsoft.com/office/drawing/2014/main" id="{4232E9CA-0811-9243-555D-A747407B0F3D}"/>
              </a:ext>
            </a:extLst>
          </p:cNvPr>
          <p:cNvSpPr txBox="1"/>
          <p:nvPr/>
        </p:nvSpPr>
        <p:spPr>
          <a:xfrm>
            <a:off x="6745182" y="9809018"/>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7" name="TextBox 6">
            <a:extLst>
              <a:ext uri="{FF2B5EF4-FFF2-40B4-BE49-F238E27FC236}">
                <a16:creationId xmlns:a16="http://schemas.microsoft.com/office/drawing/2014/main" id="{67D977C4-59E6-EE5B-9072-8D96646A4F60}"/>
              </a:ext>
            </a:extLst>
          </p:cNvPr>
          <p:cNvSpPr txBox="1"/>
          <p:nvPr/>
        </p:nvSpPr>
        <p:spPr>
          <a:xfrm>
            <a:off x="2092126" y="8673291"/>
            <a:ext cx="20179145"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hlinkClick r:id="rId4"/>
              </a:rPr>
              <a:t>https://w3.ibm.com/w3publisher/integrated-operations-publisher</a:t>
            </a:r>
            <a:r>
              <a:rPr lang="en-US" dirty="0"/>
              <a:t> </a:t>
            </a:r>
          </a:p>
        </p:txBody>
      </p:sp>
      <p:sp>
        <p:nvSpPr>
          <p:cNvPr id="8" name="Title 1">
            <a:extLst>
              <a:ext uri="{FF2B5EF4-FFF2-40B4-BE49-F238E27FC236}">
                <a16:creationId xmlns:a16="http://schemas.microsoft.com/office/drawing/2014/main" id="{564AB9D0-D6C8-2D21-EF4C-90E5EA62D25D}"/>
              </a:ext>
            </a:extLst>
          </p:cNvPr>
          <p:cNvSpPr txBox="1">
            <a:spLocks/>
          </p:cNvSpPr>
          <p:nvPr/>
        </p:nvSpPr>
        <p:spPr>
          <a:xfrm>
            <a:off x="2115904" y="7930445"/>
            <a:ext cx="22979887" cy="13195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dirty="0">
                <a:solidFill>
                  <a:schemeClr val="tx1"/>
                </a:solidFill>
              </a:rPr>
              <a:t>Integrated Operations Publisher Page</a:t>
            </a:r>
          </a:p>
        </p:txBody>
      </p:sp>
      <p:sp>
        <p:nvSpPr>
          <p:cNvPr id="10" name="Rectangle 9" descr="Blue 10 half slide background">
            <a:extLst>
              <a:ext uri="{FF2B5EF4-FFF2-40B4-BE49-F238E27FC236}">
                <a16:creationId xmlns:a16="http://schemas.microsoft.com/office/drawing/2014/main" id="{80BD74B2-186B-619F-5D2A-7247CD3F6CEA}"/>
              </a:ext>
            </a:extLst>
          </p:cNvPr>
          <p:cNvSpPr/>
          <p:nvPr/>
        </p:nvSpPr>
        <p:spPr bwMode="auto">
          <a:xfrm>
            <a:off x="-1" y="-2244"/>
            <a:ext cx="24387175" cy="2509141"/>
          </a:xfrm>
          <a:prstGeom prst="rect">
            <a:avLst/>
          </a:prstGeom>
          <a:solidFill>
            <a:srgbClr val="D0E2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3" name="Title 1">
            <a:extLst>
              <a:ext uri="{FF2B5EF4-FFF2-40B4-BE49-F238E27FC236}">
                <a16:creationId xmlns:a16="http://schemas.microsoft.com/office/drawing/2014/main" id="{10382356-E960-1C7C-454B-024DFCF3F40B}"/>
              </a:ext>
            </a:extLst>
          </p:cNvPr>
          <p:cNvSpPr txBox="1">
            <a:spLocks/>
          </p:cNvSpPr>
          <p:nvPr/>
        </p:nvSpPr>
        <p:spPr>
          <a:xfrm>
            <a:off x="723896" y="756960"/>
            <a:ext cx="12059272" cy="1886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dirty="0">
                <a:solidFill>
                  <a:schemeClr val="accent1"/>
                </a:solidFill>
              </a:rPr>
              <a:t>Additional Information</a:t>
            </a:r>
          </a:p>
        </p:txBody>
      </p:sp>
    </p:spTree>
    <p:extLst>
      <p:ext uri="{BB962C8B-B14F-4D97-AF65-F5344CB8AC3E}">
        <p14:creationId xmlns:p14="http://schemas.microsoft.com/office/powerpoint/2010/main" val="340713139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Blue 10 half slide background">
            <a:extLst>
              <a:ext uri="{FF2B5EF4-FFF2-40B4-BE49-F238E27FC236}">
                <a16:creationId xmlns:a16="http://schemas.microsoft.com/office/drawing/2014/main" id="{46CA25F9-DFD4-0FE4-B5DA-06469B277E37}"/>
              </a:ext>
            </a:extLst>
          </p:cNvPr>
          <p:cNvSpPr/>
          <p:nvPr/>
        </p:nvSpPr>
        <p:spPr bwMode="auto">
          <a:xfrm>
            <a:off x="0" y="0"/>
            <a:ext cx="6096000" cy="13716000"/>
          </a:xfrm>
          <a:prstGeom prst="rect">
            <a:avLst/>
          </a:prstGeom>
          <a:solidFill>
            <a:srgbClr val="D0E2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 name="Title 1">
            <a:extLst>
              <a:ext uri="{FF2B5EF4-FFF2-40B4-BE49-F238E27FC236}">
                <a16:creationId xmlns:a16="http://schemas.microsoft.com/office/drawing/2014/main" id="{20276976-2BA6-35F5-A03B-6D1D6B3BDBEC}"/>
              </a:ext>
            </a:extLst>
          </p:cNvPr>
          <p:cNvSpPr>
            <a:spLocks noGrp="1"/>
          </p:cNvSpPr>
          <p:nvPr>
            <p:ph type="title"/>
          </p:nvPr>
        </p:nvSpPr>
        <p:spPr>
          <a:xfrm>
            <a:off x="576000" y="576072"/>
            <a:ext cx="4942078" cy="3995927"/>
          </a:xfrm>
        </p:spPr>
        <p:txBody>
          <a:bodyPr/>
          <a:lstStyle/>
          <a:p>
            <a:r>
              <a:rPr lang="en-US" dirty="0"/>
              <a:t>End of Training.</a:t>
            </a:r>
          </a:p>
        </p:txBody>
      </p:sp>
      <p:sp>
        <p:nvSpPr>
          <p:cNvPr id="4" name="Text Placeholder 3">
            <a:extLst>
              <a:ext uri="{FF2B5EF4-FFF2-40B4-BE49-F238E27FC236}">
                <a16:creationId xmlns:a16="http://schemas.microsoft.com/office/drawing/2014/main" id="{AC97D2C3-481B-FC7A-BBA0-DA0DBDB5A70A}"/>
              </a:ext>
            </a:extLst>
          </p:cNvPr>
          <p:cNvSpPr>
            <a:spLocks noGrp="1"/>
          </p:cNvSpPr>
          <p:nvPr>
            <p:ph type="body" sz="quarter" idx="12"/>
          </p:nvPr>
        </p:nvSpPr>
        <p:spPr>
          <a:xfrm>
            <a:off x="16897350" y="576000"/>
            <a:ext cx="6907213" cy="11622087"/>
          </a:xfrm>
        </p:spPr>
        <p:txBody>
          <a:bodyPr/>
          <a:lstStyle/>
          <a:p>
            <a:r>
              <a:rPr lang="en-US" dirty="0"/>
              <a:t>Send all questions to </a:t>
            </a:r>
            <a:r>
              <a:rPr lang="en-US" dirty="0">
                <a:hlinkClick r:id="rId5"/>
              </a:rPr>
              <a:t>cic.ph.delivery.operations@ibm.com</a:t>
            </a:r>
            <a:r>
              <a:rPr lang="en-US" dirty="0"/>
              <a:t> </a:t>
            </a:r>
          </a:p>
          <a:p>
            <a:endParaRPr lang="en-US" dirty="0"/>
          </a:p>
          <a:p>
            <a:r>
              <a:rPr lang="en-US" dirty="0"/>
              <a:t>Internal only—Do not distribute outside of </a:t>
            </a:r>
          </a:p>
          <a:p>
            <a:r>
              <a:rPr lang="en-US" dirty="0"/>
              <a:t>IBM Consulting FutureNow Philippines.</a:t>
            </a:r>
          </a:p>
          <a:p>
            <a:r>
              <a:rPr lang="en-US" dirty="0"/>
              <a:t> </a:t>
            </a:r>
          </a:p>
          <a:p>
            <a:r>
              <a:rPr lang="en-US" dirty="0"/>
              <a:t>Any hard copy versions of this document are for REFERENCE ONLY. Users of this document are personally responsible for using official version, and for verifying that any copies are complete and of the official version.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Thank you.</a:t>
            </a:r>
          </a:p>
        </p:txBody>
      </p:sp>
      <p:sp>
        <p:nvSpPr>
          <p:cNvPr id="8" name="Slide Number Placeholder 4">
            <a:extLst>
              <a:ext uri="{FF2B5EF4-FFF2-40B4-BE49-F238E27FC236}">
                <a16:creationId xmlns:a16="http://schemas.microsoft.com/office/drawing/2014/main" id="{0FC07F7F-D64F-BF4E-84BB-D2EF94E5C641}"/>
              </a:ext>
            </a:extLst>
          </p:cNvPr>
          <p:cNvSpPr>
            <a:spLocks noGrp="1"/>
          </p:cNvSpPr>
          <p:nvPr>
            <p:ph type="sldNum" sz="quarter" idx="2"/>
          </p:nvPr>
        </p:nvSpPr>
        <p:spPr>
          <a:xfrm>
            <a:off x="588442" y="12951714"/>
            <a:ext cx="270908" cy="246221"/>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l" defTabSz="1829379" rtl="0" eaLnBrk="1" fontAlgn="auto" latinLnBrk="0" hangingPunct="1">
                <a:lnSpc>
                  <a:spcPct val="100000"/>
                </a:lnSpc>
                <a:spcBef>
                  <a:spcPts val="0"/>
                </a:spcBef>
                <a:spcAft>
                  <a:spcPts val="0"/>
                </a:spcAft>
                <a:buClrTx/>
                <a:buSzTx/>
                <a:buFontTx/>
                <a:buNone/>
                <a:tabLst/>
                <a:defRPr/>
              </a:pPr>
              <a:t>30</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9" name="Footer Placeholder 5">
            <a:extLst>
              <a:ext uri="{FF2B5EF4-FFF2-40B4-BE49-F238E27FC236}">
                <a16:creationId xmlns:a16="http://schemas.microsoft.com/office/drawing/2014/main" id="{0A2B7453-B8E1-5B60-36EB-FBA6A3E9EE41}"/>
              </a:ext>
            </a:extLst>
          </p:cNvPr>
          <p:cNvSpPr>
            <a:spLocks noGrp="1"/>
          </p:cNvSpPr>
          <p:nvPr>
            <p:ph type="ftr" sz="quarter" idx="3"/>
          </p:nvPr>
        </p:nvSpPr>
        <p:spPr>
          <a:xfrm>
            <a:off x="1381091" y="12823285"/>
            <a:ext cx="3385135" cy="381000"/>
          </a:xfrm>
        </p:spPr>
        <p:txBody>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IBM </a:t>
            </a:r>
            <a:r>
              <a:rPr kumimoji="0" lang="en-US" sz="1400" b="1" i="0" u="none" strike="noStrike" kern="1200" cap="none" spc="0" normalizeH="0" baseline="0" noProof="0" dirty="0">
                <a:ln>
                  <a:noFill/>
                </a:ln>
                <a:solidFill>
                  <a:srgbClr val="001141"/>
                </a:solidFill>
                <a:effectLst/>
                <a:uLnTx/>
                <a:uFillTx/>
                <a:latin typeface="IBM Plex Sans" panose="020B0503050203000203" pitchFamily="34" charset="0"/>
                <a:ea typeface="IBM Plex Sans" charset="0"/>
                <a:cs typeface="IBM Plex Sans" charset="0"/>
              </a:rPr>
              <a:t>Consulting</a:t>
            </a:r>
            <a:r>
              <a:rPr kumimoji="0" lang="en-US" sz="1400" b="0" i="0" u="none" strike="noStrike" kern="1200" cap="none" spc="0" normalizeH="0" baseline="0" noProof="0" dirty="0">
                <a:ln>
                  <a:noFill/>
                </a:ln>
                <a:solidFill>
                  <a:srgbClr val="001141"/>
                </a:solidFill>
                <a:effectLst/>
                <a:uLnTx/>
                <a:uFillTx/>
                <a:latin typeface="IBM Plex Sans" charset="0"/>
                <a:ea typeface="IBM Plex Sans" charset="0"/>
                <a:cs typeface="IBM Plex Sans" charset="0"/>
              </a:rPr>
              <a:t> FutureNow</a:t>
            </a:r>
          </a:p>
        </p:txBody>
      </p:sp>
      <p:pic>
        <p:nvPicPr>
          <p:cNvPr id="3" name="PD Slide 34.m4a">
            <a:hlinkClick r:id="" action="ppaction://media"/>
            <a:extLst>
              <a:ext uri="{FF2B5EF4-FFF2-40B4-BE49-F238E27FC236}">
                <a16:creationId xmlns:a16="http://schemas.microsoft.com/office/drawing/2014/main" id="{026EAEE6-1306-B9CE-BCA5-9EBEE779C07E}"/>
              </a:ext>
            </a:extLst>
          </p:cNvPr>
          <p:cNvPicPr>
            <a:picLocks noChangeAspect="1"/>
          </p:cNvPicPr>
          <p:nvPr>
            <a:audioFile r:link="rId2"/>
            <p:extLst>
              <p:ext uri="{DAA4B4D4-6D71-4841-9C94-3DE7FCFB9230}">
                <p14:media xmlns:p14="http://schemas.microsoft.com/office/powerpoint/2010/main" r:embed="rId1"/>
              </p:ext>
            </p:extLst>
          </p:nvPr>
        </p:nvPicPr>
        <p:blipFill>
          <a:blip r:embed="rId6">
            <a:alphaModFix amt="0"/>
          </a:blip>
          <a:stretch>
            <a:fillRect/>
          </a:stretch>
        </p:blipFill>
        <p:spPr>
          <a:xfrm>
            <a:off x="22245671" y="12262024"/>
            <a:ext cx="812800" cy="812800"/>
          </a:xfrm>
          <a:prstGeom prst="rect">
            <a:avLst/>
          </a:prstGeom>
        </p:spPr>
      </p:pic>
    </p:spTree>
    <p:extLst>
      <p:ext uri="{BB962C8B-B14F-4D97-AF65-F5344CB8AC3E}">
        <p14:creationId xmlns:p14="http://schemas.microsoft.com/office/powerpoint/2010/main" val="1695702557"/>
      </p:ext>
    </p:extLst>
  </p:cSld>
  <p:clrMapOvr>
    <a:masterClrMapping/>
  </p:clrMapOvr>
  <p:transition spd="med"/>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3"/>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12560</TotalTime>
  <Words>3883</Words>
  <Application>Microsoft Office PowerPoint</Application>
  <PresentationFormat>Custom</PresentationFormat>
  <Paragraphs>394</Paragraphs>
  <Slides>31</Slides>
  <Notes>30</Notes>
  <HiddenSlides>0</HiddenSlides>
  <MMClips>6</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IBM Plex Sans</vt:lpstr>
      <vt:lpstr>IBM Plex Sans Light</vt:lpstr>
      <vt:lpstr>Segoe UI</vt:lpstr>
      <vt:lpstr>Wingdings</vt:lpstr>
      <vt:lpstr>IBM presentation template</vt:lpstr>
      <vt:lpstr>Records Management Policy and Process Training  Quality Management System Team</vt:lpstr>
      <vt:lpstr>PowerPoint Presentation</vt:lpstr>
      <vt:lpstr>Training Objectives</vt:lpstr>
      <vt:lpstr>Records Management Objectives</vt:lpstr>
      <vt:lpstr>Records Management Process Flowchart</vt:lpstr>
      <vt:lpstr>Roles and Responsibilities</vt:lpstr>
      <vt:lpstr>Records Owner - Identification and classification of Records</vt:lpstr>
      <vt:lpstr>Records Custodian - Identification of storage location</vt:lpstr>
      <vt:lpstr>Records Custodian - Organization of records</vt:lpstr>
      <vt:lpstr>Labeling of Records</vt:lpstr>
      <vt:lpstr>Electronic Records Labeling</vt:lpstr>
      <vt:lpstr>Records Retrieval and Disposal</vt:lpstr>
      <vt:lpstr>Retrieval of Records</vt:lpstr>
      <vt:lpstr>Disposal of Records</vt:lpstr>
      <vt:lpstr>Records Matrix</vt:lpstr>
      <vt:lpstr>Records Matrix</vt:lpstr>
      <vt:lpstr>Records Codes and Retention Periods</vt:lpstr>
      <vt:lpstr>Records Matrix Approvers</vt:lpstr>
      <vt:lpstr>Key Takeaway</vt:lpstr>
      <vt:lpstr>Knowledge Check</vt:lpstr>
      <vt:lpstr>PowerPoint Presentation</vt:lpstr>
      <vt:lpstr>PowerPoint Presentation</vt:lpstr>
      <vt:lpstr>PowerPoint Presentation</vt:lpstr>
      <vt:lpstr>PowerPoint Presentation</vt:lpstr>
      <vt:lpstr>PowerPoint Presentation</vt:lpstr>
      <vt:lpstr>Appendix</vt:lpstr>
      <vt:lpstr>Roles and Responsibilities - Summary</vt:lpstr>
      <vt:lpstr>PowerPoint Presentation</vt:lpstr>
      <vt:lpstr>PowerPoint Presentation</vt:lpstr>
      <vt:lpstr>End of Training.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Marty Taylor</dc:creator>
  <cp:keywords/>
  <dc:description/>
  <cp:lastModifiedBy>GEM SANTIAGO</cp:lastModifiedBy>
  <cp:revision>165</cp:revision>
  <cp:lastPrinted>2019-04-25T15:14:05Z</cp:lastPrinted>
  <dcterms:created xsi:type="dcterms:W3CDTF">2026-01-20T19:21:01Z</dcterms:created>
  <dcterms:modified xsi:type="dcterms:W3CDTF">2026-08-07T09:08:37Z</dcterms:modified>
  <cp:category/>
</cp:coreProperties>
</file>